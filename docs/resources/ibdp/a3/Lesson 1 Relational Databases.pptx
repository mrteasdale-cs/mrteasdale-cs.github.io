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88950"/>
  <p:notesSz cx="6858000" cy="121889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15" name="Shape 15"/>
        <p:cNvGrpSpPr/>
        <p:nvPr/>
      </p:nvGrpSpPr>
      <p:grpSpPr>
        <a:xfrm>
          <a:off x="0" y="0"/>
          <a:ext cx="0" cy="0"/>
          <a:chOff x="0" y="0"/>
          <a:chExt cx="0" cy="0"/>
        </a:xfrm>
      </p:grpSpPr>
      <p:sp>
        <p:nvSpPr>
          <p:cNvPr id="16" name="Google Shape;16;p3"/>
          <p:cNvSpPr/>
          <p:nvPr/>
        </p:nvSpPr>
        <p:spPr>
          <a:xfrm>
            <a:off x="0" y="0"/>
            <a:ext cx="5486400" cy="6858000"/>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058400" y="0"/>
            <a:ext cx="2130552" cy="384048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0" y="0"/>
            <a:ext cx="5486400" cy="502920"/>
          </a:xfrm>
          <a:prstGeom prst="rect">
            <a:avLst/>
          </a:prstGeom>
          <a:solidFill>
            <a:srgbClr val="0D0D0D"/>
          </a:solidFill>
          <a:ln cap="flat" cmpd="sng" w="12700">
            <a:solidFill>
              <a:srgbClr val="0D0D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91440" y="0"/>
            <a:ext cx="53035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E500"/>
              </a:buClr>
              <a:buSzPts val="1200"/>
              <a:buFont typeface="Calibri"/>
              <a:buNone/>
            </a:pPr>
            <a:r>
              <a:rPr b="1" i="0" lang="en-US" sz="1200" u="none" cap="none" strike="noStrike">
                <a:solidFill>
                  <a:srgbClr val="FFE500"/>
                </a:solidFill>
                <a:latin typeface="Calibri"/>
                <a:ea typeface="Calibri"/>
                <a:cs typeface="Calibri"/>
                <a:sym typeface="Calibri"/>
              </a:rPr>
              <a:t>A3.1.1  |  LESSON </a:t>
            </a:r>
            <a:r>
              <a:rPr b="1" lang="en-US" sz="1200">
                <a:solidFill>
                  <a:srgbClr val="FFE500"/>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0" name="Google Shape;20;p3"/>
          <p:cNvSpPr/>
          <p:nvPr/>
        </p:nvSpPr>
        <p:spPr>
          <a:xfrm>
            <a:off x="274320" y="640080"/>
            <a:ext cx="5029200" cy="2286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5000"/>
              <a:buFont typeface="Trebuchet MS"/>
              <a:buNone/>
            </a:pPr>
            <a:r>
              <a:rPr b="1" lang="en-US" sz="5000">
                <a:solidFill>
                  <a:srgbClr val="0D0D0D"/>
                </a:solidFill>
                <a:latin typeface="Trebuchet MS"/>
                <a:ea typeface="Trebuchet MS"/>
                <a:cs typeface="Trebuchet MS"/>
                <a:sym typeface="Trebuchet MS"/>
              </a:rPr>
              <a:t>A3 - </a:t>
            </a:r>
            <a:r>
              <a:rPr b="1" i="0" lang="en-US" sz="5000" u="none" cap="none" strike="noStrike">
                <a:solidFill>
                  <a:srgbClr val="0D0D0D"/>
                </a:solidFill>
                <a:latin typeface="Trebuchet MS"/>
                <a:ea typeface="Trebuchet MS"/>
                <a:cs typeface="Trebuchet MS"/>
                <a:sym typeface="Trebuchet MS"/>
              </a:rPr>
              <a:t>Database</a:t>
            </a:r>
            <a:r>
              <a:rPr b="1" lang="en-US" sz="5000">
                <a:solidFill>
                  <a:srgbClr val="0D0D0D"/>
                </a:solidFill>
                <a:latin typeface="Trebuchet MS"/>
                <a:ea typeface="Trebuchet MS"/>
                <a:cs typeface="Trebuchet MS"/>
                <a:sym typeface="Trebuchet MS"/>
              </a:rPr>
              <a:t> Fundamentals</a:t>
            </a:r>
            <a:endParaRPr b="0" i="0" sz="5000" u="none" cap="none" strike="noStrike">
              <a:solidFill>
                <a:schemeClr val="dk1"/>
              </a:solidFill>
              <a:latin typeface="Calibri"/>
              <a:ea typeface="Calibri"/>
              <a:cs typeface="Calibri"/>
              <a:sym typeface="Calibri"/>
            </a:endParaRPr>
          </a:p>
        </p:txBody>
      </p:sp>
      <p:sp>
        <p:nvSpPr>
          <p:cNvPr id="21" name="Google Shape;21;p3"/>
          <p:cNvSpPr/>
          <p:nvPr/>
        </p:nvSpPr>
        <p:spPr>
          <a:xfrm>
            <a:off x="274320" y="3017520"/>
            <a:ext cx="50292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800"/>
              <a:buFont typeface="Calibri"/>
              <a:buNone/>
            </a:pPr>
            <a:r>
              <a:rPr b="0" i="0" lang="en-US" sz="1800" u="none" cap="none" strike="noStrike">
                <a:solidFill>
                  <a:srgbClr val="0D0D0D"/>
                </a:solidFill>
                <a:latin typeface="Calibri"/>
                <a:ea typeface="Calibri"/>
                <a:cs typeface="Calibri"/>
                <a:sym typeface="Calibri"/>
              </a:rPr>
              <a:t>Features, Benefits &amp; Limitations</a:t>
            </a:r>
            <a:endParaRPr b="0" i="0" sz="1800" u="none" cap="none" strike="noStrike">
              <a:solidFill>
                <a:schemeClr val="dk1"/>
              </a:solidFill>
              <a:latin typeface="Calibri"/>
              <a:ea typeface="Calibri"/>
              <a:cs typeface="Calibri"/>
              <a:sym typeface="Calibri"/>
            </a:endParaRPr>
          </a:p>
        </p:txBody>
      </p:sp>
      <p:sp>
        <p:nvSpPr>
          <p:cNvPr id="22" name="Google Shape;22;p3"/>
          <p:cNvSpPr/>
          <p:nvPr/>
        </p:nvSpPr>
        <p:spPr>
          <a:xfrm>
            <a:off x="5943600" y="626364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 Myran</a:t>
            </a:r>
            <a:endParaRPr b="0" i="0" sz="1300" u="none" cap="none" strike="noStrike">
              <a:solidFill>
                <a:schemeClr val="dk1"/>
              </a:solidFill>
              <a:latin typeface="Calibri"/>
              <a:ea typeface="Calibri"/>
              <a:cs typeface="Calibri"/>
              <a:sym typeface="Calibri"/>
            </a:endParaRPr>
          </a:p>
        </p:txBody>
      </p:sp>
      <p:sp>
        <p:nvSpPr>
          <p:cNvPr id="23" name="Google Shape;23;p3"/>
          <p:cNvSpPr/>
          <p:nvPr/>
        </p:nvSpPr>
        <p:spPr>
          <a:xfrm>
            <a:off x="5943600" y="5897880"/>
            <a:ext cx="5029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99"/>
              </a:buClr>
              <a:buSzPts val="1200"/>
              <a:buFont typeface="Calibri"/>
              <a:buNone/>
            </a:pPr>
            <a:r>
              <a:rPr b="0" i="0" lang="en-US" sz="1200" u="none" cap="none" strike="noStrike">
                <a:solidFill>
                  <a:srgbClr val="999999"/>
                </a:solidFill>
                <a:latin typeface="Calibri"/>
                <a:ea typeface="Calibri"/>
                <a:cs typeface="Calibri"/>
                <a:sym typeface="Calibri"/>
              </a:rPr>
              <a:t>Grade 11 HL Computer Science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4"/>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L</a:t>
            </a:r>
            <a:r>
              <a:rPr b="1" lang="en-US" sz="2400">
                <a:solidFill>
                  <a:srgbClr val="0D0D0D"/>
                </a:solidFill>
                <a:latin typeface="Trebuchet MS"/>
                <a:ea typeface="Trebuchet MS"/>
                <a:cs typeface="Trebuchet MS"/>
                <a:sym typeface="Trebuchet MS"/>
              </a:rPr>
              <a:t>1</a:t>
            </a:r>
            <a:r>
              <a:rPr b="1" i="0" lang="en-US" sz="2400" u="none" cap="none" strike="noStrike">
                <a:solidFill>
                  <a:srgbClr val="0D0D0D"/>
                </a:solidFill>
                <a:latin typeface="Trebuchet MS"/>
                <a:ea typeface="Trebuchet MS"/>
                <a:cs typeface="Trebuchet MS"/>
                <a:sym typeface="Trebuchet MS"/>
              </a:rPr>
              <a:t> — Syllabus Links</a:t>
            </a:r>
            <a:endParaRPr b="0" i="0" sz="2400" u="none" cap="none" strike="noStrike">
              <a:solidFill>
                <a:schemeClr val="dk1"/>
              </a:solidFill>
              <a:latin typeface="Calibri"/>
              <a:ea typeface="Calibri"/>
              <a:cs typeface="Calibri"/>
              <a:sym typeface="Calibri"/>
            </a:endParaRPr>
          </a:p>
        </p:txBody>
      </p:sp>
      <p:sp>
        <p:nvSpPr>
          <p:cNvPr id="31" name="Google Shape;31;p4"/>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33" name="Google Shape;33;p4"/>
          <p:cNvSpPr/>
          <p:nvPr/>
        </p:nvSpPr>
        <p:spPr>
          <a:xfrm>
            <a:off x="274320" y="960120"/>
            <a:ext cx="116128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800"/>
              <a:buFont typeface="Trebuchet MS"/>
              <a:buNone/>
            </a:pPr>
            <a:r>
              <a:rPr b="1" i="0" lang="en-US" sz="1800" u="none" cap="none" strike="noStrike">
                <a:solidFill>
                  <a:srgbClr val="0D0D0D"/>
                </a:solidFill>
                <a:latin typeface="Trebuchet MS"/>
                <a:ea typeface="Trebuchet MS"/>
                <a:cs typeface="Trebuchet MS"/>
                <a:sym typeface="Trebuchet MS"/>
              </a:rPr>
              <a:t>A3.1.1 Explain the features, benefits and limitations of a relational database.</a:t>
            </a:r>
            <a:endParaRPr b="0" i="0" sz="1800" u="none" cap="none" strike="noStrike">
              <a:solidFill>
                <a:schemeClr val="dk1"/>
              </a:solidFill>
              <a:latin typeface="Calibri"/>
              <a:ea typeface="Calibri"/>
              <a:cs typeface="Calibri"/>
              <a:sym typeface="Calibri"/>
            </a:endParaRPr>
          </a:p>
        </p:txBody>
      </p:sp>
      <p:sp>
        <p:nvSpPr>
          <p:cNvPr id="34" name="Google Shape;34;p4"/>
          <p:cNvSpPr/>
          <p:nvPr/>
        </p:nvSpPr>
        <p:spPr>
          <a:xfrm>
            <a:off x="228600" y="1600200"/>
            <a:ext cx="3749040" cy="347472"/>
          </a:xfrm>
          <a:prstGeom prst="rect">
            <a:avLst/>
          </a:prstGeom>
          <a:solidFill>
            <a:srgbClr val="F1C40F"/>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320040" y="1600200"/>
            <a:ext cx="356616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0D0D"/>
              </a:buClr>
              <a:buSzPts val="1300"/>
              <a:buFont typeface="Calibri"/>
              <a:buNone/>
            </a:pPr>
            <a:r>
              <a:rPr b="1" i="0" lang="en-US" sz="1300" u="none" cap="none" strike="noStrike">
                <a:solidFill>
                  <a:srgbClr val="0D0D0D"/>
                </a:solidFill>
                <a:latin typeface="Calibri"/>
                <a:ea typeface="Calibri"/>
                <a:cs typeface="Calibri"/>
                <a:sym typeface="Calibri"/>
              </a:rPr>
              <a:t>FEATURES</a:t>
            </a:r>
            <a:endParaRPr b="0" i="0" sz="1300" u="none" cap="none" strike="noStrike">
              <a:solidFill>
                <a:schemeClr val="dk1"/>
              </a:solidFill>
              <a:latin typeface="Calibri"/>
              <a:ea typeface="Calibri"/>
              <a:cs typeface="Calibri"/>
              <a:sym typeface="Calibri"/>
            </a:endParaRPr>
          </a:p>
        </p:txBody>
      </p:sp>
      <p:sp>
        <p:nvSpPr>
          <p:cNvPr id="36" name="Google Shape;36;p4"/>
          <p:cNvSpPr/>
          <p:nvPr/>
        </p:nvSpPr>
        <p:spPr>
          <a:xfrm>
            <a:off x="228600" y="1947672"/>
            <a:ext cx="3749040" cy="4343400"/>
          </a:xfrm>
          <a:prstGeom prst="rect">
            <a:avLst/>
          </a:prstGeom>
          <a:solidFill>
            <a:srgbClr val="FAFAFA"/>
          </a:solidFill>
          <a:ln cap="flat" cmpd="sng" w="12700">
            <a:solidFill>
              <a:srgbClr val="DEDE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338328" y="2029968"/>
            <a:ext cx="109728" cy="237744"/>
          </a:xfrm>
          <a:prstGeom prst="rect">
            <a:avLst/>
          </a:prstGeom>
          <a:solidFill>
            <a:srgbClr val="F1C40F"/>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02920" y="2029968"/>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Composite keys</a:t>
            </a:r>
            <a:endParaRPr b="0" i="0" sz="1200" u="none" cap="none" strike="noStrike">
              <a:solidFill>
                <a:schemeClr val="dk1"/>
              </a:solidFill>
              <a:latin typeface="Calibri"/>
              <a:ea typeface="Calibri"/>
              <a:cs typeface="Calibri"/>
              <a:sym typeface="Calibri"/>
            </a:endParaRPr>
          </a:p>
        </p:txBody>
      </p:sp>
      <p:sp>
        <p:nvSpPr>
          <p:cNvPr id="39" name="Google Shape;39;p4"/>
          <p:cNvSpPr/>
          <p:nvPr/>
        </p:nvSpPr>
        <p:spPr>
          <a:xfrm>
            <a:off x="338328" y="2450592"/>
            <a:ext cx="109728" cy="237744"/>
          </a:xfrm>
          <a:prstGeom prst="rect">
            <a:avLst/>
          </a:prstGeom>
          <a:solidFill>
            <a:srgbClr val="F1C40F"/>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502920" y="2450592"/>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Foreign keys</a:t>
            </a:r>
            <a:endParaRPr b="0" i="0" sz="1200" u="none" cap="none" strike="noStrike">
              <a:solidFill>
                <a:schemeClr val="dk1"/>
              </a:solidFill>
              <a:latin typeface="Calibri"/>
              <a:ea typeface="Calibri"/>
              <a:cs typeface="Calibri"/>
              <a:sym typeface="Calibri"/>
            </a:endParaRPr>
          </a:p>
        </p:txBody>
      </p:sp>
      <p:sp>
        <p:nvSpPr>
          <p:cNvPr id="41" name="Google Shape;41;p4"/>
          <p:cNvSpPr/>
          <p:nvPr/>
        </p:nvSpPr>
        <p:spPr>
          <a:xfrm>
            <a:off x="338328" y="2871216"/>
            <a:ext cx="109728" cy="237744"/>
          </a:xfrm>
          <a:prstGeom prst="rect">
            <a:avLst/>
          </a:prstGeom>
          <a:solidFill>
            <a:srgbClr val="F1C40F"/>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502920" y="2871216"/>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Primary keys</a:t>
            </a:r>
            <a:endParaRPr b="0" i="0" sz="1200" u="none" cap="none" strike="noStrike">
              <a:solidFill>
                <a:schemeClr val="dk1"/>
              </a:solidFill>
              <a:latin typeface="Calibri"/>
              <a:ea typeface="Calibri"/>
              <a:cs typeface="Calibri"/>
              <a:sym typeface="Calibri"/>
            </a:endParaRPr>
          </a:p>
        </p:txBody>
      </p:sp>
      <p:sp>
        <p:nvSpPr>
          <p:cNvPr id="43" name="Google Shape;43;p4"/>
          <p:cNvSpPr/>
          <p:nvPr/>
        </p:nvSpPr>
        <p:spPr>
          <a:xfrm>
            <a:off x="338328" y="3291840"/>
            <a:ext cx="109728" cy="237744"/>
          </a:xfrm>
          <a:prstGeom prst="rect">
            <a:avLst/>
          </a:prstGeom>
          <a:solidFill>
            <a:srgbClr val="F1C40F"/>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502920" y="329184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Relationships</a:t>
            </a:r>
            <a:endParaRPr b="0" i="0" sz="1200" u="none" cap="none" strike="noStrike">
              <a:solidFill>
                <a:schemeClr val="dk1"/>
              </a:solidFill>
              <a:latin typeface="Calibri"/>
              <a:ea typeface="Calibri"/>
              <a:cs typeface="Calibri"/>
              <a:sym typeface="Calibri"/>
            </a:endParaRPr>
          </a:p>
        </p:txBody>
      </p:sp>
      <p:sp>
        <p:nvSpPr>
          <p:cNvPr id="45" name="Google Shape;45;p4"/>
          <p:cNvSpPr/>
          <p:nvPr/>
        </p:nvSpPr>
        <p:spPr>
          <a:xfrm>
            <a:off x="338328" y="3712464"/>
            <a:ext cx="109728" cy="237744"/>
          </a:xfrm>
          <a:prstGeom prst="rect">
            <a:avLst/>
          </a:prstGeom>
          <a:solidFill>
            <a:srgbClr val="F1C40F"/>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502920" y="3712464"/>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Tables</a:t>
            </a:r>
            <a:endParaRPr b="0" i="0" sz="1200" u="none" cap="none" strike="noStrike">
              <a:solidFill>
                <a:schemeClr val="dk1"/>
              </a:solidFill>
              <a:latin typeface="Calibri"/>
              <a:ea typeface="Calibri"/>
              <a:cs typeface="Calibri"/>
              <a:sym typeface="Calibri"/>
            </a:endParaRPr>
          </a:p>
        </p:txBody>
      </p:sp>
      <p:sp>
        <p:nvSpPr>
          <p:cNvPr id="47" name="Google Shape;47;p4"/>
          <p:cNvSpPr/>
          <p:nvPr/>
        </p:nvSpPr>
        <p:spPr>
          <a:xfrm>
            <a:off x="4160520" y="1600200"/>
            <a:ext cx="3749040" cy="347472"/>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4251960" y="1600200"/>
            <a:ext cx="356616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BENEFITS</a:t>
            </a:r>
            <a:endParaRPr b="0" i="0" sz="1300" u="none" cap="none" strike="noStrike">
              <a:solidFill>
                <a:schemeClr val="dk1"/>
              </a:solidFill>
              <a:latin typeface="Calibri"/>
              <a:ea typeface="Calibri"/>
              <a:cs typeface="Calibri"/>
              <a:sym typeface="Calibri"/>
            </a:endParaRPr>
          </a:p>
        </p:txBody>
      </p:sp>
      <p:sp>
        <p:nvSpPr>
          <p:cNvPr id="49" name="Google Shape;49;p4"/>
          <p:cNvSpPr/>
          <p:nvPr/>
        </p:nvSpPr>
        <p:spPr>
          <a:xfrm>
            <a:off x="4160520" y="1947672"/>
            <a:ext cx="3749040" cy="4343400"/>
          </a:xfrm>
          <a:prstGeom prst="rect">
            <a:avLst/>
          </a:prstGeom>
          <a:solidFill>
            <a:srgbClr val="FAFAFA"/>
          </a:solidFill>
          <a:ln cap="flat" cmpd="sng" w="12700">
            <a:solidFill>
              <a:srgbClr val="DEDE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4270248" y="2029968"/>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4434840" y="2029968"/>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Community support</a:t>
            </a:r>
            <a:endParaRPr b="0" i="0" sz="1200" u="none" cap="none" strike="noStrike">
              <a:solidFill>
                <a:schemeClr val="dk1"/>
              </a:solidFill>
              <a:latin typeface="Calibri"/>
              <a:ea typeface="Calibri"/>
              <a:cs typeface="Calibri"/>
              <a:sym typeface="Calibri"/>
            </a:endParaRPr>
          </a:p>
        </p:txBody>
      </p:sp>
      <p:sp>
        <p:nvSpPr>
          <p:cNvPr id="52" name="Google Shape;52;p4"/>
          <p:cNvSpPr/>
          <p:nvPr/>
        </p:nvSpPr>
        <p:spPr>
          <a:xfrm>
            <a:off x="4270248" y="2450592"/>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4434840" y="2450592"/>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Concurrency control</a:t>
            </a:r>
            <a:endParaRPr b="0" i="0" sz="1200" u="none" cap="none" strike="noStrike">
              <a:solidFill>
                <a:schemeClr val="dk1"/>
              </a:solidFill>
              <a:latin typeface="Calibri"/>
              <a:ea typeface="Calibri"/>
              <a:cs typeface="Calibri"/>
              <a:sym typeface="Calibri"/>
            </a:endParaRPr>
          </a:p>
        </p:txBody>
      </p:sp>
      <p:sp>
        <p:nvSpPr>
          <p:cNvPr id="54" name="Google Shape;54;p4"/>
          <p:cNvSpPr/>
          <p:nvPr/>
        </p:nvSpPr>
        <p:spPr>
          <a:xfrm>
            <a:off x="4270248" y="2871216"/>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4434840" y="2871216"/>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Data consistency</a:t>
            </a:r>
            <a:endParaRPr b="0" i="0" sz="1200" u="none" cap="none" strike="noStrike">
              <a:solidFill>
                <a:schemeClr val="dk1"/>
              </a:solidFill>
              <a:latin typeface="Calibri"/>
              <a:ea typeface="Calibri"/>
              <a:cs typeface="Calibri"/>
              <a:sym typeface="Calibri"/>
            </a:endParaRPr>
          </a:p>
        </p:txBody>
      </p:sp>
      <p:sp>
        <p:nvSpPr>
          <p:cNvPr id="56" name="Google Shape;56;p4"/>
          <p:cNvSpPr/>
          <p:nvPr/>
        </p:nvSpPr>
        <p:spPr>
          <a:xfrm>
            <a:off x="4270248" y="3291840"/>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4434840" y="329184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Data integrity</a:t>
            </a:r>
            <a:endParaRPr b="0" i="0" sz="1200" u="none" cap="none" strike="noStrike">
              <a:solidFill>
                <a:schemeClr val="dk1"/>
              </a:solidFill>
              <a:latin typeface="Calibri"/>
              <a:ea typeface="Calibri"/>
              <a:cs typeface="Calibri"/>
              <a:sym typeface="Calibri"/>
            </a:endParaRPr>
          </a:p>
        </p:txBody>
      </p:sp>
      <p:sp>
        <p:nvSpPr>
          <p:cNvPr id="58" name="Google Shape;58;p4"/>
          <p:cNvSpPr/>
          <p:nvPr/>
        </p:nvSpPr>
        <p:spPr>
          <a:xfrm>
            <a:off x="4270248" y="3712464"/>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4434840" y="3712464"/>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Data retrieval</a:t>
            </a:r>
            <a:endParaRPr b="0" i="0" sz="1200" u="none" cap="none" strike="noStrike">
              <a:solidFill>
                <a:schemeClr val="dk1"/>
              </a:solidFill>
              <a:latin typeface="Calibri"/>
              <a:ea typeface="Calibri"/>
              <a:cs typeface="Calibri"/>
              <a:sym typeface="Calibri"/>
            </a:endParaRPr>
          </a:p>
        </p:txBody>
      </p:sp>
      <p:sp>
        <p:nvSpPr>
          <p:cNvPr id="60" name="Google Shape;60;p4"/>
          <p:cNvSpPr/>
          <p:nvPr/>
        </p:nvSpPr>
        <p:spPr>
          <a:xfrm>
            <a:off x="4270248" y="4133088"/>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4434840" y="4133088"/>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Reduced data duplication</a:t>
            </a:r>
            <a:endParaRPr b="0" i="0" sz="1200" u="none" cap="none" strike="noStrike">
              <a:solidFill>
                <a:schemeClr val="dk1"/>
              </a:solidFill>
              <a:latin typeface="Calibri"/>
              <a:ea typeface="Calibri"/>
              <a:cs typeface="Calibri"/>
              <a:sym typeface="Calibri"/>
            </a:endParaRPr>
          </a:p>
        </p:txBody>
      </p:sp>
      <p:sp>
        <p:nvSpPr>
          <p:cNvPr id="62" name="Google Shape;62;p4"/>
          <p:cNvSpPr/>
          <p:nvPr/>
        </p:nvSpPr>
        <p:spPr>
          <a:xfrm>
            <a:off x="4270248" y="4553712"/>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4434840" y="4553712"/>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Reduced redundancy</a:t>
            </a:r>
            <a:endParaRPr b="0" i="0" sz="1200" u="none" cap="none" strike="noStrike">
              <a:solidFill>
                <a:schemeClr val="dk1"/>
              </a:solidFill>
              <a:latin typeface="Calibri"/>
              <a:ea typeface="Calibri"/>
              <a:cs typeface="Calibri"/>
              <a:sym typeface="Calibri"/>
            </a:endParaRPr>
          </a:p>
        </p:txBody>
      </p:sp>
      <p:sp>
        <p:nvSpPr>
          <p:cNvPr id="64" name="Google Shape;64;p4"/>
          <p:cNvSpPr/>
          <p:nvPr/>
        </p:nvSpPr>
        <p:spPr>
          <a:xfrm>
            <a:off x="4270248" y="4974336"/>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4434840" y="4974336"/>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Reliable transaction processing</a:t>
            </a:r>
            <a:endParaRPr b="0" i="0" sz="1200" u="none" cap="none" strike="noStrike">
              <a:solidFill>
                <a:schemeClr val="dk1"/>
              </a:solidFill>
              <a:latin typeface="Calibri"/>
              <a:ea typeface="Calibri"/>
              <a:cs typeface="Calibri"/>
              <a:sym typeface="Calibri"/>
            </a:endParaRPr>
          </a:p>
        </p:txBody>
      </p:sp>
      <p:sp>
        <p:nvSpPr>
          <p:cNvPr id="66" name="Google Shape;66;p4"/>
          <p:cNvSpPr/>
          <p:nvPr/>
        </p:nvSpPr>
        <p:spPr>
          <a:xfrm>
            <a:off x="4270248" y="5394960"/>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4434840" y="539496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Scalability</a:t>
            </a:r>
            <a:endParaRPr b="0" i="0" sz="1200" u="none" cap="none" strike="noStrike">
              <a:solidFill>
                <a:schemeClr val="dk1"/>
              </a:solidFill>
              <a:latin typeface="Calibri"/>
              <a:ea typeface="Calibri"/>
              <a:cs typeface="Calibri"/>
              <a:sym typeface="Calibri"/>
            </a:endParaRPr>
          </a:p>
        </p:txBody>
      </p:sp>
      <p:sp>
        <p:nvSpPr>
          <p:cNvPr id="68" name="Google Shape;68;p4"/>
          <p:cNvSpPr/>
          <p:nvPr/>
        </p:nvSpPr>
        <p:spPr>
          <a:xfrm>
            <a:off x="4270248" y="5815584"/>
            <a:ext cx="109728" cy="237744"/>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4434840" y="5815584"/>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Security features</a:t>
            </a:r>
            <a:endParaRPr b="0" i="0" sz="1200" u="none" cap="none" strike="noStrike">
              <a:solidFill>
                <a:schemeClr val="dk1"/>
              </a:solidFill>
              <a:latin typeface="Calibri"/>
              <a:ea typeface="Calibri"/>
              <a:cs typeface="Calibri"/>
              <a:sym typeface="Calibri"/>
            </a:endParaRPr>
          </a:p>
        </p:txBody>
      </p:sp>
      <p:sp>
        <p:nvSpPr>
          <p:cNvPr id="70" name="Google Shape;70;p4"/>
          <p:cNvSpPr/>
          <p:nvPr/>
        </p:nvSpPr>
        <p:spPr>
          <a:xfrm>
            <a:off x="8092440" y="1600200"/>
            <a:ext cx="3749040" cy="34747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8183880" y="1600200"/>
            <a:ext cx="356616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LIMITATIONS</a:t>
            </a:r>
            <a:endParaRPr b="0" i="0" sz="1300" u="none" cap="none" strike="noStrike">
              <a:solidFill>
                <a:schemeClr val="dk1"/>
              </a:solidFill>
              <a:latin typeface="Calibri"/>
              <a:ea typeface="Calibri"/>
              <a:cs typeface="Calibri"/>
              <a:sym typeface="Calibri"/>
            </a:endParaRPr>
          </a:p>
        </p:txBody>
      </p:sp>
      <p:sp>
        <p:nvSpPr>
          <p:cNvPr id="72" name="Google Shape;72;p4"/>
          <p:cNvSpPr/>
          <p:nvPr/>
        </p:nvSpPr>
        <p:spPr>
          <a:xfrm>
            <a:off x="8092440" y="1947672"/>
            <a:ext cx="3749040" cy="4343400"/>
          </a:xfrm>
          <a:prstGeom prst="rect">
            <a:avLst/>
          </a:prstGeom>
          <a:solidFill>
            <a:srgbClr val="FAFAFA"/>
          </a:solidFill>
          <a:ln cap="flat" cmpd="sng" w="12700">
            <a:solidFill>
              <a:srgbClr val="DEDE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8202168" y="2029968"/>
            <a:ext cx="109728" cy="23774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8366760" y="2029968"/>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"Big data" scalability issues</a:t>
            </a:r>
            <a:endParaRPr b="0" i="0" sz="1200" u="none" cap="none" strike="noStrike">
              <a:solidFill>
                <a:schemeClr val="dk1"/>
              </a:solidFill>
              <a:latin typeface="Calibri"/>
              <a:ea typeface="Calibri"/>
              <a:cs typeface="Calibri"/>
              <a:sym typeface="Calibri"/>
            </a:endParaRPr>
          </a:p>
        </p:txBody>
      </p:sp>
      <p:sp>
        <p:nvSpPr>
          <p:cNvPr id="75" name="Google Shape;75;p4"/>
          <p:cNvSpPr/>
          <p:nvPr/>
        </p:nvSpPr>
        <p:spPr>
          <a:xfrm>
            <a:off x="8202168" y="2450592"/>
            <a:ext cx="109728" cy="23774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8366760" y="2450592"/>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Design complexity</a:t>
            </a:r>
            <a:endParaRPr b="0" i="0" sz="1200" u="none" cap="none" strike="noStrike">
              <a:solidFill>
                <a:schemeClr val="dk1"/>
              </a:solidFill>
              <a:latin typeface="Calibri"/>
              <a:ea typeface="Calibri"/>
              <a:cs typeface="Calibri"/>
              <a:sym typeface="Calibri"/>
            </a:endParaRPr>
          </a:p>
        </p:txBody>
      </p:sp>
      <p:sp>
        <p:nvSpPr>
          <p:cNvPr id="77" name="Google Shape;77;p4"/>
          <p:cNvSpPr/>
          <p:nvPr/>
        </p:nvSpPr>
        <p:spPr>
          <a:xfrm>
            <a:off x="8202168" y="2871216"/>
            <a:ext cx="109728" cy="23774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8366760" y="2871216"/>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Hierarchical data handling</a:t>
            </a:r>
            <a:endParaRPr b="0" i="0" sz="1200" u="none" cap="none" strike="noStrike">
              <a:solidFill>
                <a:schemeClr val="dk1"/>
              </a:solidFill>
              <a:latin typeface="Calibri"/>
              <a:ea typeface="Calibri"/>
              <a:cs typeface="Calibri"/>
              <a:sym typeface="Calibri"/>
            </a:endParaRPr>
          </a:p>
        </p:txBody>
      </p:sp>
      <p:sp>
        <p:nvSpPr>
          <p:cNvPr id="79" name="Google Shape;79;p4"/>
          <p:cNvSpPr/>
          <p:nvPr/>
        </p:nvSpPr>
        <p:spPr>
          <a:xfrm>
            <a:off x="8202168" y="3291840"/>
            <a:ext cx="109728" cy="23774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8366760" y="329184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Rigid schema</a:t>
            </a:r>
            <a:endParaRPr b="0" i="0" sz="1200" u="none" cap="none" strike="noStrike">
              <a:solidFill>
                <a:schemeClr val="dk1"/>
              </a:solidFill>
              <a:latin typeface="Calibri"/>
              <a:ea typeface="Calibri"/>
              <a:cs typeface="Calibri"/>
              <a:sym typeface="Calibri"/>
            </a:endParaRPr>
          </a:p>
        </p:txBody>
      </p:sp>
      <p:sp>
        <p:nvSpPr>
          <p:cNvPr id="81" name="Google Shape;81;p4"/>
          <p:cNvSpPr/>
          <p:nvPr/>
        </p:nvSpPr>
        <p:spPr>
          <a:xfrm>
            <a:off x="8202168" y="3712464"/>
            <a:ext cx="109728" cy="23774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8366760" y="3712464"/>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Object-relational impedance mismatch</a:t>
            </a:r>
            <a:endParaRPr b="0" i="0" sz="1200" u="none" cap="none" strike="noStrike">
              <a:solidFill>
                <a:schemeClr val="dk1"/>
              </a:solidFill>
              <a:latin typeface="Calibri"/>
              <a:ea typeface="Calibri"/>
              <a:cs typeface="Calibri"/>
              <a:sym typeface="Calibri"/>
            </a:endParaRPr>
          </a:p>
        </p:txBody>
      </p:sp>
      <p:sp>
        <p:nvSpPr>
          <p:cNvPr id="83" name="Google Shape;83;p4"/>
          <p:cNvSpPr/>
          <p:nvPr/>
        </p:nvSpPr>
        <p:spPr>
          <a:xfrm>
            <a:off x="8202168" y="4133088"/>
            <a:ext cx="109728" cy="23774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8366760" y="4133088"/>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Unstructured data handling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89" name="Shape 89"/>
        <p:cNvGrpSpPr/>
        <p:nvPr/>
      </p:nvGrpSpPr>
      <p:grpSpPr>
        <a:xfrm>
          <a:off x="0" y="0"/>
          <a:ext cx="0" cy="0"/>
          <a:chOff x="0" y="0"/>
          <a:chExt cx="0" cy="0"/>
        </a:xfrm>
      </p:grpSpPr>
      <p:sp>
        <p:nvSpPr>
          <p:cNvPr id="90" name="Google Shape;90;p5"/>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92" name="Google Shape;92;p5"/>
          <p:cNvSpPr/>
          <p:nvPr/>
        </p:nvSpPr>
        <p:spPr>
          <a:xfrm>
            <a:off x="0" y="0"/>
            <a:ext cx="4754880" cy="6858000"/>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274320" y="502920"/>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1" lang="en-US" sz="1400" u="none" cap="none" strike="noStrike">
                <a:solidFill>
                  <a:srgbClr val="0D0D0D"/>
                </a:solidFill>
                <a:latin typeface="Calibri"/>
                <a:ea typeface="Calibri"/>
                <a:cs typeface="Calibri"/>
                <a:sym typeface="Calibri"/>
              </a:rPr>
              <a:t>By the end of this lesson:</a:t>
            </a:r>
            <a:endParaRPr b="0" i="0" sz="1400" u="none" cap="none" strike="noStrike">
              <a:solidFill>
                <a:schemeClr val="dk1"/>
              </a:solidFill>
              <a:latin typeface="Calibri"/>
              <a:ea typeface="Calibri"/>
              <a:cs typeface="Calibri"/>
              <a:sym typeface="Calibri"/>
            </a:endParaRPr>
          </a:p>
        </p:txBody>
      </p:sp>
      <p:sp>
        <p:nvSpPr>
          <p:cNvPr id="94" name="Google Shape;94;p5"/>
          <p:cNvSpPr/>
          <p:nvPr/>
        </p:nvSpPr>
        <p:spPr>
          <a:xfrm>
            <a:off x="274320" y="1051560"/>
            <a:ext cx="429768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3600"/>
              <a:buFont typeface="Trebuchet MS"/>
              <a:buNone/>
            </a:pPr>
            <a:r>
              <a:rPr b="1" i="0" lang="en-US" sz="3600" u="none" cap="none" strike="noStrike">
                <a:solidFill>
                  <a:srgbClr val="0D0D0D"/>
                </a:solidFill>
                <a:latin typeface="Trebuchet MS"/>
                <a:ea typeface="Trebuchet MS"/>
                <a:cs typeface="Trebuchet MS"/>
                <a:sym typeface="Trebuchet MS"/>
              </a:rPr>
              <a:t>Learning</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0D0D"/>
              </a:buClr>
              <a:buSzPts val="3600"/>
              <a:buFont typeface="Trebuchet MS"/>
              <a:buNone/>
            </a:pPr>
            <a:r>
              <a:rPr b="1" i="0" lang="en-US" sz="3600" u="none" cap="none" strike="noStrike">
                <a:solidFill>
                  <a:srgbClr val="0D0D0D"/>
                </a:solidFill>
                <a:latin typeface="Trebuchet MS"/>
                <a:ea typeface="Trebuchet MS"/>
                <a:cs typeface="Trebuchet MS"/>
                <a:sym typeface="Trebuchet MS"/>
              </a:rPr>
              <a:t>Objectives</a:t>
            </a:r>
            <a:endParaRPr b="0" i="0" sz="3600" u="none" cap="none" strike="noStrike">
              <a:solidFill>
                <a:schemeClr val="dk1"/>
              </a:solidFill>
              <a:latin typeface="Calibri"/>
              <a:ea typeface="Calibri"/>
              <a:cs typeface="Calibri"/>
              <a:sym typeface="Calibri"/>
            </a:endParaRPr>
          </a:p>
        </p:txBody>
      </p:sp>
      <p:sp>
        <p:nvSpPr>
          <p:cNvPr id="95" name="Google Shape;95;p5"/>
          <p:cNvSpPr/>
          <p:nvPr/>
        </p:nvSpPr>
        <p:spPr>
          <a:xfrm>
            <a:off x="5029200" y="658368"/>
            <a:ext cx="6858000" cy="1234440"/>
          </a:xfrm>
          <a:prstGeom prst="rect">
            <a:avLst/>
          </a:prstGeom>
          <a:solidFill>
            <a:srgbClr val="1C1C1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5029200" y="658368"/>
            <a:ext cx="1280160" cy="123444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5047488" y="932688"/>
            <a:ext cx="1243584"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0D0D"/>
              </a:buClr>
              <a:buSzPts val="1500"/>
              <a:buFont typeface="Trebuchet MS"/>
              <a:buNone/>
            </a:pPr>
            <a:r>
              <a:rPr b="1" i="0" lang="en-US" sz="1500" u="none" cap="none" strike="noStrike">
                <a:solidFill>
                  <a:srgbClr val="0D0D0D"/>
                </a:solidFill>
                <a:latin typeface="Trebuchet MS"/>
                <a:ea typeface="Trebuchet MS"/>
                <a:cs typeface="Trebuchet MS"/>
                <a:sym typeface="Trebuchet MS"/>
              </a:rPr>
              <a:t>Describe</a:t>
            </a:r>
            <a:endParaRPr b="0" i="0" sz="1500" u="none" cap="none" strike="noStrike">
              <a:solidFill>
                <a:schemeClr val="dk1"/>
              </a:solidFill>
              <a:latin typeface="Calibri"/>
              <a:ea typeface="Calibri"/>
              <a:cs typeface="Calibri"/>
              <a:sym typeface="Calibri"/>
            </a:endParaRPr>
          </a:p>
        </p:txBody>
      </p:sp>
      <p:sp>
        <p:nvSpPr>
          <p:cNvPr id="98" name="Google Shape;98;p5"/>
          <p:cNvSpPr/>
          <p:nvPr/>
        </p:nvSpPr>
        <p:spPr>
          <a:xfrm>
            <a:off x="6446520" y="859536"/>
            <a:ext cx="53035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tables, keys and structural features of a relational database</a:t>
            </a:r>
            <a:endParaRPr b="0" i="0" sz="1350" u="none" cap="none" strike="noStrike">
              <a:solidFill>
                <a:schemeClr val="dk1"/>
              </a:solidFill>
              <a:latin typeface="Calibri"/>
              <a:ea typeface="Calibri"/>
              <a:cs typeface="Calibri"/>
              <a:sym typeface="Calibri"/>
            </a:endParaRPr>
          </a:p>
        </p:txBody>
      </p:sp>
      <p:sp>
        <p:nvSpPr>
          <p:cNvPr id="99" name="Google Shape;99;p5"/>
          <p:cNvSpPr/>
          <p:nvPr/>
        </p:nvSpPr>
        <p:spPr>
          <a:xfrm>
            <a:off x="5029200" y="2029968"/>
            <a:ext cx="6858000" cy="1234440"/>
          </a:xfrm>
          <a:prstGeom prst="rect">
            <a:avLst/>
          </a:prstGeom>
          <a:solidFill>
            <a:srgbClr val="1C1C1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5029200" y="2029968"/>
            <a:ext cx="1280160" cy="123444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5047488" y="2304288"/>
            <a:ext cx="1243584"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0D0D"/>
              </a:buClr>
              <a:buSzPts val="1500"/>
              <a:buFont typeface="Trebuchet MS"/>
              <a:buNone/>
            </a:pPr>
            <a:r>
              <a:rPr b="1" i="0" lang="en-US" sz="1500" u="none" cap="none" strike="noStrike">
                <a:solidFill>
                  <a:srgbClr val="0D0D0D"/>
                </a:solidFill>
                <a:latin typeface="Trebuchet MS"/>
                <a:ea typeface="Trebuchet MS"/>
                <a:cs typeface="Trebuchet MS"/>
                <a:sym typeface="Trebuchet MS"/>
              </a:rPr>
              <a:t>Explain</a:t>
            </a:r>
            <a:endParaRPr b="0" i="0" sz="1500" u="none" cap="none" strike="noStrike">
              <a:solidFill>
                <a:schemeClr val="dk1"/>
              </a:solidFill>
              <a:latin typeface="Calibri"/>
              <a:ea typeface="Calibri"/>
              <a:cs typeface="Calibri"/>
              <a:sym typeface="Calibri"/>
            </a:endParaRPr>
          </a:p>
        </p:txBody>
      </p:sp>
      <p:sp>
        <p:nvSpPr>
          <p:cNvPr id="102" name="Google Shape;102;p5"/>
          <p:cNvSpPr/>
          <p:nvPr/>
        </p:nvSpPr>
        <p:spPr>
          <a:xfrm>
            <a:off x="6446520" y="2231136"/>
            <a:ext cx="53035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benefits relational databases provide over flat-file storage</a:t>
            </a:r>
            <a:endParaRPr b="0" i="0" sz="1350" u="none" cap="none" strike="noStrike">
              <a:solidFill>
                <a:schemeClr val="dk1"/>
              </a:solidFill>
              <a:latin typeface="Calibri"/>
              <a:ea typeface="Calibri"/>
              <a:cs typeface="Calibri"/>
              <a:sym typeface="Calibri"/>
            </a:endParaRPr>
          </a:p>
        </p:txBody>
      </p:sp>
      <p:sp>
        <p:nvSpPr>
          <p:cNvPr id="103" name="Google Shape;103;p5"/>
          <p:cNvSpPr/>
          <p:nvPr/>
        </p:nvSpPr>
        <p:spPr>
          <a:xfrm>
            <a:off x="5029200" y="3401568"/>
            <a:ext cx="6858000" cy="1234440"/>
          </a:xfrm>
          <a:prstGeom prst="rect">
            <a:avLst/>
          </a:prstGeom>
          <a:solidFill>
            <a:srgbClr val="1C1C1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5029200" y="3401568"/>
            <a:ext cx="1280160" cy="123444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5047488" y="3675888"/>
            <a:ext cx="1243584"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0D0D"/>
              </a:buClr>
              <a:buSzPts val="1500"/>
              <a:buFont typeface="Trebuchet MS"/>
              <a:buNone/>
            </a:pPr>
            <a:r>
              <a:rPr b="1" i="0" lang="en-US" sz="1500" u="none" cap="none" strike="noStrike">
                <a:solidFill>
                  <a:srgbClr val="0D0D0D"/>
                </a:solidFill>
                <a:latin typeface="Trebuchet MS"/>
                <a:ea typeface="Trebuchet MS"/>
                <a:cs typeface="Trebuchet MS"/>
                <a:sym typeface="Trebuchet MS"/>
              </a:rPr>
              <a:t>Evaluate</a:t>
            </a:r>
            <a:endParaRPr b="0" i="0" sz="1500" u="none" cap="none" strike="noStrike">
              <a:solidFill>
                <a:schemeClr val="dk1"/>
              </a:solidFill>
              <a:latin typeface="Calibri"/>
              <a:ea typeface="Calibri"/>
              <a:cs typeface="Calibri"/>
              <a:sym typeface="Calibri"/>
            </a:endParaRPr>
          </a:p>
        </p:txBody>
      </p:sp>
      <p:sp>
        <p:nvSpPr>
          <p:cNvPr id="106" name="Google Shape;106;p5"/>
          <p:cNvSpPr/>
          <p:nvPr/>
        </p:nvSpPr>
        <p:spPr>
          <a:xfrm>
            <a:off x="6446520" y="3602736"/>
            <a:ext cx="53035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limitations and when an RDBMS is not the right choice</a:t>
            </a:r>
            <a:endParaRPr b="0" i="0" sz="1350" u="none" cap="none" strike="noStrike">
              <a:solidFill>
                <a:schemeClr val="dk1"/>
              </a:solidFill>
              <a:latin typeface="Calibri"/>
              <a:ea typeface="Calibri"/>
              <a:cs typeface="Calibri"/>
              <a:sym typeface="Calibri"/>
            </a:endParaRPr>
          </a:p>
        </p:txBody>
      </p:sp>
      <p:sp>
        <p:nvSpPr>
          <p:cNvPr id="107" name="Google Shape;107;p5"/>
          <p:cNvSpPr/>
          <p:nvPr/>
        </p:nvSpPr>
        <p:spPr>
          <a:xfrm>
            <a:off x="5029200" y="4773168"/>
            <a:ext cx="6858000" cy="1234440"/>
          </a:xfrm>
          <a:prstGeom prst="rect">
            <a:avLst/>
          </a:prstGeom>
          <a:solidFill>
            <a:srgbClr val="1C1C1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5029200" y="4773168"/>
            <a:ext cx="1280160" cy="123444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5047488" y="5047488"/>
            <a:ext cx="1243584"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0D0D"/>
              </a:buClr>
              <a:buSzPts val="1500"/>
              <a:buFont typeface="Trebuchet MS"/>
              <a:buNone/>
            </a:pPr>
            <a:r>
              <a:rPr b="1" i="0" lang="en-US" sz="1500" u="none" cap="none" strike="noStrike">
                <a:solidFill>
                  <a:srgbClr val="0D0D0D"/>
                </a:solidFill>
                <a:latin typeface="Trebuchet MS"/>
                <a:ea typeface="Trebuchet MS"/>
                <a:cs typeface="Trebuchet MS"/>
                <a:sym typeface="Trebuchet MS"/>
              </a:rPr>
              <a:t>Apply</a:t>
            </a:r>
            <a:endParaRPr b="0" i="0" sz="1500" u="none" cap="none" strike="noStrike">
              <a:solidFill>
                <a:schemeClr val="dk1"/>
              </a:solidFill>
              <a:latin typeface="Calibri"/>
              <a:ea typeface="Calibri"/>
              <a:cs typeface="Calibri"/>
              <a:sym typeface="Calibri"/>
            </a:endParaRPr>
          </a:p>
        </p:txBody>
      </p:sp>
      <p:sp>
        <p:nvSpPr>
          <p:cNvPr id="110" name="Google Shape;110;p5"/>
          <p:cNvSpPr/>
          <p:nvPr/>
        </p:nvSpPr>
        <p:spPr>
          <a:xfrm>
            <a:off x="6446520" y="4974336"/>
            <a:ext cx="53035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knowledge to real-world scenarios and exam-style questions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6"/>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Do Now — Prior Knowledge Check</a:t>
            </a:r>
            <a:endParaRPr b="0" i="0" sz="2400" u="none" cap="none" strike="noStrike">
              <a:solidFill>
                <a:schemeClr val="dk1"/>
              </a:solidFill>
              <a:latin typeface="Calibri"/>
              <a:ea typeface="Calibri"/>
              <a:cs typeface="Calibri"/>
              <a:sym typeface="Calibri"/>
            </a:endParaRPr>
          </a:p>
        </p:txBody>
      </p:sp>
      <p:sp>
        <p:nvSpPr>
          <p:cNvPr id="118" name="Google Shape;118;p6"/>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120" name="Google Shape;120;p6"/>
          <p:cNvSpPr/>
          <p:nvPr/>
        </p:nvSpPr>
        <p:spPr>
          <a:xfrm>
            <a:off x="274320" y="914400"/>
            <a:ext cx="8412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1400" u="none" cap="none" strike="noStrike">
                <a:solidFill>
                  <a:srgbClr val="0D0D0D"/>
                </a:solidFill>
                <a:latin typeface="Calibri"/>
                <a:ea typeface="Calibri"/>
                <a:cs typeface="Calibri"/>
                <a:sym typeface="Calibri"/>
              </a:rPr>
              <a:t>Think about how a school stores student records. Discuss with a partner:</a:t>
            </a:r>
            <a:endParaRPr b="0" i="0" sz="1400" u="none" cap="none" strike="noStrike">
              <a:solidFill>
                <a:schemeClr val="dk1"/>
              </a:solidFill>
              <a:latin typeface="Calibri"/>
              <a:ea typeface="Calibri"/>
              <a:cs typeface="Calibri"/>
              <a:sym typeface="Calibri"/>
            </a:endParaRPr>
          </a:p>
        </p:txBody>
      </p:sp>
      <p:sp>
        <p:nvSpPr>
          <p:cNvPr id="121" name="Google Shape;121;p6"/>
          <p:cNvSpPr/>
          <p:nvPr/>
        </p:nvSpPr>
        <p:spPr>
          <a:xfrm>
            <a:off x="274320" y="1389888"/>
            <a:ext cx="7955280" cy="109728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411480" y="1481328"/>
            <a:ext cx="768096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2100" u="none" cap="none" strike="noStrike">
                <a:solidFill>
                  <a:srgbClr val="0D0D0D"/>
                </a:solidFill>
                <a:latin typeface="Calibri"/>
                <a:ea typeface="Calibri"/>
                <a:cs typeface="Calibri"/>
                <a:sym typeface="Calibri"/>
              </a:rPr>
              <a:t>1.  Where do you think a school stores student data (names, grades, attendance)?</a:t>
            </a:r>
            <a:endParaRPr b="0" i="0" sz="2100" u="none" cap="none" strike="noStrike">
              <a:solidFill>
                <a:schemeClr val="dk1"/>
              </a:solidFill>
              <a:latin typeface="Calibri"/>
              <a:ea typeface="Calibri"/>
              <a:cs typeface="Calibri"/>
              <a:sym typeface="Calibri"/>
            </a:endParaRPr>
          </a:p>
        </p:txBody>
      </p:sp>
      <p:sp>
        <p:nvSpPr>
          <p:cNvPr id="123" name="Google Shape;123;p6"/>
          <p:cNvSpPr/>
          <p:nvPr/>
        </p:nvSpPr>
        <p:spPr>
          <a:xfrm>
            <a:off x="274320" y="2670048"/>
            <a:ext cx="7955280" cy="109728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411480" y="2761488"/>
            <a:ext cx="768096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2100" u="none" cap="none" strike="noStrike">
                <a:solidFill>
                  <a:srgbClr val="0D0D0D"/>
                </a:solidFill>
                <a:latin typeface="Calibri"/>
                <a:ea typeface="Calibri"/>
                <a:cs typeface="Calibri"/>
                <a:sym typeface="Calibri"/>
              </a:rPr>
              <a:t>2.  What problems could arise if the same student's name is stored in 5 different spreadsheets?</a:t>
            </a:r>
            <a:endParaRPr b="0" i="0" sz="2100" u="none" cap="none" strike="noStrike">
              <a:solidFill>
                <a:schemeClr val="dk1"/>
              </a:solidFill>
              <a:latin typeface="Calibri"/>
              <a:ea typeface="Calibri"/>
              <a:cs typeface="Calibri"/>
              <a:sym typeface="Calibri"/>
            </a:endParaRPr>
          </a:p>
        </p:txBody>
      </p:sp>
      <p:sp>
        <p:nvSpPr>
          <p:cNvPr id="125" name="Google Shape;125;p6"/>
          <p:cNvSpPr/>
          <p:nvPr/>
        </p:nvSpPr>
        <p:spPr>
          <a:xfrm>
            <a:off x="274320" y="3950208"/>
            <a:ext cx="7955280" cy="109728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411480" y="4041648"/>
            <a:ext cx="768096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2100" u="none" cap="none" strike="noStrike">
                <a:solidFill>
                  <a:srgbClr val="0D0D0D"/>
                </a:solidFill>
                <a:latin typeface="Calibri"/>
                <a:ea typeface="Calibri"/>
                <a:cs typeface="Calibri"/>
                <a:sym typeface="Calibri"/>
              </a:rPr>
              <a:t>3.  What does the term "database" mean to you?</a:t>
            </a:r>
            <a:endParaRPr b="0" i="0" sz="2100" u="none" cap="none" strike="noStrike">
              <a:solidFill>
                <a:schemeClr val="dk1"/>
              </a:solidFill>
              <a:latin typeface="Calibri"/>
              <a:ea typeface="Calibri"/>
              <a:cs typeface="Calibri"/>
              <a:sym typeface="Calibri"/>
            </a:endParaRPr>
          </a:p>
        </p:txBody>
      </p:sp>
      <p:sp>
        <p:nvSpPr>
          <p:cNvPr id="127" name="Google Shape;127;p6"/>
          <p:cNvSpPr/>
          <p:nvPr/>
        </p:nvSpPr>
        <p:spPr>
          <a:xfrm>
            <a:off x="8503920" y="914400"/>
            <a:ext cx="3429000" cy="2651760"/>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8641080" y="987552"/>
            <a:ext cx="31546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600"/>
              <a:buFont typeface="Trebuchet MS"/>
              <a:buNone/>
            </a:pPr>
            <a:r>
              <a:rPr b="1" i="0" lang="en-US" sz="1600" u="none" cap="none" strike="noStrike">
                <a:solidFill>
                  <a:srgbClr val="0D0D0D"/>
                </a:solidFill>
                <a:latin typeface="Trebuchet MS"/>
                <a:ea typeface="Trebuchet MS"/>
                <a:cs typeface="Trebuchet MS"/>
                <a:sym typeface="Trebuchet MS"/>
              </a:rPr>
              <a:t>Recall:</a:t>
            </a:r>
            <a:endParaRPr b="0" i="0" sz="1600" u="none" cap="none" strike="noStrike">
              <a:solidFill>
                <a:schemeClr val="dk1"/>
              </a:solidFill>
              <a:latin typeface="Calibri"/>
              <a:ea typeface="Calibri"/>
              <a:cs typeface="Calibri"/>
              <a:sym typeface="Calibri"/>
            </a:endParaRPr>
          </a:p>
        </p:txBody>
      </p:sp>
      <p:sp>
        <p:nvSpPr>
          <p:cNvPr id="129" name="Google Shape;129;p6"/>
          <p:cNvSpPr/>
          <p:nvPr/>
        </p:nvSpPr>
        <p:spPr>
          <a:xfrm>
            <a:off x="8641080" y="1389888"/>
            <a:ext cx="3154680" cy="1920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700" u="none" cap="none" strike="noStrike">
                <a:solidFill>
                  <a:srgbClr val="0D0D0D"/>
                </a:solidFill>
                <a:latin typeface="Calibri"/>
                <a:ea typeface="Calibri"/>
                <a:cs typeface="Calibri"/>
                <a:sym typeface="Calibri"/>
              </a:rPr>
              <a:t>What is the difference between a flat-file database and a structured database?</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0D0D"/>
              </a:buClr>
              <a:buSzPts val="1300"/>
              <a:buFont typeface="Calibri"/>
              <a:buNone/>
            </a:pPr>
            <a:r>
              <a:rPr b="0" i="0" lang="en-US" sz="1700" u="none" cap="none" strike="noStrike">
                <a:solidFill>
                  <a:srgbClr val="0D0D0D"/>
                </a:solidFill>
                <a:latin typeface="Calibri"/>
                <a:ea typeface="Calibri"/>
                <a:cs typeface="Calibri"/>
                <a:sym typeface="Calibri"/>
              </a:rPr>
              <a:t>Have you used Excel as a 'database' before?</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7"/>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What is a Relational Database?</a:t>
            </a:r>
            <a:endParaRPr b="0" i="0" sz="2400" u="none" cap="none" strike="noStrike">
              <a:solidFill>
                <a:schemeClr val="dk1"/>
              </a:solidFill>
              <a:latin typeface="Calibri"/>
              <a:ea typeface="Calibri"/>
              <a:cs typeface="Calibri"/>
              <a:sym typeface="Calibri"/>
            </a:endParaRPr>
          </a:p>
        </p:txBody>
      </p:sp>
      <p:sp>
        <p:nvSpPr>
          <p:cNvPr id="137" name="Google Shape;137;p7"/>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139" name="Google Shape;139;p7"/>
          <p:cNvSpPr/>
          <p:nvPr/>
        </p:nvSpPr>
        <p:spPr>
          <a:xfrm>
            <a:off x="228600" y="914400"/>
            <a:ext cx="11704320" cy="685800"/>
          </a:xfrm>
          <a:prstGeom prst="rect">
            <a:avLst/>
          </a:prstGeom>
          <a:solidFill>
            <a:srgbClr val="E8F4FD"/>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365760" y="960120"/>
            <a:ext cx="114300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1600" u="none" cap="none" strike="noStrike">
                <a:solidFill>
                  <a:srgbClr val="0D0D0D"/>
                </a:solidFill>
                <a:latin typeface="Calibri"/>
                <a:ea typeface="Calibri"/>
                <a:cs typeface="Calibri"/>
                <a:sym typeface="Calibri"/>
              </a:rPr>
              <a:t>A relational database organises data into one or more tables. Each table represents a real-world entity. Tables are linked to each other through shared fields called keys.</a:t>
            </a:r>
            <a:endParaRPr b="0" i="0" sz="1600" u="none" cap="none" strike="noStrike">
              <a:solidFill>
                <a:schemeClr val="dk1"/>
              </a:solidFill>
              <a:latin typeface="Calibri"/>
              <a:ea typeface="Calibri"/>
              <a:cs typeface="Calibri"/>
              <a:sym typeface="Calibri"/>
            </a:endParaRPr>
          </a:p>
        </p:txBody>
      </p:sp>
      <p:sp>
        <p:nvSpPr>
          <p:cNvPr id="141" name="Google Shape;141;p7"/>
          <p:cNvSpPr/>
          <p:nvPr/>
        </p:nvSpPr>
        <p:spPr>
          <a:xfrm>
            <a:off x="228600" y="1755648"/>
            <a:ext cx="68580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1" i="0" lang="en-US" sz="1300" u="none" cap="none" strike="noStrike">
                <a:solidFill>
                  <a:srgbClr val="0D0D0D"/>
                </a:solidFill>
                <a:latin typeface="Calibri"/>
                <a:ea typeface="Calibri"/>
                <a:cs typeface="Calibri"/>
                <a:sym typeface="Calibri"/>
              </a:rPr>
              <a:t>Example — AEROPLANE table (no primary key yet):</a:t>
            </a:r>
            <a:endParaRPr b="0" i="0" sz="1300" u="none" cap="none" strike="noStrike">
              <a:solidFill>
                <a:schemeClr val="dk1"/>
              </a:solidFill>
              <a:latin typeface="Calibri"/>
              <a:ea typeface="Calibri"/>
              <a:cs typeface="Calibri"/>
              <a:sym typeface="Calibri"/>
            </a:endParaRPr>
          </a:p>
        </p:txBody>
      </p:sp>
      <p:sp>
        <p:nvSpPr>
          <p:cNvPr id="142" name="Google Shape;142;p7"/>
          <p:cNvSpPr/>
          <p:nvPr/>
        </p:nvSpPr>
        <p:spPr>
          <a:xfrm>
            <a:off x="228600" y="2121408"/>
            <a:ext cx="6766560" cy="292608"/>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274320" y="2121408"/>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Model</a:t>
            </a:r>
            <a:endParaRPr b="0" i="0" sz="1100" u="none" cap="none" strike="noStrike">
              <a:solidFill>
                <a:schemeClr val="dk1"/>
              </a:solidFill>
              <a:latin typeface="Calibri"/>
              <a:ea typeface="Calibri"/>
              <a:cs typeface="Calibri"/>
              <a:sym typeface="Calibri"/>
            </a:endParaRPr>
          </a:p>
        </p:txBody>
      </p:sp>
      <p:sp>
        <p:nvSpPr>
          <p:cNvPr id="144" name="Google Shape;144;p7"/>
          <p:cNvSpPr/>
          <p:nvPr/>
        </p:nvSpPr>
        <p:spPr>
          <a:xfrm>
            <a:off x="1965960" y="2121408"/>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Manufacturer</a:t>
            </a:r>
            <a:endParaRPr b="0" i="0" sz="1100" u="none" cap="none" strike="noStrike">
              <a:solidFill>
                <a:schemeClr val="dk1"/>
              </a:solidFill>
              <a:latin typeface="Calibri"/>
              <a:ea typeface="Calibri"/>
              <a:cs typeface="Calibri"/>
              <a:sym typeface="Calibri"/>
            </a:endParaRPr>
          </a:p>
        </p:txBody>
      </p:sp>
      <p:sp>
        <p:nvSpPr>
          <p:cNvPr id="145" name="Google Shape;145;p7"/>
          <p:cNvSpPr/>
          <p:nvPr/>
        </p:nvSpPr>
        <p:spPr>
          <a:xfrm>
            <a:off x="3657600" y="2121408"/>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PhysicalClassEngine</a:t>
            </a:r>
            <a:endParaRPr b="0" i="0" sz="1100" u="none" cap="none" strike="noStrike">
              <a:solidFill>
                <a:schemeClr val="dk1"/>
              </a:solidFill>
              <a:latin typeface="Calibri"/>
              <a:ea typeface="Calibri"/>
              <a:cs typeface="Calibri"/>
              <a:sym typeface="Calibri"/>
            </a:endParaRPr>
          </a:p>
        </p:txBody>
      </p:sp>
      <p:sp>
        <p:nvSpPr>
          <p:cNvPr id="146" name="Google Shape;146;p7"/>
          <p:cNvSpPr/>
          <p:nvPr/>
        </p:nvSpPr>
        <p:spPr>
          <a:xfrm>
            <a:off x="5349240" y="2121408"/>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NoOfEngines</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228600" y="2414016"/>
            <a:ext cx="676656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274320" y="2414016"/>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Rockwell Commander 112</a:t>
            </a:r>
            <a:endParaRPr b="0" i="0" sz="1100" u="none" cap="none" strike="noStrike">
              <a:solidFill>
                <a:schemeClr val="dk1"/>
              </a:solidFill>
              <a:latin typeface="Calibri"/>
              <a:ea typeface="Calibri"/>
              <a:cs typeface="Calibri"/>
              <a:sym typeface="Calibri"/>
            </a:endParaRPr>
          </a:p>
        </p:txBody>
      </p:sp>
      <p:sp>
        <p:nvSpPr>
          <p:cNvPr id="149" name="Google Shape;149;p7"/>
          <p:cNvSpPr/>
          <p:nvPr/>
        </p:nvSpPr>
        <p:spPr>
          <a:xfrm>
            <a:off x="1965960" y="2414016"/>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Rockwell</a:t>
            </a:r>
            <a:endParaRPr b="0" i="0" sz="1100" u="none" cap="none" strike="noStrike">
              <a:solidFill>
                <a:schemeClr val="dk1"/>
              </a:solidFill>
              <a:latin typeface="Calibri"/>
              <a:ea typeface="Calibri"/>
              <a:cs typeface="Calibri"/>
              <a:sym typeface="Calibri"/>
            </a:endParaRPr>
          </a:p>
        </p:txBody>
      </p:sp>
      <p:sp>
        <p:nvSpPr>
          <p:cNvPr id="150" name="Google Shape;150;p7"/>
          <p:cNvSpPr/>
          <p:nvPr/>
        </p:nvSpPr>
        <p:spPr>
          <a:xfrm>
            <a:off x="3657600" y="2414016"/>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Piston</a:t>
            </a:r>
            <a:endParaRPr b="0" i="0" sz="1100" u="none" cap="none" strike="noStrike">
              <a:solidFill>
                <a:schemeClr val="dk1"/>
              </a:solidFill>
              <a:latin typeface="Calibri"/>
              <a:ea typeface="Calibri"/>
              <a:cs typeface="Calibri"/>
              <a:sym typeface="Calibri"/>
            </a:endParaRPr>
          </a:p>
        </p:txBody>
      </p:sp>
      <p:sp>
        <p:nvSpPr>
          <p:cNvPr id="151" name="Google Shape;151;p7"/>
          <p:cNvSpPr/>
          <p:nvPr/>
        </p:nvSpPr>
        <p:spPr>
          <a:xfrm>
            <a:off x="5349240" y="2414016"/>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52" name="Google Shape;152;p7"/>
          <p:cNvSpPr/>
          <p:nvPr/>
        </p:nvSpPr>
        <p:spPr>
          <a:xfrm>
            <a:off x="228600" y="2706624"/>
            <a:ext cx="676656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274320" y="2706624"/>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Airbus A319 Neo</a:t>
            </a:r>
            <a:endParaRPr b="0" i="0" sz="1100" u="none" cap="none" strike="noStrike">
              <a:solidFill>
                <a:schemeClr val="dk1"/>
              </a:solidFill>
              <a:latin typeface="Calibri"/>
              <a:ea typeface="Calibri"/>
              <a:cs typeface="Calibri"/>
              <a:sym typeface="Calibri"/>
            </a:endParaRPr>
          </a:p>
        </p:txBody>
      </p:sp>
      <p:sp>
        <p:nvSpPr>
          <p:cNvPr id="154" name="Google Shape;154;p7"/>
          <p:cNvSpPr/>
          <p:nvPr/>
        </p:nvSpPr>
        <p:spPr>
          <a:xfrm>
            <a:off x="1965960" y="2706624"/>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Airbus</a:t>
            </a:r>
            <a:endParaRPr b="0" i="0" sz="1100" u="none" cap="none" strike="noStrike">
              <a:solidFill>
                <a:schemeClr val="dk1"/>
              </a:solidFill>
              <a:latin typeface="Calibri"/>
              <a:ea typeface="Calibri"/>
              <a:cs typeface="Calibri"/>
              <a:sym typeface="Calibri"/>
            </a:endParaRPr>
          </a:p>
        </p:txBody>
      </p:sp>
      <p:sp>
        <p:nvSpPr>
          <p:cNvPr id="155" name="Google Shape;155;p7"/>
          <p:cNvSpPr/>
          <p:nvPr/>
        </p:nvSpPr>
        <p:spPr>
          <a:xfrm>
            <a:off x="3657600" y="2706624"/>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Jet</a:t>
            </a:r>
            <a:endParaRPr b="0" i="0" sz="1100" u="none" cap="none" strike="noStrike">
              <a:solidFill>
                <a:schemeClr val="dk1"/>
              </a:solidFill>
              <a:latin typeface="Calibri"/>
              <a:ea typeface="Calibri"/>
              <a:cs typeface="Calibri"/>
              <a:sym typeface="Calibri"/>
            </a:endParaRPr>
          </a:p>
        </p:txBody>
      </p:sp>
      <p:sp>
        <p:nvSpPr>
          <p:cNvPr id="156" name="Google Shape;156;p7"/>
          <p:cNvSpPr/>
          <p:nvPr/>
        </p:nvSpPr>
        <p:spPr>
          <a:xfrm>
            <a:off x="5349240" y="2706624"/>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57" name="Google Shape;157;p7"/>
          <p:cNvSpPr/>
          <p:nvPr/>
        </p:nvSpPr>
        <p:spPr>
          <a:xfrm>
            <a:off x="228600" y="2999232"/>
            <a:ext cx="676656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274320" y="2999232"/>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 747-100</a:t>
            </a:r>
            <a:endParaRPr b="0" i="0" sz="1100" u="none" cap="none" strike="noStrike">
              <a:solidFill>
                <a:schemeClr val="dk1"/>
              </a:solidFill>
              <a:latin typeface="Calibri"/>
              <a:ea typeface="Calibri"/>
              <a:cs typeface="Calibri"/>
              <a:sym typeface="Calibri"/>
            </a:endParaRPr>
          </a:p>
        </p:txBody>
      </p:sp>
      <p:sp>
        <p:nvSpPr>
          <p:cNvPr id="159" name="Google Shape;159;p7"/>
          <p:cNvSpPr/>
          <p:nvPr/>
        </p:nvSpPr>
        <p:spPr>
          <a:xfrm>
            <a:off x="1965960" y="2999232"/>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a:t>
            </a:r>
            <a:endParaRPr b="0" i="0" sz="1100" u="none" cap="none" strike="noStrike">
              <a:solidFill>
                <a:schemeClr val="dk1"/>
              </a:solidFill>
              <a:latin typeface="Calibri"/>
              <a:ea typeface="Calibri"/>
              <a:cs typeface="Calibri"/>
              <a:sym typeface="Calibri"/>
            </a:endParaRPr>
          </a:p>
        </p:txBody>
      </p:sp>
      <p:sp>
        <p:nvSpPr>
          <p:cNvPr id="160" name="Google Shape;160;p7"/>
          <p:cNvSpPr/>
          <p:nvPr/>
        </p:nvSpPr>
        <p:spPr>
          <a:xfrm>
            <a:off x="3657600" y="2999232"/>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Jet</a:t>
            </a:r>
            <a:endParaRPr b="0" i="0" sz="1100" u="none" cap="none" strike="noStrike">
              <a:solidFill>
                <a:schemeClr val="dk1"/>
              </a:solidFill>
              <a:latin typeface="Calibri"/>
              <a:ea typeface="Calibri"/>
              <a:cs typeface="Calibri"/>
              <a:sym typeface="Calibri"/>
            </a:endParaRPr>
          </a:p>
        </p:txBody>
      </p:sp>
      <p:sp>
        <p:nvSpPr>
          <p:cNvPr id="161" name="Google Shape;161;p7"/>
          <p:cNvSpPr/>
          <p:nvPr/>
        </p:nvSpPr>
        <p:spPr>
          <a:xfrm>
            <a:off x="5349240" y="2999232"/>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62" name="Google Shape;162;p7"/>
          <p:cNvSpPr/>
          <p:nvPr/>
        </p:nvSpPr>
        <p:spPr>
          <a:xfrm>
            <a:off x="228600" y="3291840"/>
            <a:ext cx="676656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274320" y="3291840"/>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 777-8</a:t>
            </a:r>
            <a:endParaRPr b="0" i="0" sz="1100" u="none" cap="none" strike="noStrike">
              <a:solidFill>
                <a:schemeClr val="dk1"/>
              </a:solidFill>
              <a:latin typeface="Calibri"/>
              <a:ea typeface="Calibri"/>
              <a:cs typeface="Calibri"/>
              <a:sym typeface="Calibri"/>
            </a:endParaRPr>
          </a:p>
        </p:txBody>
      </p:sp>
      <p:sp>
        <p:nvSpPr>
          <p:cNvPr id="164" name="Google Shape;164;p7"/>
          <p:cNvSpPr/>
          <p:nvPr/>
        </p:nvSpPr>
        <p:spPr>
          <a:xfrm>
            <a:off x="1965960" y="3291840"/>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a:t>
            </a:r>
            <a:endParaRPr b="0" i="0" sz="1100" u="none" cap="none" strike="noStrike">
              <a:solidFill>
                <a:schemeClr val="dk1"/>
              </a:solidFill>
              <a:latin typeface="Calibri"/>
              <a:ea typeface="Calibri"/>
              <a:cs typeface="Calibri"/>
              <a:sym typeface="Calibri"/>
            </a:endParaRPr>
          </a:p>
        </p:txBody>
      </p:sp>
      <p:sp>
        <p:nvSpPr>
          <p:cNvPr id="165" name="Google Shape;165;p7"/>
          <p:cNvSpPr/>
          <p:nvPr/>
        </p:nvSpPr>
        <p:spPr>
          <a:xfrm>
            <a:off x="3657600" y="3291840"/>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Jet</a:t>
            </a:r>
            <a:endParaRPr b="0" i="0" sz="1100" u="none" cap="none" strike="noStrike">
              <a:solidFill>
                <a:schemeClr val="dk1"/>
              </a:solidFill>
              <a:latin typeface="Calibri"/>
              <a:ea typeface="Calibri"/>
              <a:cs typeface="Calibri"/>
              <a:sym typeface="Calibri"/>
            </a:endParaRPr>
          </a:p>
        </p:txBody>
      </p:sp>
      <p:sp>
        <p:nvSpPr>
          <p:cNvPr id="166" name="Google Shape;166;p7"/>
          <p:cNvSpPr/>
          <p:nvPr/>
        </p:nvSpPr>
        <p:spPr>
          <a:xfrm>
            <a:off x="5349240" y="3291840"/>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67" name="Google Shape;167;p7"/>
          <p:cNvSpPr/>
          <p:nvPr/>
        </p:nvSpPr>
        <p:spPr>
          <a:xfrm>
            <a:off x="228600" y="3584448"/>
            <a:ext cx="676656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274320" y="3584448"/>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Airbus A400M Atlas</a:t>
            </a:r>
            <a:endParaRPr b="0" i="0" sz="1100" u="none" cap="none" strike="noStrike">
              <a:solidFill>
                <a:schemeClr val="dk1"/>
              </a:solidFill>
              <a:latin typeface="Calibri"/>
              <a:ea typeface="Calibri"/>
              <a:cs typeface="Calibri"/>
              <a:sym typeface="Calibri"/>
            </a:endParaRPr>
          </a:p>
        </p:txBody>
      </p:sp>
      <p:sp>
        <p:nvSpPr>
          <p:cNvPr id="169" name="Google Shape;169;p7"/>
          <p:cNvSpPr/>
          <p:nvPr/>
        </p:nvSpPr>
        <p:spPr>
          <a:xfrm>
            <a:off x="1965960" y="3584448"/>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Airbus</a:t>
            </a:r>
            <a:endParaRPr b="0" i="0" sz="1100" u="none" cap="none" strike="noStrike">
              <a:solidFill>
                <a:schemeClr val="dk1"/>
              </a:solidFill>
              <a:latin typeface="Calibri"/>
              <a:ea typeface="Calibri"/>
              <a:cs typeface="Calibri"/>
              <a:sym typeface="Calibri"/>
            </a:endParaRPr>
          </a:p>
        </p:txBody>
      </p:sp>
      <p:sp>
        <p:nvSpPr>
          <p:cNvPr id="170" name="Google Shape;170;p7"/>
          <p:cNvSpPr/>
          <p:nvPr/>
        </p:nvSpPr>
        <p:spPr>
          <a:xfrm>
            <a:off x="3657600" y="3584448"/>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Turboprop</a:t>
            </a:r>
            <a:endParaRPr b="0" i="0" sz="1100" u="none" cap="none" strike="noStrike">
              <a:solidFill>
                <a:schemeClr val="dk1"/>
              </a:solidFill>
              <a:latin typeface="Calibri"/>
              <a:ea typeface="Calibri"/>
              <a:cs typeface="Calibri"/>
              <a:sym typeface="Calibri"/>
            </a:endParaRPr>
          </a:p>
        </p:txBody>
      </p:sp>
      <p:sp>
        <p:nvSpPr>
          <p:cNvPr id="171" name="Google Shape;171;p7"/>
          <p:cNvSpPr/>
          <p:nvPr/>
        </p:nvSpPr>
        <p:spPr>
          <a:xfrm>
            <a:off x="5349240" y="3584448"/>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72" name="Google Shape;172;p7"/>
          <p:cNvSpPr/>
          <p:nvPr/>
        </p:nvSpPr>
        <p:spPr>
          <a:xfrm>
            <a:off x="228600" y="3877056"/>
            <a:ext cx="676656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274320" y="3877056"/>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 747-100</a:t>
            </a:r>
            <a:endParaRPr b="0" i="0" sz="1100" u="none" cap="none" strike="noStrike">
              <a:solidFill>
                <a:schemeClr val="dk1"/>
              </a:solidFill>
              <a:latin typeface="Calibri"/>
              <a:ea typeface="Calibri"/>
              <a:cs typeface="Calibri"/>
              <a:sym typeface="Calibri"/>
            </a:endParaRPr>
          </a:p>
        </p:txBody>
      </p:sp>
      <p:sp>
        <p:nvSpPr>
          <p:cNvPr id="174" name="Google Shape;174;p7"/>
          <p:cNvSpPr/>
          <p:nvPr/>
        </p:nvSpPr>
        <p:spPr>
          <a:xfrm>
            <a:off x="1965960" y="3877056"/>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a:t>
            </a:r>
            <a:endParaRPr b="0" i="0" sz="1100" u="none" cap="none" strike="noStrike">
              <a:solidFill>
                <a:schemeClr val="dk1"/>
              </a:solidFill>
              <a:latin typeface="Calibri"/>
              <a:ea typeface="Calibri"/>
              <a:cs typeface="Calibri"/>
              <a:sym typeface="Calibri"/>
            </a:endParaRPr>
          </a:p>
        </p:txBody>
      </p:sp>
      <p:sp>
        <p:nvSpPr>
          <p:cNvPr id="175" name="Google Shape;175;p7"/>
          <p:cNvSpPr/>
          <p:nvPr/>
        </p:nvSpPr>
        <p:spPr>
          <a:xfrm>
            <a:off x="3657600" y="3877056"/>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Jet</a:t>
            </a:r>
            <a:endParaRPr b="0" i="0" sz="1100" u="none" cap="none" strike="noStrike">
              <a:solidFill>
                <a:schemeClr val="dk1"/>
              </a:solidFill>
              <a:latin typeface="Calibri"/>
              <a:ea typeface="Calibri"/>
              <a:cs typeface="Calibri"/>
              <a:sym typeface="Calibri"/>
            </a:endParaRPr>
          </a:p>
        </p:txBody>
      </p:sp>
      <p:sp>
        <p:nvSpPr>
          <p:cNvPr id="176" name="Google Shape;176;p7"/>
          <p:cNvSpPr/>
          <p:nvPr/>
        </p:nvSpPr>
        <p:spPr>
          <a:xfrm>
            <a:off x="5349240" y="3877056"/>
            <a:ext cx="16002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77" name="Google Shape;177;p7"/>
          <p:cNvSpPr/>
          <p:nvPr/>
        </p:nvSpPr>
        <p:spPr>
          <a:xfrm>
            <a:off x="228600" y="4366721"/>
            <a:ext cx="6766500" cy="567000"/>
          </a:xfrm>
          <a:prstGeom prst="rect">
            <a:avLst/>
          </a:prstGeom>
          <a:solidFill>
            <a:srgbClr val="FFF9C4"/>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365760" y="4412441"/>
            <a:ext cx="64923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800"/>
              </a:buClr>
              <a:buSzPts val="1200"/>
              <a:buFont typeface="Calibri"/>
              <a:buNone/>
            </a:pPr>
            <a:r>
              <a:rPr b="0" i="1" lang="en-US" sz="1200" u="none" cap="none" strike="noStrike">
                <a:solidFill>
                  <a:srgbClr val="7B5800"/>
                </a:solidFill>
                <a:latin typeface="Calibri"/>
                <a:ea typeface="Calibri"/>
                <a:cs typeface="Calibri"/>
                <a:sym typeface="Calibri"/>
              </a:rPr>
              <a:t>Problem: No field uniquely identifies each row — Boeing 747-100 appears twice! We need a Primary Key.</a:t>
            </a:r>
            <a:endParaRPr b="0" i="0" sz="1200" u="none" cap="none" strike="noStrike">
              <a:solidFill>
                <a:schemeClr val="dk1"/>
              </a:solidFill>
              <a:latin typeface="Calibri"/>
              <a:ea typeface="Calibri"/>
              <a:cs typeface="Calibri"/>
              <a:sym typeface="Calibri"/>
            </a:endParaRPr>
          </a:p>
        </p:txBody>
      </p:sp>
      <p:sp>
        <p:nvSpPr>
          <p:cNvPr id="179" name="Google Shape;179;p7"/>
          <p:cNvSpPr/>
          <p:nvPr/>
        </p:nvSpPr>
        <p:spPr>
          <a:xfrm>
            <a:off x="7223760" y="1737360"/>
            <a:ext cx="4754880" cy="4572000"/>
          </a:xfrm>
          <a:prstGeom prst="rect">
            <a:avLst/>
          </a:prstGeom>
          <a:solidFill>
            <a:srgbClr val="F0F4FF"/>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80" name="Google Shape;180;p7"/>
          <p:cNvSpPr/>
          <p:nvPr/>
        </p:nvSpPr>
        <p:spPr>
          <a:xfrm>
            <a:off x="7223760" y="1737360"/>
            <a:ext cx="4754880" cy="27432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7296912" y="1737360"/>
            <a:ext cx="460857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Key Terms</a:t>
            </a:r>
            <a:endParaRPr b="0" i="0" sz="1100" u="none" cap="none" strike="noStrike">
              <a:solidFill>
                <a:schemeClr val="dk1"/>
              </a:solidFill>
              <a:latin typeface="Calibri"/>
              <a:ea typeface="Calibri"/>
              <a:cs typeface="Calibri"/>
              <a:sym typeface="Calibri"/>
            </a:endParaRPr>
          </a:p>
        </p:txBody>
      </p:sp>
      <p:sp>
        <p:nvSpPr>
          <p:cNvPr id="182" name="Google Shape;182;p7"/>
          <p:cNvSpPr/>
          <p:nvPr/>
        </p:nvSpPr>
        <p:spPr>
          <a:xfrm>
            <a:off x="7315200" y="205740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50"/>
              <a:buFont typeface="Calibri"/>
              <a:buNone/>
            </a:pPr>
            <a:r>
              <a:rPr b="1" i="0" lang="en-US" sz="1450" u="none" cap="none" strike="noStrike">
                <a:solidFill>
                  <a:srgbClr val="1A3A5C"/>
                </a:solidFill>
                <a:latin typeface="Calibri"/>
                <a:ea typeface="Calibri"/>
                <a:cs typeface="Calibri"/>
                <a:sym typeface="Calibri"/>
              </a:rPr>
              <a:t>Database — </a:t>
            </a:r>
            <a:endParaRPr b="0" i="0" sz="1450" u="none" cap="none" strike="noStrike">
              <a:solidFill>
                <a:schemeClr val="dk1"/>
              </a:solidFill>
              <a:latin typeface="Calibri"/>
              <a:ea typeface="Calibri"/>
              <a:cs typeface="Calibri"/>
              <a:sym typeface="Calibri"/>
            </a:endParaRPr>
          </a:p>
        </p:txBody>
      </p:sp>
      <p:sp>
        <p:nvSpPr>
          <p:cNvPr id="183" name="Google Shape;183;p7"/>
          <p:cNvSpPr/>
          <p:nvPr/>
        </p:nvSpPr>
        <p:spPr>
          <a:xfrm>
            <a:off x="7315200" y="2286000"/>
            <a:ext cx="45720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000"/>
              <a:buFont typeface="Calibri"/>
              <a:buNone/>
            </a:pPr>
            <a:r>
              <a:rPr b="0" i="0" lang="en-US" u="none" cap="none" strike="noStrike">
                <a:solidFill>
                  <a:srgbClr val="0D0D0D"/>
                </a:solidFill>
                <a:latin typeface="Calibri"/>
                <a:ea typeface="Calibri"/>
                <a:cs typeface="Calibri"/>
                <a:sym typeface="Calibri"/>
              </a:rPr>
              <a:t>An organised collection of structured information stored electronically.</a:t>
            </a:r>
            <a:endParaRPr b="0" i="0" u="none" cap="none" strike="noStrike">
              <a:solidFill>
                <a:schemeClr val="dk1"/>
              </a:solidFill>
              <a:latin typeface="Calibri"/>
              <a:ea typeface="Calibri"/>
              <a:cs typeface="Calibri"/>
              <a:sym typeface="Calibri"/>
            </a:endParaRPr>
          </a:p>
        </p:txBody>
      </p:sp>
      <p:sp>
        <p:nvSpPr>
          <p:cNvPr id="184" name="Google Shape;184;p7"/>
          <p:cNvSpPr/>
          <p:nvPr/>
        </p:nvSpPr>
        <p:spPr>
          <a:xfrm>
            <a:off x="7315200" y="2715768"/>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50"/>
              <a:buFont typeface="Calibri"/>
              <a:buNone/>
            </a:pPr>
            <a:r>
              <a:rPr b="1" i="0" lang="en-US" sz="1450" u="none" cap="none" strike="noStrike">
                <a:solidFill>
                  <a:srgbClr val="1A3A5C"/>
                </a:solidFill>
                <a:latin typeface="Calibri"/>
                <a:ea typeface="Calibri"/>
                <a:cs typeface="Calibri"/>
                <a:sym typeface="Calibri"/>
              </a:rPr>
              <a:t>Table — </a:t>
            </a:r>
            <a:endParaRPr b="0" i="0" sz="1450" u="none" cap="none" strike="noStrike">
              <a:solidFill>
                <a:schemeClr val="dk1"/>
              </a:solidFill>
              <a:latin typeface="Calibri"/>
              <a:ea typeface="Calibri"/>
              <a:cs typeface="Calibri"/>
              <a:sym typeface="Calibri"/>
            </a:endParaRPr>
          </a:p>
        </p:txBody>
      </p:sp>
      <p:sp>
        <p:nvSpPr>
          <p:cNvPr id="185" name="Google Shape;185;p7"/>
          <p:cNvSpPr/>
          <p:nvPr/>
        </p:nvSpPr>
        <p:spPr>
          <a:xfrm>
            <a:off x="7315200" y="2944368"/>
            <a:ext cx="45720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000"/>
              <a:buFont typeface="Calibri"/>
              <a:buNone/>
            </a:pPr>
            <a:r>
              <a:rPr b="0" i="0" lang="en-US" u="none" cap="none" strike="noStrike">
                <a:solidFill>
                  <a:srgbClr val="0D0D0D"/>
                </a:solidFill>
                <a:latin typeface="Calibri"/>
                <a:ea typeface="Calibri"/>
                <a:cs typeface="Calibri"/>
                <a:sym typeface="Calibri"/>
              </a:rPr>
              <a:t>A structure of rows and columns for storing similar data.</a:t>
            </a:r>
            <a:endParaRPr b="0" i="0" u="none" cap="none" strike="noStrike">
              <a:solidFill>
                <a:schemeClr val="dk1"/>
              </a:solidFill>
              <a:latin typeface="Calibri"/>
              <a:ea typeface="Calibri"/>
              <a:cs typeface="Calibri"/>
              <a:sym typeface="Calibri"/>
            </a:endParaRPr>
          </a:p>
        </p:txBody>
      </p:sp>
      <p:sp>
        <p:nvSpPr>
          <p:cNvPr id="186" name="Google Shape;186;p7"/>
          <p:cNvSpPr/>
          <p:nvPr/>
        </p:nvSpPr>
        <p:spPr>
          <a:xfrm>
            <a:off x="7315200" y="3374136"/>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50"/>
              <a:buFont typeface="Calibri"/>
              <a:buNone/>
            </a:pPr>
            <a:r>
              <a:rPr b="1" i="0" lang="en-US" sz="1450" u="none" cap="none" strike="noStrike">
                <a:solidFill>
                  <a:srgbClr val="1A3A5C"/>
                </a:solidFill>
                <a:latin typeface="Calibri"/>
                <a:ea typeface="Calibri"/>
                <a:cs typeface="Calibri"/>
                <a:sym typeface="Calibri"/>
              </a:rPr>
              <a:t>Entity — </a:t>
            </a:r>
            <a:endParaRPr b="0" i="0" sz="1450" u="none" cap="none" strike="noStrike">
              <a:solidFill>
                <a:schemeClr val="dk1"/>
              </a:solidFill>
              <a:latin typeface="Calibri"/>
              <a:ea typeface="Calibri"/>
              <a:cs typeface="Calibri"/>
              <a:sym typeface="Calibri"/>
            </a:endParaRPr>
          </a:p>
        </p:txBody>
      </p:sp>
      <p:sp>
        <p:nvSpPr>
          <p:cNvPr id="187" name="Google Shape;187;p7"/>
          <p:cNvSpPr/>
          <p:nvPr/>
        </p:nvSpPr>
        <p:spPr>
          <a:xfrm>
            <a:off x="7315200" y="3602736"/>
            <a:ext cx="45720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000"/>
              <a:buFont typeface="Calibri"/>
              <a:buNone/>
            </a:pPr>
            <a:r>
              <a:rPr b="0" i="0" lang="en-US" u="none" cap="none" strike="noStrike">
                <a:solidFill>
                  <a:srgbClr val="0D0D0D"/>
                </a:solidFill>
                <a:latin typeface="Calibri"/>
                <a:ea typeface="Calibri"/>
                <a:cs typeface="Calibri"/>
                <a:sym typeface="Calibri"/>
              </a:rPr>
              <a:t>A living or non-living thing that data can be stored about.</a:t>
            </a:r>
            <a:endParaRPr b="0" i="0" u="none" cap="none" strike="noStrike">
              <a:solidFill>
                <a:schemeClr val="dk1"/>
              </a:solidFill>
              <a:latin typeface="Calibri"/>
              <a:ea typeface="Calibri"/>
              <a:cs typeface="Calibri"/>
              <a:sym typeface="Calibri"/>
            </a:endParaRPr>
          </a:p>
        </p:txBody>
      </p:sp>
      <p:sp>
        <p:nvSpPr>
          <p:cNvPr id="188" name="Google Shape;188;p7"/>
          <p:cNvSpPr/>
          <p:nvPr/>
        </p:nvSpPr>
        <p:spPr>
          <a:xfrm>
            <a:off x="7315200" y="4032504"/>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50"/>
              <a:buFont typeface="Calibri"/>
              <a:buNone/>
            </a:pPr>
            <a:r>
              <a:rPr b="1" i="0" lang="en-US" sz="1450" u="none" cap="none" strike="noStrike">
                <a:solidFill>
                  <a:srgbClr val="1A3A5C"/>
                </a:solidFill>
                <a:latin typeface="Calibri"/>
                <a:ea typeface="Calibri"/>
                <a:cs typeface="Calibri"/>
                <a:sym typeface="Calibri"/>
              </a:rPr>
              <a:t>Tuple/Row — </a:t>
            </a:r>
            <a:endParaRPr b="0" i="0" sz="1450" u="none" cap="none" strike="noStrike">
              <a:solidFill>
                <a:schemeClr val="dk1"/>
              </a:solidFill>
              <a:latin typeface="Calibri"/>
              <a:ea typeface="Calibri"/>
              <a:cs typeface="Calibri"/>
              <a:sym typeface="Calibri"/>
            </a:endParaRPr>
          </a:p>
        </p:txBody>
      </p:sp>
      <p:sp>
        <p:nvSpPr>
          <p:cNvPr id="189" name="Google Shape;189;p7"/>
          <p:cNvSpPr/>
          <p:nvPr/>
        </p:nvSpPr>
        <p:spPr>
          <a:xfrm>
            <a:off x="7315200" y="4261104"/>
            <a:ext cx="45720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000"/>
              <a:buFont typeface="Calibri"/>
              <a:buNone/>
            </a:pPr>
            <a:r>
              <a:rPr b="0" i="0" lang="en-US" u="none" cap="none" strike="noStrike">
                <a:solidFill>
                  <a:srgbClr val="0D0D0D"/>
                </a:solidFill>
                <a:latin typeface="Calibri"/>
                <a:ea typeface="Calibri"/>
                <a:cs typeface="Calibri"/>
                <a:sym typeface="Calibri"/>
              </a:rPr>
              <a:t>One record — one instance of an entity.</a:t>
            </a:r>
            <a:endParaRPr b="0" i="0" u="none" cap="none" strike="noStrike">
              <a:solidFill>
                <a:schemeClr val="dk1"/>
              </a:solidFill>
              <a:latin typeface="Calibri"/>
              <a:ea typeface="Calibri"/>
              <a:cs typeface="Calibri"/>
              <a:sym typeface="Calibri"/>
            </a:endParaRPr>
          </a:p>
        </p:txBody>
      </p:sp>
      <p:sp>
        <p:nvSpPr>
          <p:cNvPr id="190" name="Google Shape;190;p7"/>
          <p:cNvSpPr/>
          <p:nvPr/>
        </p:nvSpPr>
        <p:spPr>
          <a:xfrm>
            <a:off x="7315200" y="4690872"/>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50"/>
              <a:buFont typeface="Calibri"/>
              <a:buNone/>
            </a:pPr>
            <a:r>
              <a:rPr b="1" i="0" lang="en-US" sz="1450" u="none" cap="none" strike="noStrike">
                <a:solidFill>
                  <a:srgbClr val="1A3A5C"/>
                </a:solidFill>
                <a:latin typeface="Calibri"/>
                <a:ea typeface="Calibri"/>
                <a:cs typeface="Calibri"/>
                <a:sym typeface="Calibri"/>
              </a:rPr>
              <a:t>Attribute/Field — </a:t>
            </a:r>
            <a:endParaRPr b="0" i="0" sz="1450" u="none" cap="none" strike="noStrike">
              <a:solidFill>
                <a:schemeClr val="dk1"/>
              </a:solidFill>
              <a:latin typeface="Calibri"/>
              <a:ea typeface="Calibri"/>
              <a:cs typeface="Calibri"/>
              <a:sym typeface="Calibri"/>
            </a:endParaRPr>
          </a:p>
        </p:txBody>
      </p:sp>
      <p:sp>
        <p:nvSpPr>
          <p:cNvPr id="191" name="Google Shape;191;p7"/>
          <p:cNvSpPr/>
          <p:nvPr/>
        </p:nvSpPr>
        <p:spPr>
          <a:xfrm>
            <a:off x="7315200" y="4919472"/>
            <a:ext cx="45720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000"/>
              <a:buFont typeface="Calibri"/>
              <a:buNone/>
            </a:pPr>
            <a:r>
              <a:rPr b="0" i="0" lang="en-US" u="none" cap="none" strike="noStrike">
                <a:solidFill>
                  <a:srgbClr val="0D0D0D"/>
                </a:solidFill>
                <a:latin typeface="Calibri"/>
                <a:ea typeface="Calibri"/>
                <a:cs typeface="Calibri"/>
                <a:sym typeface="Calibri"/>
              </a:rPr>
              <a:t>One data item or characteristic of an entity (a column).</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8"/>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Features: Primary Key</a:t>
            </a:r>
            <a:endParaRPr b="0" i="0" sz="2400" u="none" cap="none" strike="noStrike">
              <a:solidFill>
                <a:schemeClr val="dk1"/>
              </a:solidFill>
              <a:latin typeface="Calibri"/>
              <a:ea typeface="Calibri"/>
              <a:cs typeface="Calibri"/>
              <a:sym typeface="Calibri"/>
            </a:endParaRPr>
          </a:p>
        </p:txBody>
      </p:sp>
      <p:sp>
        <p:nvSpPr>
          <p:cNvPr id="199" name="Google Shape;199;p8"/>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201" name="Google Shape;201;p8"/>
          <p:cNvSpPr/>
          <p:nvPr/>
        </p:nvSpPr>
        <p:spPr>
          <a:xfrm>
            <a:off x="228600" y="914400"/>
            <a:ext cx="11704320" cy="658368"/>
          </a:xfrm>
          <a:prstGeom prst="rect">
            <a:avLst/>
          </a:prstGeom>
          <a:solidFill>
            <a:srgbClr val="E8F0FE"/>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228600" y="914400"/>
            <a:ext cx="164592" cy="658368"/>
          </a:xfrm>
          <a:prstGeom prst="rect">
            <a:avLst/>
          </a:prstGeom>
          <a:solidFill>
            <a:srgbClr val="2980B9"/>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475488" y="960120"/>
            <a:ext cx="113842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1400" u="none" cap="none" strike="noStrike">
                <a:solidFill>
                  <a:srgbClr val="0D0D0D"/>
                </a:solidFill>
                <a:latin typeface="Calibri"/>
                <a:ea typeface="Calibri"/>
                <a:cs typeface="Calibri"/>
                <a:sym typeface="Calibri"/>
              </a:rPr>
              <a:t>Primary Key: a field that uniquely identifies every record in a table. It cannot be NULL and no two records can share the same value.</a:t>
            </a:r>
            <a:endParaRPr b="0" i="0" sz="1400" u="none" cap="none" strike="noStrike">
              <a:solidFill>
                <a:schemeClr val="dk1"/>
              </a:solidFill>
              <a:latin typeface="Calibri"/>
              <a:ea typeface="Calibri"/>
              <a:cs typeface="Calibri"/>
              <a:sym typeface="Calibri"/>
            </a:endParaRPr>
          </a:p>
        </p:txBody>
      </p:sp>
      <p:sp>
        <p:nvSpPr>
          <p:cNvPr id="204" name="Google Shape;204;p8"/>
          <p:cNvSpPr/>
          <p:nvPr/>
        </p:nvSpPr>
        <p:spPr>
          <a:xfrm>
            <a:off x="228600" y="1691640"/>
            <a:ext cx="117043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By adding PlaneID as a primary key, each aeroplane row becomes uniquely identifiable:</a:t>
            </a:r>
            <a:endParaRPr b="0" i="0" sz="1300" u="none" cap="none" strike="noStrike">
              <a:solidFill>
                <a:schemeClr val="dk1"/>
              </a:solidFill>
              <a:latin typeface="Calibri"/>
              <a:ea typeface="Calibri"/>
              <a:cs typeface="Calibri"/>
              <a:sym typeface="Calibri"/>
            </a:endParaRPr>
          </a:p>
        </p:txBody>
      </p:sp>
      <p:sp>
        <p:nvSpPr>
          <p:cNvPr id="205" name="Google Shape;205;p8"/>
          <p:cNvSpPr/>
          <p:nvPr/>
        </p:nvSpPr>
        <p:spPr>
          <a:xfrm>
            <a:off x="228600" y="2084832"/>
            <a:ext cx="11704320" cy="292608"/>
          </a:xfrm>
          <a:prstGeom prst="rect">
            <a:avLst/>
          </a:prstGeom>
          <a:solidFill>
            <a:srgbClr val="2980B9"/>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274320" y="208483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PlaneID ★ PK</a:t>
            </a:r>
            <a:endParaRPr b="0" i="0" sz="1100" u="none" cap="none" strike="noStrike">
              <a:solidFill>
                <a:schemeClr val="dk1"/>
              </a:solidFill>
              <a:latin typeface="Calibri"/>
              <a:ea typeface="Calibri"/>
              <a:cs typeface="Calibri"/>
              <a:sym typeface="Calibri"/>
            </a:endParaRPr>
          </a:p>
        </p:txBody>
      </p:sp>
      <p:sp>
        <p:nvSpPr>
          <p:cNvPr id="207" name="Google Shape;207;p8"/>
          <p:cNvSpPr/>
          <p:nvPr/>
        </p:nvSpPr>
        <p:spPr>
          <a:xfrm>
            <a:off x="2615184" y="208483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Model</a:t>
            </a:r>
            <a:endParaRPr b="0" i="0" sz="1100" u="none" cap="none" strike="noStrike">
              <a:solidFill>
                <a:schemeClr val="dk1"/>
              </a:solidFill>
              <a:latin typeface="Calibri"/>
              <a:ea typeface="Calibri"/>
              <a:cs typeface="Calibri"/>
              <a:sym typeface="Calibri"/>
            </a:endParaRPr>
          </a:p>
        </p:txBody>
      </p:sp>
      <p:sp>
        <p:nvSpPr>
          <p:cNvPr id="208" name="Google Shape;208;p8"/>
          <p:cNvSpPr/>
          <p:nvPr/>
        </p:nvSpPr>
        <p:spPr>
          <a:xfrm>
            <a:off x="4956048" y="208483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Manufacturer</a:t>
            </a:r>
            <a:endParaRPr b="0" i="0" sz="1100" u="none" cap="none" strike="noStrike">
              <a:solidFill>
                <a:schemeClr val="dk1"/>
              </a:solidFill>
              <a:latin typeface="Calibri"/>
              <a:ea typeface="Calibri"/>
              <a:cs typeface="Calibri"/>
              <a:sym typeface="Calibri"/>
            </a:endParaRPr>
          </a:p>
        </p:txBody>
      </p:sp>
      <p:sp>
        <p:nvSpPr>
          <p:cNvPr id="209" name="Google Shape;209;p8"/>
          <p:cNvSpPr/>
          <p:nvPr/>
        </p:nvSpPr>
        <p:spPr>
          <a:xfrm>
            <a:off x="7296912" y="208483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PhysicalClassEngine</a:t>
            </a:r>
            <a:endParaRPr b="0" i="0" sz="1100" u="none" cap="none" strike="noStrike">
              <a:solidFill>
                <a:schemeClr val="dk1"/>
              </a:solidFill>
              <a:latin typeface="Calibri"/>
              <a:ea typeface="Calibri"/>
              <a:cs typeface="Calibri"/>
              <a:sym typeface="Calibri"/>
            </a:endParaRPr>
          </a:p>
        </p:txBody>
      </p:sp>
      <p:sp>
        <p:nvSpPr>
          <p:cNvPr id="210" name="Google Shape;210;p8"/>
          <p:cNvSpPr/>
          <p:nvPr/>
        </p:nvSpPr>
        <p:spPr>
          <a:xfrm>
            <a:off x="9637776" y="208483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NoOfEngines</a:t>
            </a:r>
            <a:endParaRPr b="0" i="0" sz="1100" u="none" cap="none" strike="noStrike">
              <a:solidFill>
                <a:schemeClr val="dk1"/>
              </a:solidFill>
              <a:latin typeface="Calibri"/>
              <a:ea typeface="Calibri"/>
              <a:cs typeface="Calibri"/>
              <a:sym typeface="Calibri"/>
            </a:endParaRPr>
          </a:p>
        </p:txBody>
      </p:sp>
      <p:sp>
        <p:nvSpPr>
          <p:cNvPr id="211" name="Google Shape;211;p8"/>
          <p:cNvSpPr/>
          <p:nvPr/>
        </p:nvSpPr>
        <p:spPr>
          <a:xfrm>
            <a:off x="228600" y="2377440"/>
            <a:ext cx="1170432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274320" y="237744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A01</a:t>
            </a:r>
            <a:endParaRPr b="0" i="0" sz="1100" u="none" cap="none" strike="noStrike">
              <a:solidFill>
                <a:schemeClr val="dk1"/>
              </a:solidFill>
              <a:latin typeface="Calibri"/>
              <a:ea typeface="Calibri"/>
              <a:cs typeface="Calibri"/>
              <a:sym typeface="Calibri"/>
            </a:endParaRPr>
          </a:p>
        </p:txBody>
      </p:sp>
      <p:sp>
        <p:nvSpPr>
          <p:cNvPr id="213" name="Google Shape;213;p8"/>
          <p:cNvSpPr/>
          <p:nvPr/>
        </p:nvSpPr>
        <p:spPr>
          <a:xfrm>
            <a:off x="2615184" y="237744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Rockwell Commander 112</a:t>
            </a:r>
            <a:endParaRPr b="0" i="0" sz="1100" u="none" cap="none" strike="noStrike">
              <a:solidFill>
                <a:schemeClr val="dk1"/>
              </a:solidFill>
              <a:latin typeface="Calibri"/>
              <a:ea typeface="Calibri"/>
              <a:cs typeface="Calibri"/>
              <a:sym typeface="Calibri"/>
            </a:endParaRPr>
          </a:p>
        </p:txBody>
      </p:sp>
      <p:sp>
        <p:nvSpPr>
          <p:cNvPr id="214" name="Google Shape;214;p8"/>
          <p:cNvSpPr/>
          <p:nvPr/>
        </p:nvSpPr>
        <p:spPr>
          <a:xfrm>
            <a:off x="4956048" y="237744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Rockwell</a:t>
            </a:r>
            <a:endParaRPr b="0" i="0" sz="1100" u="none" cap="none" strike="noStrike">
              <a:solidFill>
                <a:schemeClr val="dk1"/>
              </a:solidFill>
              <a:latin typeface="Calibri"/>
              <a:ea typeface="Calibri"/>
              <a:cs typeface="Calibri"/>
              <a:sym typeface="Calibri"/>
            </a:endParaRPr>
          </a:p>
        </p:txBody>
      </p:sp>
      <p:sp>
        <p:nvSpPr>
          <p:cNvPr id="215" name="Google Shape;215;p8"/>
          <p:cNvSpPr/>
          <p:nvPr/>
        </p:nvSpPr>
        <p:spPr>
          <a:xfrm>
            <a:off x="7296912" y="237744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Piston</a:t>
            </a:r>
            <a:endParaRPr b="0" i="0" sz="1100" u="none" cap="none" strike="noStrike">
              <a:solidFill>
                <a:schemeClr val="dk1"/>
              </a:solidFill>
              <a:latin typeface="Calibri"/>
              <a:ea typeface="Calibri"/>
              <a:cs typeface="Calibri"/>
              <a:sym typeface="Calibri"/>
            </a:endParaRPr>
          </a:p>
        </p:txBody>
      </p:sp>
      <p:sp>
        <p:nvSpPr>
          <p:cNvPr id="216" name="Google Shape;216;p8"/>
          <p:cNvSpPr/>
          <p:nvPr/>
        </p:nvSpPr>
        <p:spPr>
          <a:xfrm>
            <a:off x="9637776" y="237744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17" name="Google Shape;217;p8"/>
          <p:cNvSpPr/>
          <p:nvPr/>
        </p:nvSpPr>
        <p:spPr>
          <a:xfrm>
            <a:off x="228600" y="2670048"/>
            <a:ext cx="1170432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274320" y="2670048"/>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A02</a:t>
            </a:r>
            <a:endParaRPr b="0" i="0" sz="1100" u="none" cap="none" strike="noStrike">
              <a:solidFill>
                <a:schemeClr val="dk1"/>
              </a:solidFill>
              <a:latin typeface="Calibri"/>
              <a:ea typeface="Calibri"/>
              <a:cs typeface="Calibri"/>
              <a:sym typeface="Calibri"/>
            </a:endParaRPr>
          </a:p>
        </p:txBody>
      </p:sp>
      <p:sp>
        <p:nvSpPr>
          <p:cNvPr id="219" name="Google Shape;219;p8"/>
          <p:cNvSpPr/>
          <p:nvPr/>
        </p:nvSpPr>
        <p:spPr>
          <a:xfrm>
            <a:off x="2615184" y="2670048"/>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Airbus A319 Neo</a:t>
            </a:r>
            <a:endParaRPr b="0" i="0" sz="1100" u="none" cap="none" strike="noStrike">
              <a:solidFill>
                <a:schemeClr val="dk1"/>
              </a:solidFill>
              <a:latin typeface="Calibri"/>
              <a:ea typeface="Calibri"/>
              <a:cs typeface="Calibri"/>
              <a:sym typeface="Calibri"/>
            </a:endParaRPr>
          </a:p>
        </p:txBody>
      </p:sp>
      <p:sp>
        <p:nvSpPr>
          <p:cNvPr id="220" name="Google Shape;220;p8"/>
          <p:cNvSpPr/>
          <p:nvPr/>
        </p:nvSpPr>
        <p:spPr>
          <a:xfrm>
            <a:off x="4956048" y="2670048"/>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Airbus</a:t>
            </a:r>
            <a:endParaRPr b="0" i="0" sz="1100" u="none" cap="none" strike="noStrike">
              <a:solidFill>
                <a:schemeClr val="dk1"/>
              </a:solidFill>
              <a:latin typeface="Calibri"/>
              <a:ea typeface="Calibri"/>
              <a:cs typeface="Calibri"/>
              <a:sym typeface="Calibri"/>
            </a:endParaRPr>
          </a:p>
        </p:txBody>
      </p:sp>
      <p:sp>
        <p:nvSpPr>
          <p:cNvPr id="221" name="Google Shape;221;p8"/>
          <p:cNvSpPr/>
          <p:nvPr/>
        </p:nvSpPr>
        <p:spPr>
          <a:xfrm>
            <a:off x="7296912" y="2670048"/>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Jet</a:t>
            </a:r>
            <a:endParaRPr b="0" i="0" sz="1100" u="none" cap="none" strike="noStrike">
              <a:solidFill>
                <a:schemeClr val="dk1"/>
              </a:solidFill>
              <a:latin typeface="Calibri"/>
              <a:ea typeface="Calibri"/>
              <a:cs typeface="Calibri"/>
              <a:sym typeface="Calibri"/>
            </a:endParaRPr>
          </a:p>
        </p:txBody>
      </p:sp>
      <p:sp>
        <p:nvSpPr>
          <p:cNvPr id="222" name="Google Shape;222;p8"/>
          <p:cNvSpPr/>
          <p:nvPr/>
        </p:nvSpPr>
        <p:spPr>
          <a:xfrm>
            <a:off x="9637776" y="2670048"/>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23" name="Google Shape;223;p8"/>
          <p:cNvSpPr/>
          <p:nvPr/>
        </p:nvSpPr>
        <p:spPr>
          <a:xfrm>
            <a:off x="228600" y="2962656"/>
            <a:ext cx="1170432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274320" y="2962656"/>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A03</a:t>
            </a:r>
            <a:endParaRPr b="0" i="0" sz="1100" u="none" cap="none" strike="noStrike">
              <a:solidFill>
                <a:schemeClr val="dk1"/>
              </a:solidFill>
              <a:latin typeface="Calibri"/>
              <a:ea typeface="Calibri"/>
              <a:cs typeface="Calibri"/>
              <a:sym typeface="Calibri"/>
            </a:endParaRPr>
          </a:p>
        </p:txBody>
      </p:sp>
      <p:sp>
        <p:nvSpPr>
          <p:cNvPr id="225" name="Google Shape;225;p8"/>
          <p:cNvSpPr/>
          <p:nvPr/>
        </p:nvSpPr>
        <p:spPr>
          <a:xfrm>
            <a:off x="2615184" y="2962656"/>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 747-100</a:t>
            </a:r>
            <a:endParaRPr b="0" i="0" sz="1100" u="none" cap="none" strike="noStrike">
              <a:solidFill>
                <a:schemeClr val="dk1"/>
              </a:solidFill>
              <a:latin typeface="Calibri"/>
              <a:ea typeface="Calibri"/>
              <a:cs typeface="Calibri"/>
              <a:sym typeface="Calibri"/>
            </a:endParaRPr>
          </a:p>
        </p:txBody>
      </p:sp>
      <p:sp>
        <p:nvSpPr>
          <p:cNvPr id="226" name="Google Shape;226;p8"/>
          <p:cNvSpPr/>
          <p:nvPr/>
        </p:nvSpPr>
        <p:spPr>
          <a:xfrm>
            <a:off x="4956048" y="2962656"/>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a:t>
            </a:r>
            <a:endParaRPr b="0" i="0" sz="1100" u="none" cap="none" strike="noStrike">
              <a:solidFill>
                <a:schemeClr val="dk1"/>
              </a:solidFill>
              <a:latin typeface="Calibri"/>
              <a:ea typeface="Calibri"/>
              <a:cs typeface="Calibri"/>
              <a:sym typeface="Calibri"/>
            </a:endParaRPr>
          </a:p>
        </p:txBody>
      </p:sp>
      <p:sp>
        <p:nvSpPr>
          <p:cNvPr id="227" name="Google Shape;227;p8"/>
          <p:cNvSpPr/>
          <p:nvPr/>
        </p:nvSpPr>
        <p:spPr>
          <a:xfrm>
            <a:off x="7296912" y="2962656"/>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Jet</a:t>
            </a:r>
            <a:endParaRPr b="0" i="0" sz="1100" u="none" cap="none" strike="noStrike">
              <a:solidFill>
                <a:schemeClr val="dk1"/>
              </a:solidFill>
              <a:latin typeface="Calibri"/>
              <a:ea typeface="Calibri"/>
              <a:cs typeface="Calibri"/>
              <a:sym typeface="Calibri"/>
            </a:endParaRPr>
          </a:p>
        </p:txBody>
      </p:sp>
      <p:sp>
        <p:nvSpPr>
          <p:cNvPr id="228" name="Google Shape;228;p8"/>
          <p:cNvSpPr/>
          <p:nvPr/>
        </p:nvSpPr>
        <p:spPr>
          <a:xfrm>
            <a:off x="9637776" y="2962656"/>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29" name="Google Shape;229;p8"/>
          <p:cNvSpPr/>
          <p:nvPr/>
        </p:nvSpPr>
        <p:spPr>
          <a:xfrm>
            <a:off x="228600" y="3255264"/>
            <a:ext cx="1170432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274320" y="3255264"/>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A04</a:t>
            </a:r>
            <a:endParaRPr b="0" i="0" sz="1100" u="none" cap="none" strike="noStrike">
              <a:solidFill>
                <a:schemeClr val="dk1"/>
              </a:solidFill>
              <a:latin typeface="Calibri"/>
              <a:ea typeface="Calibri"/>
              <a:cs typeface="Calibri"/>
              <a:sym typeface="Calibri"/>
            </a:endParaRPr>
          </a:p>
        </p:txBody>
      </p:sp>
      <p:sp>
        <p:nvSpPr>
          <p:cNvPr id="231" name="Google Shape;231;p8"/>
          <p:cNvSpPr/>
          <p:nvPr/>
        </p:nvSpPr>
        <p:spPr>
          <a:xfrm>
            <a:off x="2615184" y="3255264"/>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 777-8</a:t>
            </a:r>
            <a:endParaRPr b="0" i="0" sz="1100" u="none" cap="none" strike="noStrike">
              <a:solidFill>
                <a:schemeClr val="dk1"/>
              </a:solidFill>
              <a:latin typeface="Calibri"/>
              <a:ea typeface="Calibri"/>
              <a:cs typeface="Calibri"/>
              <a:sym typeface="Calibri"/>
            </a:endParaRPr>
          </a:p>
        </p:txBody>
      </p:sp>
      <p:sp>
        <p:nvSpPr>
          <p:cNvPr id="232" name="Google Shape;232;p8"/>
          <p:cNvSpPr/>
          <p:nvPr/>
        </p:nvSpPr>
        <p:spPr>
          <a:xfrm>
            <a:off x="4956048" y="3255264"/>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a:t>
            </a:r>
            <a:endParaRPr b="0" i="0" sz="1100" u="none" cap="none" strike="noStrike">
              <a:solidFill>
                <a:schemeClr val="dk1"/>
              </a:solidFill>
              <a:latin typeface="Calibri"/>
              <a:ea typeface="Calibri"/>
              <a:cs typeface="Calibri"/>
              <a:sym typeface="Calibri"/>
            </a:endParaRPr>
          </a:p>
        </p:txBody>
      </p:sp>
      <p:sp>
        <p:nvSpPr>
          <p:cNvPr id="233" name="Google Shape;233;p8"/>
          <p:cNvSpPr/>
          <p:nvPr/>
        </p:nvSpPr>
        <p:spPr>
          <a:xfrm>
            <a:off x="7296912" y="3255264"/>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Jet</a:t>
            </a:r>
            <a:endParaRPr b="0" i="0" sz="1100" u="none" cap="none" strike="noStrike">
              <a:solidFill>
                <a:schemeClr val="dk1"/>
              </a:solidFill>
              <a:latin typeface="Calibri"/>
              <a:ea typeface="Calibri"/>
              <a:cs typeface="Calibri"/>
              <a:sym typeface="Calibri"/>
            </a:endParaRPr>
          </a:p>
        </p:txBody>
      </p:sp>
      <p:sp>
        <p:nvSpPr>
          <p:cNvPr id="234" name="Google Shape;234;p8"/>
          <p:cNvSpPr/>
          <p:nvPr/>
        </p:nvSpPr>
        <p:spPr>
          <a:xfrm>
            <a:off x="9637776" y="3255264"/>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35" name="Google Shape;235;p8"/>
          <p:cNvSpPr/>
          <p:nvPr/>
        </p:nvSpPr>
        <p:spPr>
          <a:xfrm>
            <a:off x="228600" y="3547872"/>
            <a:ext cx="1170432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274320" y="354787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A05</a:t>
            </a:r>
            <a:endParaRPr b="0" i="0" sz="1100" u="none" cap="none" strike="noStrike">
              <a:solidFill>
                <a:schemeClr val="dk1"/>
              </a:solidFill>
              <a:latin typeface="Calibri"/>
              <a:ea typeface="Calibri"/>
              <a:cs typeface="Calibri"/>
              <a:sym typeface="Calibri"/>
            </a:endParaRPr>
          </a:p>
        </p:txBody>
      </p:sp>
      <p:sp>
        <p:nvSpPr>
          <p:cNvPr id="237" name="Google Shape;237;p8"/>
          <p:cNvSpPr/>
          <p:nvPr/>
        </p:nvSpPr>
        <p:spPr>
          <a:xfrm>
            <a:off x="2615184" y="354787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Airbus A400M Atlas</a:t>
            </a:r>
            <a:endParaRPr b="0" i="0" sz="1100" u="none" cap="none" strike="noStrike">
              <a:solidFill>
                <a:schemeClr val="dk1"/>
              </a:solidFill>
              <a:latin typeface="Calibri"/>
              <a:ea typeface="Calibri"/>
              <a:cs typeface="Calibri"/>
              <a:sym typeface="Calibri"/>
            </a:endParaRPr>
          </a:p>
        </p:txBody>
      </p:sp>
      <p:sp>
        <p:nvSpPr>
          <p:cNvPr id="238" name="Google Shape;238;p8"/>
          <p:cNvSpPr/>
          <p:nvPr/>
        </p:nvSpPr>
        <p:spPr>
          <a:xfrm>
            <a:off x="4956048" y="354787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Airbus</a:t>
            </a:r>
            <a:endParaRPr b="0" i="0" sz="1100" u="none" cap="none" strike="noStrike">
              <a:solidFill>
                <a:schemeClr val="dk1"/>
              </a:solidFill>
              <a:latin typeface="Calibri"/>
              <a:ea typeface="Calibri"/>
              <a:cs typeface="Calibri"/>
              <a:sym typeface="Calibri"/>
            </a:endParaRPr>
          </a:p>
        </p:txBody>
      </p:sp>
      <p:sp>
        <p:nvSpPr>
          <p:cNvPr id="239" name="Google Shape;239;p8"/>
          <p:cNvSpPr/>
          <p:nvPr/>
        </p:nvSpPr>
        <p:spPr>
          <a:xfrm>
            <a:off x="7296912" y="354787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Turboprop</a:t>
            </a:r>
            <a:endParaRPr b="0" i="0" sz="1100" u="none" cap="none" strike="noStrike">
              <a:solidFill>
                <a:schemeClr val="dk1"/>
              </a:solidFill>
              <a:latin typeface="Calibri"/>
              <a:ea typeface="Calibri"/>
              <a:cs typeface="Calibri"/>
              <a:sym typeface="Calibri"/>
            </a:endParaRPr>
          </a:p>
        </p:txBody>
      </p:sp>
      <p:sp>
        <p:nvSpPr>
          <p:cNvPr id="240" name="Google Shape;240;p8"/>
          <p:cNvSpPr/>
          <p:nvPr/>
        </p:nvSpPr>
        <p:spPr>
          <a:xfrm>
            <a:off x="9637776" y="3547872"/>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41" name="Google Shape;241;p8"/>
          <p:cNvSpPr/>
          <p:nvPr/>
        </p:nvSpPr>
        <p:spPr>
          <a:xfrm>
            <a:off x="228600" y="3840480"/>
            <a:ext cx="1170432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274320" y="384048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A06</a:t>
            </a:r>
            <a:endParaRPr b="0" i="0" sz="1100" u="none" cap="none" strike="noStrike">
              <a:solidFill>
                <a:schemeClr val="dk1"/>
              </a:solidFill>
              <a:latin typeface="Calibri"/>
              <a:ea typeface="Calibri"/>
              <a:cs typeface="Calibri"/>
              <a:sym typeface="Calibri"/>
            </a:endParaRPr>
          </a:p>
        </p:txBody>
      </p:sp>
      <p:sp>
        <p:nvSpPr>
          <p:cNvPr id="243" name="Google Shape;243;p8"/>
          <p:cNvSpPr/>
          <p:nvPr/>
        </p:nvSpPr>
        <p:spPr>
          <a:xfrm>
            <a:off x="2615184" y="384048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 747-100</a:t>
            </a:r>
            <a:endParaRPr b="0" i="0" sz="1100" u="none" cap="none" strike="noStrike">
              <a:solidFill>
                <a:schemeClr val="dk1"/>
              </a:solidFill>
              <a:latin typeface="Calibri"/>
              <a:ea typeface="Calibri"/>
              <a:cs typeface="Calibri"/>
              <a:sym typeface="Calibri"/>
            </a:endParaRPr>
          </a:p>
        </p:txBody>
      </p:sp>
      <p:sp>
        <p:nvSpPr>
          <p:cNvPr id="244" name="Google Shape;244;p8"/>
          <p:cNvSpPr/>
          <p:nvPr/>
        </p:nvSpPr>
        <p:spPr>
          <a:xfrm>
            <a:off x="4956048" y="384048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a:t>
            </a:r>
            <a:endParaRPr b="0" i="0" sz="1100" u="none" cap="none" strike="noStrike">
              <a:solidFill>
                <a:schemeClr val="dk1"/>
              </a:solidFill>
              <a:latin typeface="Calibri"/>
              <a:ea typeface="Calibri"/>
              <a:cs typeface="Calibri"/>
              <a:sym typeface="Calibri"/>
            </a:endParaRPr>
          </a:p>
        </p:txBody>
      </p:sp>
      <p:sp>
        <p:nvSpPr>
          <p:cNvPr id="245" name="Google Shape;245;p8"/>
          <p:cNvSpPr/>
          <p:nvPr/>
        </p:nvSpPr>
        <p:spPr>
          <a:xfrm>
            <a:off x="7296912" y="384048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Jet</a:t>
            </a:r>
            <a:endParaRPr b="0" i="0" sz="1100" u="none" cap="none" strike="noStrike">
              <a:solidFill>
                <a:schemeClr val="dk1"/>
              </a:solidFill>
              <a:latin typeface="Calibri"/>
              <a:ea typeface="Calibri"/>
              <a:cs typeface="Calibri"/>
              <a:sym typeface="Calibri"/>
            </a:endParaRPr>
          </a:p>
        </p:txBody>
      </p:sp>
      <p:sp>
        <p:nvSpPr>
          <p:cNvPr id="246" name="Google Shape;246;p8"/>
          <p:cNvSpPr/>
          <p:nvPr/>
        </p:nvSpPr>
        <p:spPr>
          <a:xfrm>
            <a:off x="9637776" y="3840480"/>
            <a:ext cx="2249424"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47" name="Google Shape;247;p8"/>
          <p:cNvSpPr/>
          <p:nvPr/>
        </p:nvSpPr>
        <p:spPr>
          <a:xfrm>
            <a:off x="228600" y="4279392"/>
            <a:ext cx="11704320" cy="109728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365760" y="4343400"/>
            <a:ext cx="45720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1" i="0" lang="en-US" sz="1300" u="none" cap="none" strike="noStrike">
                <a:solidFill>
                  <a:srgbClr val="0D0D0D"/>
                </a:solidFill>
                <a:latin typeface="Calibri"/>
                <a:ea typeface="Calibri"/>
                <a:cs typeface="Calibri"/>
                <a:sym typeface="Calibri"/>
              </a:rPr>
              <a:t>Key rules for a Primary Key:</a:t>
            </a:r>
            <a:endParaRPr b="0" i="0" sz="1300" u="none" cap="none" strike="noStrike">
              <a:solidFill>
                <a:schemeClr val="dk1"/>
              </a:solidFill>
              <a:latin typeface="Calibri"/>
              <a:ea typeface="Calibri"/>
              <a:cs typeface="Calibri"/>
              <a:sym typeface="Calibri"/>
            </a:endParaRPr>
          </a:p>
        </p:txBody>
      </p:sp>
      <p:sp>
        <p:nvSpPr>
          <p:cNvPr id="249" name="Google Shape;249;p8"/>
          <p:cNvSpPr/>
          <p:nvPr/>
        </p:nvSpPr>
        <p:spPr>
          <a:xfrm>
            <a:off x="411480" y="4718304"/>
            <a:ext cx="56692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 Must be unique — no duplicates</a:t>
            </a:r>
            <a:endParaRPr b="0" i="0" sz="1300" u="none" cap="none" strike="noStrike">
              <a:solidFill>
                <a:schemeClr val="dk1"/>
              </a:solidFill>
              <a:latin typeface="Calibri"/>
              <a:ea typeface="Calibri"/>
              <a:cs typeface="Calibri"/>
              <a:sym typeface="Calibri"/>
            </a:endParaRPr>
          </a:p>
        </p:txBody>
      </p:sp>
      <p:sp>
        <p:nvSpPr>
          <p:cNvPr id="250" name="Google Shape;250;p8"/>
          <p:cNvSpPr/>
          <p:nvPr/>
        </p:nvSpPr>
        <p:spPr>
          <a:xfrm>
            <a:off x="411480" y="5084064"/>
            <a:ext cx="56692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 Cannot be NULL (empty)</a:t>
            </a:r>
            <a:endParaRPr b="0" i="0" sz="1300" u="none" cap="none" strike="noStrike">
              <a:solidFill>
                <a:schemeClr val="dk1"/>
              </a:solidFill>
              <a:latin typeface="Calibri"/>
              <a:ea typeface="Calibri"/>
              <a:cs typeface="Calibri"/>
              <a:sym typeface="Calibri"/>
            </a:endParaRPr>
          </a:p>
        </p:txBody>
      </p:sp>
      <p:sp>
        <p:nvSpPr>
          <p:cNvPr id="251" name="Google Shape;251;p8"/>
          <p:cNvSpPr/>
          <p:nvPr/>
        </p:nvSpPr>
        <p:spPr>
          <a:xfrm>
            <a:off x="6263640" y="4718304"/>
            <a:ext cx="56692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 Should be stable — it should not change</a:t>
            </a:r>
            <a:endParaRPr b="0" i="0" sz="1300" u="none" cap="none" strike="noStrike">
              <a:solidFill>
                <a:schemeClr val="dk1"/>
              </a:solidFill>
              <a:latin typeface="Calibri"/>
              <a:ea typeface="Calibri"/>
              <a:cs typeface="Calibri"/>
              <a:sym typeface="Calibri"/>
            </a:endParaRPr>
          </a:p>
        </p:txBody>
      </p:sp>
      <p:sp>
        <p:nvSpPr>
          <p:cNvPr id="252" name="Google Shape;252;p8"/>
          <p:cNvSpPr/>
          <p:nvPr/>
        </p:nvSpPr>
        <p:spPr>
          <a:xfrm>
            <a:off x="6263640" y="5084064"/>
            <a:ext cx="56692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 Usually a simple code or auto-number</a:t>
            </a:r>
            <a:endParaRPr b="0" i="0" sz="1300" u="none" cap="none" strike="noStrike">
              <a:solidFill>
                <a:schemeClr val="dk1"/>
              </a:solidFill>
              <a:latin typeface="Calibri"/>
              <a:ea typeface="Calibri"/>
              <a:cs typeface="Calibri"/>
              <a:sym typeface="Calibri"/>
            </a:endParaRPr>
          </a:p>
        </p:txBody>
      </p:sp>
      <p:sp>
        <p:nvSpPr>
          <p:cNvPr id="253" name="Google Shape;253;p8"/>
          <p:cNvSpPr/>
          <p:nvPr/>
        </p:nvSpPr>
        <p:spPr>
          <a:xfrm>
            <a:off x="228600" y="5486400"/>
            <a:ext cx="11704320" cy="566928"/>
          </a:xfrm>
          <a:prstGeom prst="rect">
            <a:avLst/>
          </a:prstGeom>
          <a:solidFill>
            <a:srgbClr val="FFF9C4"/>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365760" y="5532120"/>
            <a:ext cx="114300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800"/>
              </a:buClr>
              <a:buSzPts val="1200"/>
              <a:buFont typeface="Calibri"/>
              <a:buNone/>
            </a:pPr>
            <a:r>
              <a:rPr b="0" i="1" lang="en-US" sz="1200" u="none" cap="none" strike="noStrike">
                <a:solidFill>
                  <a:srgbClr val="7B5800"/>
                </a:solidFill>
                <a:latin typeface="Calibri"/>
                <a:ea typeface="Calibri"/>
                <a:cs typeface="Calibri"/>
                <a:sym typeface="Calibri"/>
              </a:rPr>
              <a:t>Memory aid: A primary key is like a passport number — it is unique to you, cannot be blank, and identifies exactly who you are.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9"/>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Features: Foreign Key</a:t>
            </a:r>
            <a:endParaRPr b="0" i="0" sz="2400" u="none" cap="none" strike="noStrike">
              <a:solidFill>
                <a:schemeClr val="dk1"/>
              </a:solidFill>
              <a:latin typeface="Calibri"/>
              <a:ea typeface="Calibri"/>
              <a:cs typeface="Calibri"/>
              <a:sym typeface="Calibri"/>
            </a:endParaRPr>
          </a:p>
        </p:txBody>
      </p:sp>
      <p:sp>
        <p:nvSpPr>
          <p:cNvPr id="262" name="Google Shape;262;p9"/>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264" name="Google Shape;264;p9"/>
          <p:cNvSpPr/>
          <p:nvPr/>
        </p:nvSpPr>
        <p:spPr>
          <a:xfrm>
            <a:off x="228600" y="914400"/>
            <a:ext cx="11704320" cy="658368"/>
          </a:xfrm>
          <a:prstGeom prst="rect">
            <a:avLst/>
          </a:prstGeom>
          <a:solidFill>
            <a:srgbClr val="FDEDEC"/>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a:off x="228600" y="914400"/>
            <a:ext cx="164592" cy="65836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475488" y="960120"/>
            <a:ext cx="113842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1400" u="none" cap="none" strike="noStrike">
                <a:solidFill>
                  <a:srgbClr val="0D0D0D"/>
                </a:solidFill>
                <a:latin typeface="Calibri"/>
                <a:ea typeface="Calibri"/>
                <a:cs typeface="Calibri"/>
                <a:sym typeface="Calibri"/>
              </a:rPr>
              <a:t>Foreign Key: an attribute (or set of attributes) in one table that refers to the primary key in another table. It creates a link — a relationship — between the two tables.</a:t>
            </a:r>
            <a:endParaRPr b="0" i="0" sz="1400" u="none" cap="none" strike="noStrike">
              <a:solidFill>
                <a:schemeClr val="dk1"/>
              </a:solidFill>
              <a:latin typeface="Calibri"/>
              <a:ea typeface="Calibri"/>
              <a:cs typeface="Calibri"/>
              <a:sym typeface="Calibri"/>
            </a:endParaRPr>
          </a:p>
        </p:txBody>
      </p:sp>
      <p:sp>
        <p:nvSpPr>
          <p:cNvPr id="267" name="Google Shape;267;p9"/>
          <p:cNvSpPr/>
          <p:nvPr/>
        </p:nvSpPr>
        <p:spPr>
          <a:xfrm>
            <a:off x="228600" y="1719072"/>
            <a:ext cx="117043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The FLIGHTS table uses PlaneID to reference the AEROPLANE table:</a:t>
            </a:r>
            <a:endParaRPr b="0" i="0" sz="1300" u="none" cap="none" strike="noStrike">
              <a:solidFill>
                <a:schemeClr val="dk1"/>
              </a:solidFill>
              <a:latin typeface="Calibri"/>
              <a:ea typeface="Calibri"/>
              <a:cs typeface="Calibri"/>
              <a:sym typeface="Calibri"/>
            </a:endParaRPr>
          </a:p>
        </p:txBody>
      </p:sp>
      <p:sp>
        <p:nvSpPr>
          <p:cNvPr id="268" name="Google Shape;268;p9"/>
          <p:cNvSpPr/>
          <p:nvPr/>
        </p:nvSpPr>
        <p:spPr>
          <a:xfrm>
            <a:off x="228600" y="2148840"/>
            <a:ext cx="5303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200"/>
              <a:buFont typeface="Calibri"/>
              <a:buNone/>
            </a:pPr>
            <a:r>
              <a:rPr b="1" i="0" lang="en-US" sz="1200" u="none" cap="none" strike="noStrike">
                <a:solidFill>
                  <a:srgbClr val="1A3A5C"/>
                </a:solidFill>
                <a:latin typeface="Calibri"/>
                <a:ea typeface="Calibri"/>
                <a:cs typeface="Calibri"/>
                <a:sym typeface="Calibri"/>
              </a:rPr>
              <a:t>AEROPLANE</a:t>
            </a:r>
            <a:endParaRPr b="0" i="0" sz="1200" u="none" cap="none" strike="noStrike">
              <a:solidFill>
                <a:schemeClr val="dk1"/>
              </a:solidFill>
              <a:latin typeface="Calibri"/>
              <a:ea typeface="Calibri"/>
              <a:cs typeface="Calibri"/>
              <a:sym typeface="Calibri"/>
            </a:endParaRPr>
          </a:p>
        </p:txBody>
      </p:sp>
      <p:sp>
        <p:nvSpPr>
          <p:cNvPr id="269" name="Google Shape;269;p9"/>
          <p:cNvSpPr/>
          <p:nvPr/>
        </p:nvSpPr>
        <p:spPr>
          <a:xfrm>
            <a:off x="228600" y="2423160"/>
            <a:ext cx="5303520" cy="292608"/>
          </a:xfrm>
          <a:prstGeom prst="rect">
            <a:avLst/>
          </a:prstGeom>
          <a:solidFill>
            <a:srgbClr val="2980B9"/>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274320" y="2423160"/>
            <a:ext cx="1676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PlaneID ★ PK</a:t>
            </a:r>
            <a:endParaRPr b="0" i="0" sz="1100" u="none" cap="none" strike="noStrike">
              <a:solidFill>
                <a:schemeClr val="dk1"/>
              </a:solidFill>
              <a:latin typeface="Calibri"/>
              <a:ea typeface="Calibri"/>
              <a:cs typeface="Calibri"/>
              <a:sym typeface="Calibri"/>
            </a:endParaRPr>
          </a:p>
        </p:txBody>
      </p:sp>
      <p:sp>
        <p:nvSpPr>
          <p:cNvPr id="271" name="Google Shape;271;p9"/>
          <p:cNvSpPr/>
          <p:nvPr/>
        </p:nvSpPr>
        <p:spPr>
          <a:xfrm>
            <a:off x="2042160" y="2423160"/>
            <a:ext cx="1676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Model</a:t>
            </a:r>
            <a:endParaRPr b="0" i="0" sz="1100" u="none" cap="none" strike="noStrike">
              <a:solidFill>
                <a:schemeClr val="dk1"/>
              </a:solidFill>
              <a:latin typeface="Calibri"/>
              <a:ea typeface="Calibri"/>
              <a:cs typeface="Calibri"/>
              <a:sym typeface="Calibri"/>
            </a:endParaRPr>
          </a:p>
        </p:txBody>
      </p:sp>
      <p:sp>
        <p:nvSpPr>
          <p:cNvPr id="272" name="Google Shape;272;p9"/>
          <p:cNvSpPr/>
          <p:nvPr/>
        </p:nvSpPr>
        <p:spPr>
          <a:xfrm>
            <a:off x="3810000" y="2423160"/>
            <a:ext cx="1676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Manufacturer</a:t>
            </a:r>
            <a:endParaRPr b="0" i="0" sz="1100" u="none" cap="none" strike="noStrike">
              <a:solidFill>
                <a:schemeClr val="dk1"/>
              </a:solidFill>
              <a:latin typeface="Calibri"/>
              <a:ea typeface="Calibri"/>
              <a:cs typeface="Calibri"/>
              <a:sym typeface="Calibri"/>
            </a:endParaRPr>
          </a:p>
        </p:txBody>
      </p:sp>
      <p:sp>
        <p:nvSpPr>
          <p:cNvPr id="273" name="Google Shape;273;p9"/>
          <p:cNvSpPr/>
          <p:nvPr/>
        </p:nvSpPr>
        <p:spPr>
          <a:xfrm>
            <a:off x="228600" y="2715768"/>
            <a:ext cx="530352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274320" y="2715768"/>
            <a:ext cx="1676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A03</a:t>
            </a:r>
            <a:endParaRPr b="0" i="0" sz="1100" u="none" cap="none" strike="noStrike">
              <a:solidFill>
                <a:schemeClr val="dk1"/>
              </a:solidFill>
              <a:latin typeface="Calibri"/>
              <a:ea typeface="Calibri"/>
              <a:cs typeface="Calibri"/>
              <a:sym typeface="Calibri"/>
            </a:endParaRPr>
          </a:p>
        </p:txBody>
      </p:sp>
      <p:sp>
        <p:nvSpPr>
          <p:cNvPr id="275" name="Google Shape;275;p9"/>
          <p:cNvSpPr/>
          <p:nvPr/>
        </p:nvSpPr>
        <p:spPr>
          <a:xfrm>
            <a:off x="2042160" y="2715768"/>
            <a:ext cx="1676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 747-100</a:t>
            </a:r>
            <a:endParaRPr b="0" i="0" sz="1100" u="none" cap="none" strike="noStrike">
              <a:solidFill>
                <a:schemeClr val="dk1"/>
              </a:solidFill>
              <a:latin typeface="Calibri"/>
              <a:ea typeface="Calibri"/>
              <a:cs typeface="Calibri"/>
              <a:sym typeface="Calibri"/>
            </a:endParaRPr>
          </a:p>
        </p:txBody>
      </p:sp>
      <p:sp>
        <p:nvSpPr>
          <p:cNvPr id="276" name="Google Shape;276;p9"/>
          <p:cNvSpPr/>
          <p:nvPr/>
        </p:nvSpPr>
        <p:spPr>
          <a:xfrm>
            <a:off x="3810000" y="2715768"/>
            <a:ext cx="1676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a:t>
            </a:r>
            <a:endParaRPr b="0" i="0" sz="1100" u="none" cap="none" strike="noStrike">
              <a:solidFill>
                <a:schemeClr val="dk1"/>
              </a:solidFill>
              <a:latin typeface="Calibri"/>
              <a:ea typeface="Calibri"/>
              <a:cs typeface="Calibri"/>
              <a:sym typeface="Calibri"/>
            </a:endParaRPr>
          </a:p>
        </p:txBody>
      </p:sp>
      <p:sp>
        <p:nvSpPr>
          <p:cNvPr id="277" name="Google Shape;277;p9"/>
          <p:cNvSpPr/>
          <p:nvPr/>
        </p:nvSpPr>
        <p:spPr>
          <a:xfrm>
            <a:off x="228600" y="3008376"/>
            <a:ext cx="530352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a:off x="274320" y="3008376"/>
            <a:ext cx="1676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A04</a:t>
            </a:r>
            <a:endParaRPr b="0" i="0" sz="1100" u="none" cap="none" strike="noStrike">
              <a:solidFill>
                <a:schemeClr val="dk1"/>
              </a:solidFill>
              <a:latin typeface="Calibri"/>
              <a:ea typeface="Calibri"/>
              <a:cs typeface="Calibri"/>
              <a:sym typeface="Calibri"/>
            </a:endParaRPr>
          </a:p>
        </p:txBody>
      </p:sp>
      <p:sp>
        <p:nvSpPr>
          <p:cNvPr id="279" name="Google Shape;279;p9"/>
          <p:cNvSpPr/>
          <p:nvPr/>
        </p:nvSpPr>
        <p:spPr>
          <a:xfrm>
            <a:off x="2042160" y="3008376"/>
            <a:ext cx="1676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 777-8</a:t>
            </a:r>
            <a:endParaRPr b="0" i="0" sz="1100" u="none" cap="none" strike="noStrike">
              <a:solidFill>
                <a:schemeClr val="dk1"/>
              </a:solidFill>
              <a:latin typeface="Calibri"/>
              <a:ea typeface="Calibri"/>
              <a:cs typeface="Calibri"/>
              <a:sym typeface="Calibri"/>
            </a:endParaRPr>
          </a:p>
        </p:txBody>
      </p:sp>
      <p:sp>
        <p:nvSpPr>
          <p:cNvPr id="280" name="Google Shape;280;p9"/>
          <p:cNvSpPr/>
          <p:nvPr/>
        </p:nvSpPr>
        <p:spPr>
          <a:xfrm>
            <a:off x="3810000" y="3008376"/>
            <a:ext cx="1676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Boeing</a:t>
            </a:r>
            <a:endParaRPr b="0" i="0" sz="1100" u="none" cap="none" strike="noStrike">
              <a:solidFill>
                <a:schemeClr val="dk1"/>
              </a:solidFill>
              <a:latin typeface="Calibri"/>
              <a:ea typeface="Calibri"/>
              <a:cs typeface="Calibri"/>
              <a:sym typeface="Calibri"/>
            </a:endParaRPr>
          </a:p>
        </p:txBody>
      </p:sp>
      <p:sp>
        <p:nvSpPr>
          <p:cNvPr id="281" name="Google Shape;281;p9"/>
          <p:cNvSpPr/>
          <p:nvPr/>
        </p:nvSpPr>
        <p:spPr>
          <a:xfrm>
            <a:off x="5943600" y="2148840"/>
            <a:ext cx="6035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FLIGHTS</a:t>
            </a:r>
            <a:endParaRPr b="0" i="0" sz="1200" u="none" cap="none" strike="noStrike">
              <a:solidFill>
                <a:schemeClr val="dk1"/>
              </a:solidFill>
              <a:latin typeface="Calibri"/>
              <a:ea typeface="Calibri"/>
              <a:cs typeface="Calibri"/>
              <a:sym typeface="Calibri"/>
            </a:endParaRPr>
          </a:p>
        </p:txBody>
      </p:sp>
      <p:sp>
        <p:nvSpPr>
          <p:cNvPr id="282" name="Google Shape;282;p9"/>
          <p:cNvSpPr/>
          <p:nvPr/>
        </p:nvSpPr>
        <p:spPr>
          <a:xfrm>
            <a:off x="5943600" y="2423160"/>
            <a:ext cx="6035040" cy="29260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p:nvPr/>
        </p:nvSpPr>
        <p:spPr>
          <a:xfrm>
            <a:off x="5989320" y="2423160"/>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FlightID ★ PK</a:t>
            </a:r>
            <a:endParaRPr b="0" i="0" sz="1100" u="none" cap="none" strike="noStrike">
              <a:solidFill>
                <a:schemeClr val="dk1"/>
              </a:solidFill>
              <a:latin typeface="Calibri"/>
              <a:ea typeface="Calibri"/>
              <a:cs typeface="Calibri"/>
              <a:sym typeface="Calibri"/>
            </a:endParaRPr>
          </a:p>
        </p:txBody>
      </p:sp>
      <p:sp>
        <p:nvSpPr>
          <p:cNvPr id="284" name="Google Shape;284;p9"/>
          <p:cNvSpPr/>
          <p:nvPr/>
        </p:nvSpPr>
        <p:spPr>
          <a:xfrm>
            <a:off x="7196328" y="2423160"/>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Departure</a:t>
            </a:r>
            <a:endParaRPr b="0" i="0" sz="1100" u="none" cap="none" strike="noStrike">
              <a:solidFill>
                <a:schemeClr val="dk1"/>
              </a:solidFill>
              <a:latin typeface="Calibri"/>
              <a:ea typeface="Calibri"/>
              <a:cs typeface="Calibri"/>
              <a:sym typeface="Calibri"/>
            </a:endParaRPr>
          </a:p>
        </p:txBody>
      </p:sp>
      <p:sp>
        <p:nvSpPr>
          <p:cNvPr id="285" name="Google Shape;285;p9"/>
          <p:cNvSpPr/>
          <p:nvPr/>
        </p:nvSpPr>
        <p:spPr>
          <a:xfrm>
            <a:off x="8403336" y="2423160"/>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Destination</a:t>
            </a:r>
            <a:endParaRPr b="0" i="0" sz="1100" u="none" cap="none" strike="noStrike">
              <a:solidFill>
                <a:schemeClr val="dk1"/>
              </a:solidFill>
              <a:latin typeface="Calibri"/>
              <a:ea typeface="Calibri"/>
              <a:cs typeface="Calibri"/>
              <a:sym typeface="Calibri"/>
            </a:endParaRPr>
          </a:p>
        </p:txBody>
      </p:sp>
      <p:sp>
        <p:nvSpPr>
          <p:cNvPr id="286" name="Google Shape;286;p9"/>
          <p:cNvSpPr/>
          <p:nvPr/>
        </p:nvSpPr>
        <p:spPr>
          <a:xfrm>
            <a:off x="9610344" y="2423160"/>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PlaneID FK</a:t>
            </a:r>
            <a:endParaRPr b="0" i="0" sz="1100" u="none" cap="none" strike="noStrike">
              <a:solidFill>
                <a:schemeClr val="dk1"/>
              </a:solidFill>
              <a:latin typeface="Calibri"/>
              <a:ea typeface="Calibri"/>
              <a:cs typeface="Calibri"/>
              <a:sym typeface="Calibri"/>
            </a:endParaRPr>
          </a:p>
        </p:txBody>
      </p:sp>
      <p:sp>
        <p:nvSpPr>
          <p:cNvPr id="287" name="Google Shape;287;p9"/>
          <p:cNvSpPr/>
          <p:nvPr/>
        </p:nvSpPr>
        <p:spPr>
          <a:xfrm>
            <a:off x="10817352" y="2423160"/>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FlightDate</a:t>
            </a:r>
            <a:endParaRPr b="0" i="0" sz="1100" u="none" cap="none" strike="noStrike">
              <a:solidFill>
                <a:schemeClr val="dk1"/>
              </a:solidFill>
              <a:latin typeface="Calibri"/>
              <a:ea typeface="Calibri"/>
              <a:cs typeface="Calibri"/>
              <a:sym typeface="Calibri"/>
            </a:endParaRPr>
          </a:p>
        </p:txBody>
      </p:sp>
      <p:sp>
        <p:nvSpPr>
          <p:cNvPr id="288" name="Google Shape;288;p9"/>
          <p:cNvSpPr/>
          <p:nvPr/>
        </p:nvSpPr>
        <p:spPr>
          <a:xfrm>
            <a:off x="5943600" y="2715768"/>
            <a:ext cx="603504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5989320" y="2715768"/>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LG8903</a:t>
            </a:r>
            <a:endParaRPr b="0" i="0" sz="1100" u="none" cap="none" strike="noStrike">
              <a:solidFill>
                <a:schemeClr val="dk1"/>
              </a:solidFill>
              <a:latin typeface="Calibri"/>
              <a:ea typeface="Calibri"/>
              <a:cs typeface="Calibri"/>
              <a:sym typeface="Calibri"/>
            </a:endParaRPr>
          </a:p>
        </p:txBody>
      </p:sp>
      <p:sp>
        <p:nvSpPr>
          <p:cNvPr id="290" name="Google Shape;290;p9"/>
          <p:cNvSpPr/>
          <p:nvPr/>
        </p:nvSpPr>
        <p:spPr>
          <a:xfrm>
            <a:off x="7196328" y="2715768"/>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LUX</a:t>
            </a:r>
            <a:endParaRPr b="0" i="0" sz="1100" u="none" cap="none" strike="noStrike">
              <a:solidFill>
                <a:schemeClr val="dk1"/>
              </a:solidFill>
              <a:latin typeface="Calibri"/>
              <a:ea typeface="Calibri"/>
              <a:cs typeface="Calibri"/>
              <a:sym typeface="Calibri"/>
            </a:endParaRPr>
          </a:p>
        </p:txBody>
      </p:sp>
      <p:sp>
        <p:nvSpPr>
          <p:cNvPr id="291" name="Google Shape;291;p9"/>
          <p:cNvSpPr/>
          <p:nvPr/>
        </p:nvSpPr>
        <p:spPr>
          <a:xfrm>
            <a:off x="8403336" y="2715768"/>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OTP</a:t>
            </a:r>
            <a:endParaRPr b="0" i="0" sz="1100" u="none" cap="none" strike="noStrike">
              <a:solidFill>
                <a:schemeClr val="dk1"/>
              </a:solidFill>
              <a:latin typeface="Calibri"/>
              <a:ea typeface="Calibri"/>
              <a:cs typeface="Calibri"/>
              <a:sym typeface="Calibri"/>
            </a:endParaRPr>
          </a:p>
        </p:txBody>
      </p:sp>
      <p:sp>
        <p:nvSpPr>
          <p:cNvPr id="292" name="Google Shape;292;p9"/>
          <p:cNvSpPr/>
          <p:nvPr/>
        </p:nvSpPr>
        <p:spPr>
          <a:xfrm>
            <a:off x="9610344" y="2715768"/>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A03</a:t>
            </a:r>
            <a:endParaRPr b="0" i="0" sz="1100" u="none" cap="none" strike="noStrike">
              <a:solidFill>
                <a:schemeClr val="dk1"/>
              </a:solidFill>
              <a:latin typeface="Calibri"/>
              <a:ea typeface="Calibri"/>
              <a:cs typeface="Calibri"/>
              <a:sym typeface="Calibri"/>
            </a:endParaRPr>
          </a:p>
        </p:txBody>
      </p:sp>
      <p:sp>
        <p:nvSpPr>
          <p:cNvPr id="293" name="Google Shape;293;p9"/>
          <p:cNvSpPr/>
          <p:nvPr/>
        </p:nvSpPr>
        <p:spPr>
          <a:xfrm>
            <a:off x="10817352" y="2715768"/>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01/07/25</a:t>
            </a:r>
            <a:endParaRPr b="0" i="0" sz="1100" u="none" cap="none" strike="noStrike">
              <a:solidFill>
                <a:schemeClr val="dk1"/>
              </a:solidFill>
              <a:latin typeface="Calibri"/>
              <a:ea typeface="Calibri"/>
              <a:cs typeface="Calibri"/>
              <a:sym typeface="Calibri"/>
            </a:endParaRPr>
          </a:p>
        </p:txBody>
      </p:sp>
      <p:sp>
        <p:nvSpPr>
          <p:cNvPr id="294" name="Google Shape;294;p9"/>
          <p:cNvSpPr/>
          <p:nvPr/>
        </p:nvSpPr>
        <p:spPr>
          <a:xfrm>
            <a:off x="5943600" y="3008376"/>
            <a:ext cx="603504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p:nvPr/>
        </p:nvSpPr>
        <p:spPr>
          <a:xfrm>
            <a:off x="5989320" y="3008376"/>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OS864</a:t>
            </a:r>
            <a:endParaRPr b="0" i="0" sz="1100" u="none" cap="none" strike="noStrike">
              <a:solidFill>
                <a:schemeClr val="dk1"/>
              </a:solidFill>
              <a:latin typeface="Calibri"/>
              <a:ea typeface="Calibri"/>
              <a:cs typeface="Calibri"/>
              <a:sym typeface="Calibri"/>
            </a:endParaRPr>
          </a:p>
        </p:txBody>
      </p:sp>
      <p:sp>
        <p:nvSpPr>
          <p:cNvPr id="296" name="Google Shape;296;p9"/>
          <p:cNvSpPr/>
          <p:nvPr/>
        </p:nvSpPr>
        <p:spPr>
          <a:xfrm>
            <a:off x="7196328" y="3008376"/>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CAI</a:t>
            </a:r>
            <a:endParaRPr b="0" i="0" sz="1100" u="none" cap="none" strike="noStrike">
              <a:solidFill>
                <a:schemeClr val="dk1"/>
              </a:solidFill>
              <a:latin typeface="Calibri"/>
              <a:ea typeface="Calibri"/>
              <a:cs typeface="Calibri"/>
              <a:sym typeface="Calibri"/>
            </a:endParaRPr>
          </a:p>
        </p:txBody>
      </p:sp>
      <p:sp>
        <p:nvSpPr>
          <p:cNvPr id="297" name="Google Shape;297;p9"/>
          <p:cNvSpPr/>
          <p:nvPr/>
        </p:nvSpPr>
        <p:spPr>
          <a:xfrm>
            <a:off x="8403336" y="3008376"/>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VIE</a:t>
            </a:r>
            <a:endParaRPr b="0" i="0" sz="1100" u="none" cap="none" strike="noStrike">
              <a:solidFill>
                <a:schemeClr val="dk1"/>
              </a:solidFill>
              <a:latin typeface="Calibri"/>
              <a:ea typeface="Calibri"/>
              <a:cs typeface="Calibri"/>
              <a:sym typeface="Calibri"/>
            </a:endParaRPr>
          </a:p>
        </p:txBody>
      </p:sp>
      <p:sp>
        <p:nvSpPr>
          <p:cNvPr id="298" name="Google Shape;298;p9"/>
          <p:cNvSpPr/>
          <p:nvPr/>
        </p:nvSpPr>
        <p:spPr>
          <a:xfrm>
            <a:off x="9610344" y="3008376"/>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A04</a:t>
            </a:r>
            <a:endParaRPr b="0" i="0" sz="1100" u="none" cap="none" strike="noStrike">
              <a:solidFill>
                <a:schemeClr val="dk1"/>
              </a:solidFill>
              <a:latin typeface="Calibri"/>
              <a:ea typeface="Calibri"/>
              <a:cs typeface="Calibri"/>
              <a:sym typeface="Calibri"/>
            </a:endParaRPr>
          </a:p>
        </p:txBody>
      </p:sp>
      <p:sp>
        <p:nvSpPr>
          <p:cNvPr id="299" name="Google Shape;299;p9"/>
          <p:cNvSpPr/>
          <p:nvPr/>
        </p:nvSpPr>
        <p:spPr>
          <a:xfrm>
            <a:off x="10817352" y="3008376"/>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15/01/25</a:t>
            </a:r>
            <a:endParaRPr b="0" i="0" sz="1100" u="none" cap="none" strike="noStrike">
              <a:solidFill>
                <a:schemeClr val="dk1"/>
              </a:solidFill>
              <a:latin typeface="Calibri"/>
              <a:ea typeface="Calibri"/>
              <a:cs typeface="Calibri"/>
              <a:sym typeface="Calibri"/>
            </a:endParaRPr>
          </a:p>
        </p:txBody>
      </p:sp>
      <p:sp>
        <p:nvSpPr>
          <p:cNvPr id="300" name="Google Shape;300;p9"/>
          <p:cNvSpPr/>
          <p:nvPr/>
        </p:nvSpPr>
        <p:spPr>
          <a:xfrm>
            <a:off x="5943600" y="3300984"/>
            <a:ext cx="603504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p:nvPr/>
        </p:nvSpPr>
        <p:spPr>
          <a:xfrm>
            <a:off x="5989320" y="3300984"/>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GB961</a:t>
            </a:r>
            <a:endParaRPr b="0" i="0" sz="1100" u="none" cap="none" strike="noStrike">
              <a:solidFill>
                <a:schemeClr val="dk1"/>
              </a:solidFill>
              <a:latin typeface="Calibri"/>
              <a:ea typeface="Calibri"/>
              <a:cs typeface="Calibri"/>
              <a:sym typeface="Calibri"/>
            </a:endParaRPr>
          </a:p>
        </p:txBody>
      </p:sp>
      <p:sp>
        <p:nvSpPr>
          <p:cNvPr id="302" name="Google Shape;302;p9"/>
          <p:cNvSpPr/>
          <p:nvPr/>
        </p:nvSpPr>
        <p:spPr>
          <a:xfrm>
            <a:off x="7196328" y="3300984"/>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LHR</a:t>
            </a:r>
            <a:endParaRPr b="0" i="0" sz="1100" u="none" cap="none" strike="noStrike">
              <a:solidFill>
                <a:schemeClr val="dk1"/>
              </a:solidFill>
              <a:latin typeface="Calibri"/>
              <a:ea typeface="Calibri"/>
              <a:cs typeface="Calibri"/>
              <a:sym typeface="Calibri"/>
            </a:endParaRPr>
          </a:p>
        </p:txBody>
      </p:sp>
      <p:sp>
        <p:nvSpPr>
          <p:cNvPr id="303" name="Google Shape;303;p9"/>
          <p:cNvSpPr/>
          <p:nvPr/>
        </p:nvSpPr>
        <p:spPr>
          <a:xfrm>
            <a:off x="8403336" y="3300984"/>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ZRH</a:t>
            </a:r>
            <a:endParaRPr b="0" i="0" sz="1100" u="none" cap="none" strike="noStrike">
              <a:solidFill>
                <a:schemeClr val="dk1"/>
              </a:solidFill>
              <a:latin typeface="Calibri"/>
              <a:ea typeface="Calibri"/>
              <a:cs typeface="Calibri"/>
              <a:sym typeface="Calibri"/>
            </a:endParaRPr>
          </a:p>
        </p:txBody>
      </p:sp>
      <p:sp>
        <p:nvSpPr>
          <p:cNvPr id="304" name="Google Shape;304;p9"/>
          <p:cNvSpPr/>
          <p:nvPr/>
        </p:nvSpPr>
        <p:spPr>
          <a:xfrm>
            <a:off x="9610344" y="3300984"/>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A03</a:t>
            </a:r>
            <a:endParaRPr b="0" i="0" sz="1100" u="none" cap="none" strike="noStrike">
              <a:solidFill>
                <a:schemeClr val="dk1"/>
              </a:solidFill>
              <a:latin typeface="Calibri"/>
              <a:ea typeface="Calibri"/>
              <a:cs typeface="Calibri"/>
              <a:sym typeface="Calibri"/>
            </a:endParaRPr>
          </a:p>
        </p:txBody>
      </p:sp>
      <p:sp>
        <p:nvSpPr>
          <p:cNvPr id="305" name="Google Shape;305;p9"/>
          <p:cNvSpPr/>
          <p:nvPr/>
        </p:nvSpPr>
        <p:spPr>
          <a:xfrm>
            <a:off x="10817352" y="3300984"/>
            <a:ext cx="11155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25/02/25</a:t>
            </a:r>
            <a:endParaRPr b="0" i="0" sz="1100" u="none" cap="none" strike="noStrike">
              <a:solidFill>
                <a:schemeClr val="dk1"/>
              </a:solidFill>
              <a:latin typeface="Calibri"/>
              <a:ea typeface="Calibri"/>
              <a:cs typeface="Calibri"/>
              <a:sym typeface="Calibri"/>
            </a:endParaRPr>
          </a:p>
        </p:txBody>
      </p:sp>
      <p:sp>
        <p:nvSpPr>
          <p:cNvPr id="306" name="Google Shape;306;p9"/>
          <p:cNvSpPr/>
          <p:nvPr/>
        </p:nvSpPr>
        <p:spPr>
          <a:xfrm>
            <a:off x="4754880" y="2743200"/>
            <a:ext cx="1143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100"/>
              <a:buFont typeface="Calibri"/>
              <a:buNone/>
            </a:pPr>
            <a:r>
              <a:rPr b="1" i="0" lang="en-US" sz="1100" u="none" cap="none" strike="noStrike">
                <a:solidFill>
                  <a:srgbClr val="1A3A5C"/>
                </a:solidFill>
                <a:latin typeface="Calibri"/>
                <a:ea typeface="Calibri"/>
                <a:cs typeface="Calibri"/>
                <a:sym typeface="Calibri"/>
              </a:rPr>
              <a:t>PlaneID links →</a:t>
            </a:r>
            <a:endParaRPr b="0" i="0" sz="1100" u="none" cap="none" strike="noStrike">
              <a:solidFill>
                <a:schemeClr val="dk1"/>
              </a:solidFill>
              <a:latin typeface="Calibri"/>
              <a:ea typeface="Calibri"/>
              <a:cs typeface="Calibri"/>
              <a:sym typeface="Calibri"/>
            </a:endParaRPr>
          </a:p>
        </p:txBody>
      </p:sp>
      <p:sp>
        <p:nvSpPr>
          <p:cNvPr id="307" name="Google Shape;307;p9"/>
          <p:cNvSpPr/>
          <p:nvPr/>
        </p:nvSpPr>
        <p:spPr>
          <a:xfrm>
            <a:off x="228600" y="3749040"/>
            <a:ext cx="11704320" cy="82296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p:nvPr/>
        </p:nvSpPr>
        <p:spPr>
          <a:xfrm>
            <a:off x="365760" y="3840480"/>
            <a:ext cx="11430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Notice: PlaneID A03 appears twice in FLIGHTS (two flights used the same plane). In FLIGHTS it is a foreign key — NOT a primary key. In AEROPLANE it is the primary key.</a:t>
            </a:r>
            <a:endParaRPr b="0" i="0" sz="1300" u="none" cap="none" strike="noStrike">
              <a:solidFill>
                <a:schemeClr val="dk1"/>
              </a:solidFill>
              <a:latin typeface="Calibri"/>
              <a:ea typeface="Calibri"/>
              <a:cs typeface="Calibri"/>
              <a:sym typeface="Calibri"/>
            </a:endParaRPr>
          </a:p>
        </p:txBody>
      </p:sp>
      <p:sp>
        <p:nvSpPr>
          <p:cNvPr id="309" name="Google Shape;309;p9"/>
          <p:cNvSpPr/>
          <p:nvPr/>
        </p:nvSpPr>
        <p:spPr>
          <a:xfrm>
            <a:off x="228600" y="4681728"/>
            <a:ext cx="11704320" cy="566928"/>
          </a:xfrm>
          <a:prstGeom prst="rect">
            <a:avLst/>
          </a:prstGeom>
          <a:solidFill>
            <a:srgbClr val="FFF9C4"/>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a:off x="365760" y="4736592"/>
            <a:ext cx="11430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800"/>
              </a:buClr>
              <a:buSzPts val="1200"/>
              <a:buFont typeface="Calibri"/>
              <a:buNone/>
            </a:pPr>
            <a:r>
              <a:rPr b="0" i="1" lang="en-US" sz="1200" u="none" cap="none" strike="noStrike">
                <a:solidFill>
                  <a:srgbClr val="7B5800"/>
                </a:solidFill>
                <a:latin typeface="Calibri"/>
                <a:ea typeface="Calibri"/>
                <a:cs typeface="Calibri"/>
                <a:sym typeface="Calibri"/>
              </a:rPr>
              <a:t>Memory aid: A foreign key is like your passport number written in a hotel check-in register — it appears in someone else's record to identify you.</a:t>
            </a:r>
            <a:endParaRPr b="0" i="0" sz="1200" u="none" cap="none" strike="noStrike">
              <a:solidFill>
                <a:schemeClr val="dk1"/>
              </a:solidFill>
              <a:latin typeface="Calibri"/>
              <a:ea typeface="Calibri"/>
              <a:cs typeface="Calibri"/>
              <a:sym typeface="Calibri"/>
            </a:endParaRPr>
          </a:p>
        </p:txBody>
      </p:sp>
      <p:sp>
        <p:nvSpPr>
          <p:cNvPr id="311" name="Google Shape;311;p9"/>
          <p:cNvSpPr/>
          <p:nvPr/>
        </p:nvSpPr>
        <p:spPr>
          <a:xfrm>
            <a:off x="228600" y="5376672"/>
            <a:ext cx="11704320" cy="713232"/>
          </a:xfrm>
          <a:prstGeom prst="rect">
            <a:avLst/>
          </a:prstGeom>
          <a:solidFill>
            <a:srgbClr val="F0FFF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365760" y="5440680"/>
            <a:ext cx="114300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5C2A"/>
              </a:buClr>
              <a:buSzPts val="1300"/>
              <a:buFont typeface="Calibri"/>
              <a:buNone/>
            </a:pPr>
            <a:r>
              <a:rPr b="0" i="0" lang="en-US" sz="1300" u="none" cap="none" strike="noStrike">
                <a:solidFill>
                  <a:srgbClr val="1A5C2A"/>
                </a:solidFill>
                <a:latin typeface="Calibri"/>
                <a:ea typeface="Calibri"/>
                <a:cs typeface="Calibri"/>
                <a:sym typeface="Calibri"/>
              </a:rPr>
              <a:t>Quick check: In the FLIGHTS table, FlightID is the primary key. PlaneID is a foreign key. Why can PlaneID have duplicates here, but not in AEROPLANE?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10"/>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Features: Composite Key</a:t>
            </a:r>
            <a:endParaRPr b="0" i="0" sz="2400" u="none" cap="none" strike="noStrike">
              <a:solidFill>
                <a:schemeClr val="dk1"/>
              </a:solidFill>
              <a:latin typeface="Calibri"/>
              <a:ea typeface="Calibri"/>
              <a:cs typeface="Calibri"/>
              <a:sym typeface="Calibri"/>
            </a:endParaRPr>
          </a:p>
        </p:txBody>
      </p:sp>
      <p:sp>
        <p:nvSpPr>
          <p:cNvPr id="320" name="Google Shape;320;p10"/>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0"/>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322" name="Google Shape;322;p10"/>
          <p:cNvSpPr/>
          <p:nvPr/>
        </p:nvSpPr>
        <p:spPr>
          <a:xfrm>
            <a:off x="228600" y="914400"/>
            <a:ext cx="11704320" cy="658368"/>
          </a:xfrm>
          <a:prstGeom prst="rect">
            <a:avLst/>
          </a:prstGeom>
          <a:solidFill>
            <a:srgbClr val="F4ECF7"/>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0"/>
          <p:cNvSpPr/>
          <p:nvPr/>
        </p:nvSpPr>
        <p:spPr>
          <a:xfrm>
            <a:off x="228600" y="914400"/>
            <a:ext cx="164592" cy="658368"/>
          </a:xfrm>
          <a:prstGeom prst="rect">
            <a:avLst/>
          </a:prstGeom>
          <a:solidFill>
            <a:srgbClr val="8E44AD"/>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0"/>
          <p:cNvSpPr/>
          <p:nvPr/>
        </p:nvSpPr>
        <p:spPr>
          <a:xfrm>
            <a:off x="475488" y="960120"/>
            <a:ext cx="113842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1400" u="none" cap="none" strike="noStrike">
                <a:solidFill>
                  <a:srgbClr val="0D0D0D"/>
                </a:solidFill>
                <a:latin typeface="Calibri"/>
                <a:ea typeface="Calibri"/>
                <a:cs typeface="Calibri"/>
                <a:sym typeface="Calibri"/>
              </a:rPr>
              <a:t>Composite Key: a set of two or more attributes that together form the primary key of a table. Used when no single field is unique on its own.</a:t>
            </a:r>
            <a:endParaRPr b="0" i="0" sz="1400" u="none" cap="none" strike="noStrike">
              <a:solidFill>
                <a:schemeClr val="dk1"/>
              </a:solidFill>
              <a:latin typeface="Calibri"/>
              <a:ea typeface="Calibri"/>
              <a:cs typeface="Calibri"/>
              <a:sym typeface="Calibri"/>
            </a:endParaRPr>
          </a:p>
        </p:txBody>
      </p:sp>
      <p:sp>
        <p:nvSpPr>
          <p:cNvPr id="325" name="Google Shape;325;p10"/>
          <p:cNvSpPr/>
          <p:nvPr/>
        </p:nvSpPr>
        <p:spPr>
          <a:xfrm>
            <a:off x="228600" y="1737360"/>
            <a:ext cx="117043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Scenario: A PILOTFLIGHT table records which pilot flew which flight. A pilot can fly many flights; a flight can have many pilots.</a:t>
            </a:r>
            <a:endParaRPr b="0" i="0" sz="1300" u="none" cap="none" strike="noStrike">
              <a:solidFill>
                <a:schemeClr val="dk1"/>
              </a:solidFill>
              <a:latin typeface="Calibri"/>
              <a:ea typeface="Calibri"/>
              <a:cs typeface="Calibri"/>
              <a:sym typeface="Calibri"/>
            </a:endParaRPr>
          </a:p>
        </p:txBody>
      </p:sp>
      <p:sp>
        <p:nvSpPr>
          <p:cNvPr id="326" name="Google Shape;326;p10"/>
          <p:cNvSpPr/>
          <p:nvPr/>
        </p:nvSpPr>
        <p:spPr>
          <a:xfrm>
            <a:off x="228600" y="2331720"/>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44AD"/>
              </a:buClr>
              <a:buSzPts val="1200"/>
              <a:buFont typeface="Calibri"/>
              <a:buNone/>
            </a:pPr>
            <a:r>
              <a:rPr b="1" i="0" lang="en-US" sz="1200" u="none" cap="none" strike="noStrike">
                <a:solidFill>
                  <a:srgbClr val="8E44AD"/>
                </a:solidFill>
                <a:latin typeface="Calibri"/>
                <a:ea typeface="Calibri"/>
                <a:cs typeface="Calibri"/>
                <a:sym typeface="Calibri"/>
              </a:rPr>
              <a:t>PILOTFLIGHT</a:t>
            </a:r>
            <a:endParaRPr b="0" i="0" sz="1200" u="none" cap="none" strike="noStrike">
              <a:solidFill>
                <a:schemeClr val="dk1"/>
              </a:solidFill>
              <a:latin typeface="Calibri"/>
              <a:ea typeface="Calibri"/>
              <a:cs typeface="Calibri"/>
              <a:sym typeface="Calibri"/>
            </a:endParaRPr>
          </a:p>
        </p:txBody>
      </p:sp>
      <p:sp>
        <p:nvSpPr>
          <p:cNvPr id="327" name="Google Shape;327;p10"/>
          <p:cNvSpPr/>
          <p:nvPr/>
        </p:nvSpPr>
        <p:spPr>
          <a:xfrm>
            <a:off x="228600" y="2606040"/>
            <a:ext cx="4389120" cy="292608"/>
          </a:xfrm>
          <a:prstGeom prst="rect">
            <a:avLst/>
          </a:prstGeom>
          <a:solidFill>
            <a:srgbClr val="8E44AD"/>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0"/>
          <p:cNvSpPr/>
          <p:nvPr/>
        </p:nvSpPr>
        <p:spPr>
          <a:xfrm>
            <a:off x="274320" y="2606040"/>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FlightID FK</a:t>
            </a:r>
            <a:endParaRPr b="0" i="0" sz="1100" u="none" cap="none" strike="noStrike">
              <a:solidFill>
                <a:schemeClr val="dk1"/>
              </a:solidFill>
              <a:latin typeface="Calibri"/>
              <a:ea typeface="Calibri"/>
              <a:cs typeface="Calibri"/>
              <a:sym typeface="Calibri"/>
            </a:endParaRPr>
          </a:p>
        </p:txBody>
      </p:sp>
      <p:sp>
        <p:nvSpPr>
          <p:cNvPr id="329" name="Google Shape;329;p10"/>
          <p:cNvSpPr/>
          <p:nvPr/>
        </p:nvSpPr>
        <p:spPr>
          <a:xfrm>
            <a:off x="2468880" y="2606040"/>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PilotID FK</a:t>
            </a:r>
            <a:endParaRPr b="0" i="0" sz="1100" u="none" cap="none" strike="noStrike">
              <a:solidFill>
                <a:schemeClr val="dk1"/>
              </a:solidFill>
              <a:latin typeface="Calibri"/>
              <a:ea typeface="Calibri"/>
              <a:cs typeface="Calibri"/>
              <a:sym typeface="Calibri"/>
            </a:endParaRPr>
          </a:p>
        </p:txBody>
      </p:sp>
      <p:sp>
        <p:nvSpPr>
          <p:cNvPr id="330" name="Google Shape;330;p10"/>
          <p:cNvSpPr/>
          <p:nvPr/>
        </p:nvSpPr>
        <p:spPr>
          <a:xfrm>
            <a:off x="228600" y="2898648"/>
            <a:ext cx="438912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p:nvPr/>
        </p:nvSpPr>
        <p:spPr>
          <a:xfrm>
            <a:off x="274320" y="2898648"/>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LG8903</a:t>
            </a:r>
            <a:endParaRPr b="0" i="0" sz="1100" u="none" cap="none" strike="noStrike">
              <a:solidFill>
                <a:schemeClr val="dk1"/>
              </a:solidFill>
              <a:latin typeface="Calibri"/>
              <a:ea typeface="Calibri"/>
              <a:cs typeface="Calibri"/>
              <a:sym typeface="Calibri"/>
            </a:endParaRPr>
          </a:p>
        </p:txBody>
      </p:sp>
      <p:sp>
        <p:nvSpPr>
          <p:cNvPr id="332" name="Google Shape;332;p10"/>
          <p:cNvSpPr/>
          <p:nvPr/>
        </p:nvSpPr>
        <p:spPr>
          <a:xfrm>
            <a:off x="2468880" y="2898648"/>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P500</a:t>
            </a:r>
            <a:endParaRPr b="0" i="0" sz="1100" u="none" cap="none" strike="noStrike">
              <a:solidFill>
                <a:schemeClr val="dk1"/>
              </a:solidFill>
              <a:latin typeface="Calibri"/>
              <a:ea typeface="Calibri"/>
              <a:cs typeface="Calibri"/>
              <a:sym typeface="Calibri"/>
            </a:endParaRPr>
          </a:p>
        </p:txBody>
      </p:sp>
      <p:sp>
        <p:nvSpPr>
          <p:cNvPr id="333" name="Google Shape;333;p10"/>
          <p:cNvSpPr/>
          <p:nvPr/>
        </p:nvSpPr>
        <p:spPr>
          <a:xfrm>
            <a:off x="228600" y="3191256"/>
            <a:ext cx="438912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p:nvPr/>
        </p:nvSpPr>
        <p:spPr>
          <a:xfrm>
            <a:off x="274320" y="3191256"/>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OS864</a:t>
            </a:r>
            <a:endParaRPr b="0" i="0" sz="1100" u="none" cap="none" strike="noStrike">
              <a:solidFill>
                <a:schemeClr val="dk1"/>
              </a:solidFill>
              <a:latin typeface="Calibri"/>
              <a:ea typeface="Calibri"/>
              <a:cs typeface="Calibri"/>
              <a:sym typeface="Calibri"/>
            </a:endParaRPr>
          </a:p>
        </p:txBody>
      </p:sp>
      <p:sp>
        <p:nvSpPr>
          <p:cNvPr id="335" name="Google Shape;335;p10"/>
          <p:cNvSpPr/>
          <p:nvPr/>
        </p:nvSpPr>
        <p:spPr>
          <a:xfrm>
            <a:off x="2468880" y="3191256"/>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P104</a:t>
            </a:r>
            <a:endParaRPr b="0" i="0" sz="1100" u="none" cap="none" strike="noStrike">
              <a:solidFill>
                <a:schemeClr val="dk1"/>
              </a:solidFill>
              <a:latin typeface="Calibri"/>
              <a:ea typeface="Calibri"/>
              <a:cs typeface="Calibri"/>
              <a:sym typeface="Calibri"/>
            </a:endParaRPr>
          </a:p>
        </p:txBody>
      </p:sp>
      <p:sp>
        <p:nvSpPr>
          <p:cNvPr id="336" name="Google Shape;336;p10"/>
          <p:cNvSpPr/>
          <p:nvPr/>
        </p:nvSpPr>
        <p:spPr>
          <a:xfrm>
            <a:off x="228600" y="3483864"/>
            <a:ext cx="438912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0"/>
          <p:cNvSpPr/>
          <p:nvPr/>
        </p:nvSpPr>
        <p:spPr>
          <a:xfrm>
            <a:off x="274320" y="3483864"/>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GB961</a:t>
            </a:r>
            <a:endParaRPr b="0" i="0" sz="1100" u="none" cap="none" strike="noStrike">
              <a:solidFill>
                <a:schemeClr val="dk1"/>
              </a:solidFill>
              <a:latin typeface="Calibri"/>
              <a:ea typeface="Calibri"/>
              <a:cs typeface="Calibri"/>
              <a:sym typeface="Calibri"/>
            </a:endParaRPr>
          </a:p>
        </p:txBody>
      </p:sp>
      <p:sp>
        <p:nvSpPr>
          <p:cNvPr id="338" name="Google Shape;338;p10"/>
          <p:cNvSpPr/>
          <p:nvPr/>
        </p:nvSpPr>
        <p:spPr>
          <a:xfrm>
            <a:off x="2468880" y="3483864"/>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P500</a:t>
            </a:r>
            <a:endParaRPr b="0" i="0" sz="1100" u="none" cap="none" strike="noStrike">
              <a:solidFill>
                <a:schemeClr val="dk1"/>
              </a:solidFill>
              <a:latin typeface="Calibri"/>
              <a:ea typeface="Calibri"/>
              <a:cs typeface="Calibri"/>
              <a:sym typeface="Calibri"/>
            </a:endParaRPr>
          </a:p>
        </p:txBody>
      </p:sp>
      <p:sp>
        <p:nvSpPr>
          <p:cNvPr id="339" name="Google Shape;339;p10"/>
          <p:cNvSpPr/>
          <p:nvPr/>
        </p:nvSpPr>
        <p:spPr>
          <a:xfrm>
            <a:off x="228600" y="3776472"/>
            <a:ext cx="438912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0"/>
          <p:cNvSpPr/>
          <p:nvPr/>
        </p:nvSpPr>
        <p:spPr>
          <a:xfrm>
            <a:off x="274320" y="3776472"/>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LG8903</a:t>
            </a:r>
            <a:endParaRPr b="0" i="0" sz="1100" u="none" cap="none" strike="noStrike">
              <a:solidFill>
                <a:schemeClr val="dk1"/>
              </a:solidFill>
              <a:latin typeface="Calibri"/>
              <a:ea typeface="Calibri"/>
              <a:cs typeface="Calibri"/>
              <a:sym typeface="Calibri"/>
            </a:endParaRPr>
          </a:p>
        </p:txBody>
      </p:sp>
      <p:sp>
        <p:nvSpPr>
          <p:cNvPr id="341" name="Google Shape;341;p10"/>
          <p:cNvSpPr/>
          <p:nvPr/>
        </p:nvSpPr>
        <p:spPr>
          <a:xfrm>
            <a:off x="2468880" y="3776472"/>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P201</a:t>
            </a:r>
            <a:endParaRPr b="0" i="0" sz="1100" u="none" cap="none" strike="noStrike">
              <a:solidFill>
                <a:schemeClr val="dk1"/>
              </a:solidFill>
              <a:latin typeface="Calibri"/>
              <a:ea typeface="Calibri"/>
              <a:cs typeface="Calibri"/>
              <a:sym typeface="Calibri"/>
            </a:endParaRPr>
          </a:p>
        </p:txBody>
      </p:sp>
      <p:sp>
        <p:nvSpPr>
          <p:cNvPr id="342" name="Google Shape;342;p10"/>
          <p:cNvSpPr/>
          <p:nvPr/>
        </p:nvSpPr>
        <p:spPr>
          <a:xfrm>
            <a:off x="5029200" y="2331720"/>
            <a:ext cx="6903720" cy="306324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0"/>
          <p:cNvSpPr/>
          <p:nvPr/>
        </p:nvSpPr>
        <p:spPr>
          <a:xfrm>
            <a:off x="5166360" y="2395728"/>
            <a:ext cx="65836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1" i="0" lang="en-US" sz="1300" u="none" cap="none" strike="noStrike">
                <a:solidFill>
                  <a:srgbClr val="0D0D0D"/>
                </a:solidFill>
                <a:latin typeface="Calibri"/>
                <a:ea typeface="Calibri"/>
                <a:cs typeface="Calibri"/>
                <a:sym typeface="Calibri"/>
              </a:rPr>
              <a:t>Can either field be the primary key alone?</a:t>
            </a:r>
            <a:endParaRPr b="0" i="0" sz="1300" u="none" cap="none" strike="noStrike">
              <a:solidFill>
                <a:schemeClr val="dk1"/>
              </a:solidFill>
              <a:latin typeface="Calibri"/>
              <a:ea typeface="Calibri"/>
              <a:cs typeface="Calibri"/>
              <a:sym typeface="Calibri"/>
            </a:endParaRPr>
          </a:p>
        </p:txBody>
      </p:sp>
      <p:sp>
        <p:nvSpPr>
          <p:cNvPr id="344" name="Google Shape;344;p10"/>
          <p:cNvSpPr/>
          <p:nvPr/>
        </p:nvSpPr>
        <p:spPr>
          <a:xfrm>
            <a:off x="5166360" y="2834640"/>
            <a:ext cx="6629400" cy="658368"/>
          </a:xfrm>
          <a:prstGeom prst="rect">
            <a:avLst/>
          </a:prstGeom>
          <a:solidFill>
            <a:srgbClr val="FDEDE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a:off x="5285232" y="2889504"/>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1" i="0" lang="en-US" sz="1250" u="none" cap="none" strike="noStrike">
                <a:solidFill>
                  <a:srgbClr val="0D0D0D"/>
                </a:solidFill>
                <a:latin typeface="Calibri"/>
                <a:ea typeface="Calibri"/>
                <a:cs typeface="Calibri"/>
                <a:sym typeface="Calibri"/>
              </a:rPr>
              <a:t>FlightID alone?</a:t>
            </a:r>
            <a:endParaRPr b="0" i="0" sz="1250" u="none" cap="none" strike="noStrike">
              <a:solidFill>
                <a:schemeClr val="dk1"/>
              </a:solidFill>
              <a:latin typeface="Calibri"/>
              <a:ea typeface="Calibri"/>
              <a:cs typeface="Calibri"/>
              <a:sym typeface="Calibri"/>
            </a:endParaRPr>
          </a:p>
        </p:txBody>
      </p:sp>
      <p:sp>
        <p:nvSpPr>
          <p:cNvPr id="346" name="Google Shape;346;p10"/>
          <p:cNvSpPr/>
          <p:nvPr/>
        </p:nvSpPr>
        <p:spPr>
          <a:xfrm>
            <a:off x="5285232" y="3163824"/>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250"/>
              <a:buFont typeface="Calibri"/>
              <a:buNone/>
            </a:pPr>
            <a:r>
              <a:rPr b="0" i="0" lang="en-US" sz="1250" u="none" cap="none" strike="noStrike">
                <a:solidFill>
                  <a:srgbClr val="C0392B"/>
                </a:solidFill>
                <a:latin typeface="Calibri"/>
                <a:ea typeface="Calibri"/>
                <a:cs typeface="Calibri"/>
                <a:sym typeface="Calibri"/>
              </a:rPr>
              <a:t>LG8903 appears twice — NOT unique</a:t>
            </a:r>
            <a:endParaRPr b="0" i="0" sz="1250" u="none" cap="none" strike="noStrike">
              <a:solidFill>
                <a:schemeClr val="dk1"/>
              </a:solidFill>
              <a:latin typeface="Calibri"/>
              <a:ea typeface="Calibri"/>
              <a:cs typeface="Calibri"/>
              <a:sym typeface="Calibri"/>
            </a:endParaRPr>
          </a:p>
        </p:txBody>
      </p:sp>
      <p:sp>
        <p:nvSpPr>
          <p:cNvPr id="347" name="Google Shape;347;p10"/>
          <p:cNvSpPr/>
          <p:nvPr/>
        </p:nvSpPr>
        <p:spPr>
          <a:xfrm>
            <a:off x="5166360" y="3639312"/>
            <a:ext cx="6629400" cy="658368"/>
          </a:xfrm>
          <a:prstGeom prst="rect">
            <a:avLst/>
          </a:prstGeom>
          <a:solidFill>
            <a:srgbClr val="FDEDE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0"/>
          <p:cNvSpPr/>
          <p:nvPr/>
        </p:nvSpPr>
        <p:spPr>
          <a:xfrm>
            <a:off x="5285232" y="3694176"/>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1" i="0" lang="en-US" sz="1250" u="none" cap="none" strike="noStrike">
                <a:solidFill>
                  <a:srgbClr val="0D0D0D"/>
                </a:solidFill>
                <a:latin typeface="Calibri"/>
                <a:ea typeface="Calibri"/>
                <a:cs typeface="Calibri"/>
                <a:sym typeface="Calibri"/>
              </a:rPr>
              <a:t>PilotID alone?</a:t>
            </a:r>
            <a:endParaRPr b="0" i="0" sz="1250" u="none" cap="none" strike="noStrike">
              <a:solidFill>
                <a:schemeClr val="dk1"/>
              </a:solidFill>
              <a:latin typeface="Calibri"/>
              <a:ea typeface="Calibri"/>
              <a:cs typeface="Calibri"/>
              <a:sym typeface="Calibri"/>
            </a:endParaRPr>
          </a:p>
        </p:txBody>
      </p:sp>
      <p:sp>
        <p:nvSpPr>
          <p:cNvPr id="349" name="Google Shape;349;p10"/>
          <p:cNvSpPr/>
          <p:nvPr/>
        </p:nvSpPr>
        <p:spPr>
          <a:xfrm>
            <a:off x="5285232" y="3968496"/>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250"/>
              <a:buFont typeface="Calibri"/>
              <a:buNone/>
            </a:pPr>
            <a:r>
              <a:rPr b="0" i="0" lang="en-US" sz="1250" u="none" cap="none" strike="noStrike">
                <a:solidFill>
                  <a:srgbClr val="C0392B"/>
                </a:solidFill>
                <a:latin typeface="Calibri"/>
                <a:ea typeface="Calibri"/>
                <a:cs typeface="Calibri"/>
                <a:sym typeface="Calibri"/>
              </a:rPr>
              <a:t>P500 appears twice — NOT unique</a:t>
            </a:r>
            <a:endParaRPr b="0" i="0" sz="1250" u="none" cap="none" strike="noStrike">
              <a:solidFill>
                <a:schemeClr val="dk1"/>
              </a:solidFill>
              <a:latin typeface="Calibri"/>
              <a:ea typeface="Calibri"/>
              <a:cs typeface="Calibri"/>
              <a:sym typeface="Calibri"/>
            </a:endParaRPr>
          </a:p>
        </p:txBody>
      </p:sp>
      <p:sp>
        <p:nvSpPr>
          <p:cNvPr id="350" name="Google Shape;350;p10"/>
          <p:cNvSpPr/>
          <p:nvPr/>
        </p:nvSpPr>
        <p:spPr>
          <a:xfrm>
            <a:off x="5166360" y="4443984"/>
            <a:ext cx="6629400" cy="658368"/>
          </a:xfrm>
          <a:prstGeom prst="rect">
            <a:avLst/>
          </a:prstGeom>
          <a:solidFill>
            <a:srgbClr val="E9F7EF"/>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0"/>
          <p:cNvSpPr/>
          <p:nvPr/>
        </p:nvSpPr>
        <p:spPr>
          <a:xfrm>
            <a:off x="5285232" y="4498848"/>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1" i="0" lang="en-US" sz="1250" u="none" cap="none" strike="noStrike">
                <a:solidFill>
                  <a:srgbClr val="0D0D0D"/>
                </a:solidFill>
                <a:latin typeface="Calibri"/>
                <a:ea typeface="Calibri"/>
                <a:cs typeface="Calibri"/>
                <a:sym typeface="Calibri"/>
              </a:rPr>
              <a:t>FlightID + PilotID together?</a:t>
            </a:r>
            <a:endParaRPr b="0" i="0" sz="1250" u="none" cap="none" strike="noStrike">
              <a:solidFill>
                <a:schemeClr val="dk1"/>
              </a:solidFill>
              <a:latin typeface="Calibri"/>
              <a:ea typeface="Calibri"/>
              <a:cs typeface="Calibri"/>
              <a:sym typeface="Calibri"/>
            </a:endParaRPr>
          </a:p>
        </p:txBody>
      </p:sp>
      <p:sp>
        <p:nvSpPr>
          <p:cNvPr id="352" name="Google Shape;352;p10"/>
          <p:cNvSpPr/>
          <p:nvPr/>
        </p:nvSpPr>
        <p:spPr>
          <a:xfrm>
            <a:off x="5285232" y="4773168"/>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5C2A"/>
              </a:buClr>
              <a:buSzPts val="1250"/>
              <a:buFont typeface="Calibri"/>
              <a:buNone/>
            </a:pPr>
            <a:r>
              <a:rPr b="0" i="0" lang="en-US" sz="1250" u="none" cap="none" strike="noStrike">
                <a:solidFill>
                  <a:srgbClr val="1A5C2A"/>
                </a:solidFill>
                <a:latin typeface="Calibri"/>
                <a:ea typeface="Calibri"/>
                <a:cs typeface="Calibri"/>
                <a:sym typeface="Calibri"/>
              </a:rPr>
              <a:t>Every combination is unique → Composite Key!</a:t>
            </a:r>
            <a:endParaRPr b="0" i="0" sz="1250" u="none" cap="none" strike="noStrike">
              <a:solidFill>
                <a:schemeClr val="dk1"/>
              </a:solidFill>
              <a:latin typeface="Calibri"/>
              <a:ea typeface="Calibri"/>
              <a:cs typeface="Calibri"/>
              <a:sym typeface="Calibri"/>
            </a:endParaRPr>
          </a:p>
        </p:txBody>
      </p:sp>
      <p:sp>
        <p:nvSpPr>
          <p:cNvPr id="353" name="Google Shape;353;p10"/>
          <p:cNvSpPr/>
          <p:nvPr/>
        </p:nvSpPr>
        <p:spPr>
          <a:xfrm>
            <a:off x="228600" y="5349240"/>
            <a:ext cx="11704320" cy="566928"/>
          </a:xfrm>
          <a:prstGeom prst="rect">
            <a:avLst/>
          </a:prstGeom>
          <a:solidFill>
            <a:srgbClr val="FFF9C4"/>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0"/>
          <p:cNvSpPr/>
          <p:nvPr/>
        </p:nvSpPr>
        <p:spPr>
          <a:xfrm>
            <a:off x="365760" y="5394960"/>
            <a:ext cx="114300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800"/>
              </a:buClr>
              <a:buSzPts val="1200"/>
              <a:buFont typeface="Calibri"/>
              <a:buNone/>
            </a:pPr>
            <a:r>
              <a:rPr b="0" i="1" lang="en-US" sz="1200" u="none" cap="none" strike="noStrike">
                <a:solidFill>
                  <a:srgbClr val="7B5800"/>
                </a:solidFill>
                <a:latin typeface="Calibri"/>
                <a:ea typeface="Calibri"/>
                <a:cs typeface="Calibri"/>
                <a:sym typeface="Calibri"/>
              </a:rPr>
              <a:t>Memory aid: Cinema seat — Row J, Seat 12. Row J alone or Seat 12 alone appears in every row. But J-12 together identifies exactly one seat.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11"/>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Features: Relationships</a:t>
            </a:r>
            <a:endParaRPr b="0" i="0" sz="2400" u="none" cap="none" strike="noStrike">
              <a:solidFill>
                <a:schemeClr val="dk1"/>
              </a:solidFill>
              <a:latin typeface="Calibri"/>
              <a:ea typeface="Calibri"/>
              <a:cs typeface="Calibri"/>
              <a:sym typeface="Calibri"/>
            </a:endParaRPr>
          </a:p>
        </p:txBody>
      </p:sp>
      <p:sp>
        <p:nvSpPr>
          <p:cNvPr id="362" name="Google Shape;362;p11"/>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364" name="Google Shape;364;p11"/>
          <p:cNvSpPr/>
          <p:nvPr/>
        </p:nvSpPr>
        <p:spPr>
          <a:xfrm>
            <a:off x="228600" y="914400"/>
            <a:ext cx="11704320" cy="621792"/>
          </a:xfrm>
          <a:prstGeom prst="rect">
            <a:avLst/>
          </a:prstGeom>
          <a:solidFill>
            <a:srgbClr val="E8F4FD"/>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
          <p:cNvSpPr/>
          <p:nvPr/>
        </p:nvSpPr>
        <p:spPr>
          <a:xfrm>
            <a:off x="365760" y="960120"/>
            <a:ext cx="11430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A relationship is a logical association between two or more tables, where foreign keys in one table refer to primary keys in another. They enable databases to divide and store data separately while keeping it connected.</a:t>
            </a:r>
            <a:endParaRPr b="0" i="0" sz="1300" u="none" cap="none" strike="noStrike">
              <a:solidFill>
                <a:schemeClr val="dk1"/>
              </a:solidFill>
              <a:latin typeface="Calibri"/>
              <a:ea typeface="Calibri"/>
              <a:cs typeface="Calibri"/>
              <a:sym typeface="Calibri"/>
            </a:endParaRPr>
          </a:p>
        </p:txBody>
      </p:sp>
      <p:sp>
        <p:nvSpPr>
          <p:cNvPr id="366" name="Google Shape;366;p11"/>
          <p:cNvSpPr/>
          <p:nvPr/>
        </p:nvSpPr>
        <p:spPr>
          <a:xfrm>
            <a:off x="228600" y="1664208"/>
            <a:ext cx="10972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1" i="0" lang="en-US" sz="1300" u="none" cap="none" strike="noStrike">
                <a:solidFill>
                  <a:srgbClr val="0D0D0D"/>
                </a:solidFill>
                <a:latin typeface="Calibri"/>
                <a:ea typeface="Calibri"/>
                <a:cs typeface="Calibri"/>
                <a:sym typeface="Calibri"/>
              </a:rPr>
              <a:t>There are four types of relationship:</a:t>
            </a:r>
            <a:endParaRPr b="0" i="0" sz="1300" u="none" cap="none" strike="noStrike">
              <a:solidFill>
                <a:schemeClr val="dk1"/>
              </a:solidFill>
              <a:latin typeface="Calibri"/>
              <a:ea typeface="Calibri"/>
              <a:cs typeface="Calibri"/>
              <a:sym typeface="Calibri"/>
            </a:endParaRPr>
          </a:p>
        </p:txBody>
      </p:sp>
      <p:sp>
        <p:nvSpPr>
          <p:cNvPr id="367" name="Google Shape;367;p11"/>
          <p:cNvSpPr/>
          <p:nvPr/>
        </p:nvSpPr>
        <p:spPr>
          <a:xfrm>
            <a:off x="228600" y="2084832"/>
            <a:ext cx="11704320" cy="914400"/>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228600" y="2084832"/>
            <a:ext cx="2331720" cy="914400"/>
          </a:xfrm>
          <a:prstGeom prst="rect">
            <a:avLst/>
          </a:prstGeom>
          <a:solidFill>
            <a:srgbClr val="2980B9"/>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a:off x="274320" y="2267712"/>
            <a:ext cx="22402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One-to-One (1:1)</a:t>
            </a:r>
            <a:endParaRPr b="0" i="0" sz="1300" u="none" cap="none" strike="noStrike">
              <a:solidFill>
                <a:schemeClr val="dk1"/>
              </a:solidFill>
              <a:latin typeface="Calibri"/>
              <a:ea typeface="Calibri"/>
              <a:cs typeface="Calibri"/>
              <a:sym typeface="Calibri"/>
            </a:endParaRPr>
          </a:p>
        </p:txBody>
      </p:sp>
      <p:sp>
        <p:nvSpPr>
          <p:cNvPr id="370" name="Google Shape;370;p11"/>
          <p:cNvSpPr/>
          <p:nvPr/>
        </p:nvSpPr>
        <p:spPr>
          <a:xfrm>
            <a:off x="2743200" y="2130552"/>
            <a:ext cx="5029200" cy="4389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One record in table A is associated with exactly one record in table B.</a:t>
            </a:r>
            <a:endParaRPr b="0" i="0" sz="1200" u="none" cap="none" strike="noStrike">
              <a:solidFill>
                <a:schemeClr val="dk1"/>
              </a:solidFill>
              <a:latin typeface="Calibri"/>
              <a:ea typeface="Calibri"/>
              <a:cs typeface="Calibri"/>
              <a:sym typeface="Calibri"/>
            </a:endParaRPr>
          </a:p>
        </p:txBody>
      </p:sp>
      <p:sp>
        <p:nvSpPr>
          <p:cNvPr id="371" name="Google Shape;371;p11"/>
          <p:cNvSpPr/>
          <p:nvPr/>
        </p:nvSpPr>
        <p:spPr>
          <a:xfrm>
            <a:off x="2743200" y="2587752"/>
            <a:ext cx="90525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150"/>
              <a:buFont typeface="Calibri"/>
              <a:buNone/>
            </a:pPr>
            <a:r>
              <a:rPr b="0" i="1" lang="en-US" sz="1150" u="none" cap="none" strike="noStrike">
                <a:solidFill>
                  <a:srgbClr val="666666"/>
                </a:solidFill>
                <a:latin typeface="Calibri"/>
                <a:ea typeface="Calibri"/>
                <a:cs typeface="Calibri"/>
                <a:sym typeface="Calibri"/>
              </a:rPr>
              <a:t>e.g. Each staff member has one staff ID card. Each country has one capital city.</a:t>
            </a:r>
            <a:endParaRPr b="0" i="0" sz="1150" u="none" cap="none" strike="noStrike">
              <a:solidFill>
                <a:schemeClr val="dk1"/>
              </a:solidFill>
              <a:latin typeface="Calibri"/>
              <a:ea typeface="Calibri"/>
              <a:cs typeface="Calibri"/>
              <a:sym typeface="Calibri"/>
            </a:endParaRPr>
          </a:p>
        </p:txBody>
      </p:sp>
      <p:sp>
        <p:nvSpPr>
          <p:cNvPr id="372" name="Google Shape;372;p11"/>
          <p:cNvSpPr/>
          <p:nvPr/>
        </p:nvSpPr>
        <p:spPr>
          <a:xfrm>
            <a:off x="228600" y="3136392"/>
            <a:ext cx="11704320" cy="914400"/>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1"/>
          <p:cNvSpPr/>
          <p:nvPr/>
        </p:nvSpPr>
        <p:spPr>
          <a:xfrm>
            <a:off x="228600" y="3136392"/>
            <a:ext cx="2331720" cy="914400"/>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274320" y="3319272"/>
            <a:ext cx="22402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One-to-Many (1:m)</a:t>
            </a:r>
            <a:endParaRPr b="0" i="0" sz="1300" u="none" cap="none" strike="noStrike">
              <a:solidFill>
                <a:schemeClr val="dk1"/>
              </a:solidFill>
              <a:latin typeface="Calibri"/>
              <a:ea typeface="Calibri"/>
              <a:cs typeface="Calibri"/>
              <a:sym typeface="Calibri"/>
            </a:endParaRPr>
          </a:p>
        </p:txBody>
      </p:sp>
      <p:sp>
        <p:nvSpPr>
          <p:cNvPr id="375" name="Google Shape;375;p11"/>
          <p:cNvSpPr/>
          <p:nvPr/>
        </p:nvSpPr>
        <p:spPr>
          <a:xfrm>
            <a:off x="2743200" y="3182112"/>
            <a:ext cx="5029200" cy="4389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One record in table A is associated with one or more records in table B.</a:t>
            </a:r>
            <a:endParaRPr b="0" i="0" sz="1200" u="none" cap="none" strike="noStrike">
              <a:solidFill>
                <a:schemeClr val="dk1"/>
              </a:solidFill>
              <a:latin typeface="Calibri"/>
              <a:ea typeface="Calibri"/>
              <a:cs typeface="Calibri"/>
              <a:sym typeface="Calibri"/>
            </a:endParaRPr>
          </a:p>
        </p:txBody>
      </p:sp>
      <p:sp>
        <p:nvSpPr>
          <p:cNvPr id="376" name="Google Shape;376;p11"/>
          <p:cNvSpPr/>
          <p:nvPr/>
        </p:nvSpPr>
        <p:spPr>
          <a:xfrm>
            <a:off x="2743200" y="3639312"/>
            <a:ext cx="90525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150"/>
              <a:buFont typeface="Calibri"/>
              <a:buNone/>
            </a:pPr>
            <a:r>
              <a:rPr b="0" i="1" lang="en-US" sz="1150" u="none" cap="none" strike="noStrike">
                <a:solidFill>
                  <a:srgbClr val="666666"/>
                </a:solidFill>
                <a:latin typeface="Calibri"/>
                <a:ea typeface="Calibri"/>
                <a:cs typeface="Calibri"/>
                <a:sym typeface="Calibri"/>
              </a:rPr>
              <a:t>e.g. One teacher teaches many subjects. One person owns many bank accounts. One tourist visits many countries.</a:t>
            </a:r>
            <a:endParaRPr b="0" i="0" sz="1150" u="none" cap="none" strike="noStrike">
              <a:solidFill>
                <a:schemeClr val="dk1"/>
              </a:solidFill>
              <a:latin typeface="Calibri"/>
              <a:ea typeface="Calibri"/>
              <a:cs typeface="Calibri"/>
              <a:sym typeface="Calibri"/>
            </a:endParaRPr>
          </a:p>
        </p:txBody>
      </p:sp>
      <p:sp>
        <p:nvSpPr>
          <p:cNvPr id="377" name="Google Shape;377;p11"/>
          <p:cNvSpPr/>
          <p:nvPr/>
        </p:nvSpPr>
        <p:spPr>
          <a:xfrm>
            <a:off x="228600" y="4187952"/>
            <a:ext cx="11704320" cy="914400"/>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228600" y="4187952"/>
            <a:ext cx="2331720" cy="91440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1"/>
          <p:cNvSpPr/>
          <p:nvPr/>
        </p:nvSpPr>
        <p:spPr>
          <a:xfrm>
            <a:off x="274320" y="4370832"/>
            <a:ext cx="22402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Many-to-One (m:1)</a:t>
            </a:r>
            <a:endParaRPr b="0" i="0" sz="1300" u="none" cap="none" strike="noStrike">
              <a:solidFill>
                <a:schemeClr val="dk1"/>
              </a:solidFill>
              <a:latin typeface="Calibri"/>
              <a:ea typeface="Calibri"/>
              <a:cs typeface="Calibri"/>
              <a:sym typeface="Calibri"/>
            </a:endParaRPr>
          </a:p>
        </p:txBody>
      </p:sp>
      <p:sp>
        <p:nvSpPr>
          <p:cNvPr id="380" name="Google Shape;380;p11"/>
          <p:cNvSpPr/>
          <p:nvPr/>
        </p:nvSpPr>
        <p:spPr>
          <a:xfrm>
            <a:off x="2743200" y="4233672"/>
            <a:ext cx="5029200" cy="4389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Many records in table A are associated with one record in table B (directionality reversed from 1:m).</a:t>
            </a:r>
            <a:endParaRPr b="0" i="0" sz="1200" u="none" cap="none" strike="noStrike">
              <a:solidFill>
                <a:schemeClr val="dk1"/>
              </a:solidFill>
              <a:latin typeface="Calibri"/>
              <a:ea typeface="Calibri"/>
              <a:cs typeface="Calibri"/>
              <a:sym typeface="Calibri"/>
            </a:endParaRPr>
          </a:p>
        </p:txBody>
      </p:sp>
      <p:sp>
        <p:nvSpPr>
          <p:cNvPr id="381" name="Google Shape;381;p11"/>
          <p:cNvSpPr/>
          <p:nvPr/>
        </p:nvSpPr>
        <p:spPr>
          <a:xfrm>
            <a:off x="2743200" y="4690872"/>
            <a:ext cx="90525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150"/>
              <a:buFont typeface="Calibri"/>
              <a:buNone/>
            </a:pPr>
            <a:r>
              <a:rPr b="0" i="1" lang="en-US" sz="1150" u="none" cap="none" strike="noStrike">
                <a:solidFill>
                  <a:srgbClr val="666666"/>
                </a:solidFill>
                <a:latin typeface="Calibri"/>
                <a:ea typeface="Calibri"/>
                <a:cs typeface="Calibri"/>
                <a:sym typeface="Calibri"/>
              </a:rPr>
              <a:t>e.g. Many students enrol in one course. Many galaxies are in the universe. Many people work for one company.</a:t>
            </a:r>
            <a:endParaRPr b="0" i="0" sz="1150" u="none" cap="none" strike="noStrike">
              <a:solidFill>
                <a:schemeClr val="dk1"/>
              </a:solidFill>
              <a:latin typeface="Calibri"/>
              <a:ea typeface="Calibri"/>
              <a:cs typeface="Calibri"/>
              <a:sym typeface="Calibri"/>
            </a:endParaRPr>
          </a:p>
        </p:txBody>
      </p:sp>
      <p:sp>
        <p:nvSpPr>
          <p:cNvPr id="382" name="Google Shape;382;p11"/>
          <p:cNvSpPr/>
          <p:nvPr/>
        </p:nvSpPr>
        <p:spPr>
          <a:xfrm>
            <a:off x="228600" y="5239512"/>
            <a:ext cx="11704320" cy="914400"/>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1"/>
          <p:cNvSpPr/>
          <p:nvPr/>
        </p:nvSpPr>
        <p:spPr>
          <a:xfrm>
            <a:off x="228600" y="5239512"/>
            <a:ext cx="2331720" cy="914400"/>
          </a:xfrm>
          <a:prstGeom prst="rect">
            <a:avLst/>
          </a:prstGeom>
          <a:solidFill>
            <a:srgbClr val="8E44AD"/>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274320" y="5422392"/>
            <a:ext cx="22402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Many-to-Many (m:m)</a:t>
            </a:r>
            <a:endParaRPr b="0" i="0" sz="1300" u="none" cap="none" strike="noStrike">
              <a:solidFill>
                <a:schemeClr val="dk1"/>
              </a:solidFill>
              <a:latin typeface="Calibri"/>
              <a:ea typeface="Calibri"/>
              <a:cs typeface="Calibri"/>
              <a:sym typeface="Calibri"/>
            </a:endParaRPr>
          </a:p>
        </p:txBody>
      </p:sp>
      <p:sp>
        <p:nvSpPr>
          <p:cNvPr id="385" name="Google Shape;385;p11"/>
          <p:cNvSpPr/>
          <p:nvPr/>
        </p:nvSpPr>
        <p:spPr>
          <a:xfrm>
            <a:off x="2743200" y="5285232"/>
            <a:ext cx="5029200" cy="4389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00"/>
              <a:buFont typeface="Calibri"/>
              <a:buNone/>
            </a:pPr>
            <a:r>
              <a:rPr b="0" i="0" lang="en-US" sz="1200" u="none" cap="none" strike="noStrike">
                <a:solidFill>
                  <a:srgbClr val="0D0D0D"/>
                </a:solidFill>
                <a:latin typeface="Calibri"/>
                <a:ea typeface="Calibri"/>
                <a:cs typeface="Calibri"/>
                <a:sym typeface="Calibri"/>
              </a:rPr>
              <a:t>Multiple records in table A relate to multiple records in table B. Requires a junction/linking table.</a:t>
            </a:r>
            <a:endParaRPr b="0" i="0" sz="1200" u="none" cap="none" strike="noStrike">
              <a:solidFill>
                <a:schemeClr val="dk1"/>
              </a:solidFill>
              <a:latin typeface="Calibri"/>
              <a:ea typeface="Calibri"/>
              <a:cs typeface="Calibri"/>
              <a:sym typeface="Calibri"/>
            </a:endParaRPr>
          </a:p>
        </p:txBody>
      </p:sp>
      <p:sp>
        <p:nvSpPr>
          <p:cNvPr id="386" name="Google Shape;386;p11"/>
          <p:cNvSpPr/>
          <p:nvPr/>
        </p:nvSpPr>
        <p:spPr>
          <a:xfrm>
            <a:off x="2743200" y="5742432"/>
            <a:ext cx="90525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150"/>
              <a:buFont typeface="Calibri"/>
              <a:buNone/>
            </a:pPr>
            <a:r>
              <a:rPr b="0" i="1" lang="en-US" sz="1150" u="none" cap="none" strike="noStrike">
                <a:solidFill>
                  <a:srgbClr val="666666"/>
                </a:solidFill>
                <a:latin typeface="Calibri"/>
                <a:ea typeface="Calibri"/>
                <a:cs typeface="Calibri"/>
                <a:sym typeface="Calibri"/>
              </a:rPr>
              <a:t>e.g. Many customers purchase many products. Many actors act in many movies.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12"/>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2"/>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Many-to-Many Relationships — Junction Tables</a:t>
            </a:r>
            <a:endParaRPr b="0" i="0" sz="2400" u="none" cap="none" strike="noStrike">
              <a:solidFill>
                <a:schemeClr val="dk1"/>
              </a:solidFill>
              <a:latin typeface="Calibri"/>
              <a:ea typeface="Calibri"/>
              <a:cs typeface="Calibri"/>
              <a:sym typeface="Calibri"/>
            </a:endParaRPr>
          </a:p>
        </p:txBody>
      </p:sp>
      <p:sp>
        <p:nvSpPr>
          <p:cNvPr id="394" name="Google Shape;394;p12"/>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396" name="Google Shape;396;p12"/>
          <p:cNvSpPr/>
          <p:nvPr/>
        </p:nvSpPr>
        <p:spPr>
          <a:xfrm>
            <a:off x="228600" y="914400"/>
            <a:ext cx="117043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A many-to-many (m:m) relationship cannot be directly represented in a relational database. A foreign key can only hold one value, so it cannot reference many records at once. The solution: introduce a junction (linking) table.</a:t>
            </a:r>
            <a:endParaRPr b="0" i="0" sz="1300" u="none" cap="none" strike="noStrike">
              <a:solidFill>
                <a:schemeClr val="dk1"/>
              </a:solidFill>
              <a:latin typeface="Calibri"/>
              <a:ea typeface="Calibri"/>
              <a:cs typeface="Calibri"/>
              <a:sym typeface="Calibri"/>
            </a:endParaRPr>
          </a:p>
        </p:txBody>
      </p:sp>
      <p:sp>
        <p:nvSpPr>
          <p:cNvPr id="397" name="Google Shape;397;p12"/>
          <p:cNvSpPr/>
          <p:nvPr/>
        </p:nvSpPr>
        <p:spPr>
          <a:xfrm>
            <a:off x="228600" y="187452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200"/>
              <a:buFont typeface="Calibri"/>
              <a:buNone/>
            </a:pPr>
            <a:r>
              <a:rPr b="1" i="0" lang="en-US" sz="1200" u="none" cap="none" strike="noStrike">
                <a:solidFill>
                  <a:srgbClr val="1A3A5C"/>
                </a:solidFill>
                <a:latin typeface="Calibri"/>
                <a:ea typeface="Calibri"/>
                <a:cs typeface="Calibri"/>
                <a:sym typeface="Calibri"/>
              </a:rPr>
              <a:t>FLIGHTS</a:t>
            </a:r>
            <a:endParaRPr b="0" i="0" sz="1200" u="none" cap="none" strike="noStrike">
              <a:solidFill>
                <a:schemeClr val="dk1"/>
              </a:solidFill>
              <a:latin typeface="Calibri"/>
              <a:ea typeface="Calibri"/>
              <a:cs typeface="Calibri"/>
              <a:sym typeface="Calibri"/>
            </a:endParaRPr>
          </a:p>
        </p:txBody>
      </p:sp>
      <p:sp>
        <p:nvSpPr>
          <p:cNvPr id="398" name="Google Shape;398;p12"/>
          <p:cNvSpPr/>
          <p:nvPr/>
        </p:nvSpPr>
        <p:spPr>
          <a:xfrm>
            <a:off x="228600" y="2148840"/>
            <a:ext cx="4572000" cy="292608"/>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2"/>
          <p:cNvSpPr/>
          <p:nvPr/>
        </p:nvSpPr>
        <p:spPr>
          <a:xfrm>
            <a:off x="274320" y="2148840"/>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FlightID ★ PK</a:t>
            </a:r>
            <a:endParaRPr b="0" i="0" sz="1100" u="none" cap="none" strike="noStrike">
              <a:solidFill>
                <a:schemeClr val="dk1"/>
              </a:solidFill>
              <a:latin typeface="Calibri"/>
              <a:ea typeface="Calibri"/>
              <a:cs typeface="Calibri"/>
              <a:sym typeface="Calibri"/>
            </a:endParaRPr>
          </a:p>
        </p:txBody>
      </p:sp>
      <p:sp>
        <p:nvSpPr>
          <p:cNvPr id="400" name="Google Shape;400;p12"/>
          <p:cNvSpPr/>
          <p:nvPr/>
        </p:nvSpPr>
        <p:spPr>
          <a:xfrm>
            <a:off x="1798320" y="2148840"/>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Departure</a:t>
            </a:r>
            <a:endParaRPr b="0" i="0" sz="1100" u="none" cap="none" strike="noStrike">
              <a:solidFill>
                <a:schemeClr val="dk1"/>
              </a:solidFill>
              <a:latin typeface="Calibri"/>
              <a:ea typeface="Calibri"/>
              <a:cs typeface="Calibri"/>
              <a:sym typeface="Calibri"/>
            </a:endParaRPr>
          </a:p>
        </p:txBody>
      </p:sp>
      <p:sp>
        <p:nvSpPr>
          <p:cNvPr id="401" name="Google Shape;401;p12"/>
          <p:cNvSpPr/>
          <p:nvPr/>
        </p:nvSpPr>
        <p:spPr>
          <a:xfrm>
            <a:off x="3322320" y="2148840"/>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Destination</a:t>
            </a:r>
            <a:endParaRPr b="0" i="0" sz="1100" u="none" cap="none" strike="noStrike">
              <a:solidFill>
                <a:schemeClr val="dk1"/>
              </a:solidFill>
              <a:latin typeface="Calibri"/>
              <a:ea typeface="Calibri"/>
              <a:cs typeface="Calibri"/>
              <a:sym typeface="Calibri"/>
            </a:endParaRPr>
          </a:p>
        </p:txBody>
      </p:sp>
      <p:sp>
        <p:nvSpPr>
          <p:cNvPr id="402" name="Google Shape;402;p12"/>
          <p:cNvSpPr/>
          <p:nvPr/>
        </p:nvSpPr>
        <p:spPr>
          <a:xfrm>
            <a:off x="228600" y="2441448"/>
            <a:ext cx="457200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2"/>
          <p:cNvSpPr/>
          <p:nvPr/>
        </p:nvSpPr>
        <p:spPr>
          <a:xfrm>
            <a:off x="274320" y="2441448"/>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LG8903</a:t>
            </a:r>
            <a:endParaRPr b="0" i="0" sz="1100" u="none" cap="none" strike="noStrike">
              <a:solidFill>
                <a:schemeClr val="dk1"/>
              </a:solidFill>
              <a:latin typeface="Calibri"/>
              <a:ea typeface="Calibri"/>
              <a:cs typeface="Calibri"/>
              <a:sym typeface="Calibri"/>
            </a:endParaRPr>
          </a:p>
        </p:txBody>
      </p:sp>
      <p:sp>
        <p:nvSpPr>
          <p:cNvPr id="404" name="Google Shape;404;p12"/>
          <p:cNvSpPr/>
          <p:nvPr/>
        </p:nvSpPr>
        <p:spPr>
          <a:xfrm>
            <a:off x="1798320" y="2441448"/>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LUX</a:t>
            </a:r>
            <a:endParaRPr b="0" i="0" sz="1100" u="none" cap="none" strike="noStrike">
              <a:solidFill>
                <a:schemeClr val="dk1"/>
              </a:solidFill>
              <a:latin typeface="Calibri"/>
              <a:ea typeface="Calibri"/>
              <a:cs typeface="Calibri"/>
              <a:sym typeface="Calibri"/>
            </a:endParaRPr>
          </a:p>
        </p:txBody>
      </p:sp>
      <p:sp>
        <p:nvSpPr>
          <p:cNvPr id="405" name="Google Shape;405;p12"/>
          <p:cNvSpPr/>
          <p:nvPr/>
        </p:nvSpPr>
        <p:spPr>
          <a:xfrm>
            <a:off x="3322320" y="2441448"/>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OTP</a:t>
            </a:r>
            <a:endParaRPr b="0" i="0" sz="1100" u="none" cap="none" strike="noStrike">
              <a:solidFill>
                <a:schemeClr val="dk1"/>
              </a:solidFill>
              <a:latin typeface="Calibri"/>
              <a:ea typeface="Calibri"/>
              <a:cs typeface="Calibri"/>
              <a:sym typeface="Calibri"/>
            </a:endParaRPr>
          </a:p>
        </p:txBody>
      </p:sp>
      <p:sp>
        <p:nvSpPr>
          <p:cNvPr id="406" name="Google Shape;406;p12"/>
          <p:cNvSpPr/>
          <p:nvPr/>
        </p:nvSpPr>
        <p:spPr>
          <a:xfrm>
            <a:off x="228600" y="2734056"/>
            <a:ext cx="457200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2"/>
          <p:cNvSpPr/>
          <p:nvPr/>
        </p:nvSpPr>
        <p:spPr>
          <a:xfrm>
            <a:off x="274320" y="2734056"/>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OS864</a:t>
            </a:r>
            <a:endParaRPr b="0" i="0" sz="1100" u="none" cap="none" strike="noStrike">
              <a:solidFill>
                <a:schemeClr val="dk1"/>
              </a:solidFill>
              <a:latin typeface="Calibri"/>
              <a:ea typeface="Calibri"/>
              <a:cs typeface="Calibri"/>
              <a:sym typeface="Calibri"/>
            </a:endParaRPr>
          </a:p>
        </p:txBody>
      </p:sp>
      <p:sp>
        <p:nvSpPr>
          <p:cNvPr id="408" name="Google Shape;408;p12"/>
          <p:cNvSpPr/>
          <p:nvPr/>
        </p:nvSpPr>
        <p:spPr>
          <a:xfrm>
            <a:off x="1798320" y="2734056"/>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CAI</a:t>
            </a:r>
            <a:endParaRPr b="0" i="0" sz="1100" u="none" cap="none" strike="noStrike">
              <a:solidFill>
                <a:schemeClr val="dk1"/>
              </a:solidFill>
              <a:latin typeface="Calibri"/>
              <a:ea typeface="Calibri"/>
              <a:cs typeface="Calibri"/>
              <a:sym typeface="Calibri"/>
            </a:endParaRPr>
          </a:p>
        </p:txBody>
      </p:sp>
      <p:sp>
        <p:nvSpPr>
          <p:cNvPr id="409" name="Google Shape;409;p12"/>
          <p:cNvSpPr/>
          <p:nvPr/>
        </p:nvSpPr>
        <p:spPr>
          <a:xfrm>
            <a:off x="3322320" y="2734056"/>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VIE</a:t>
            </a:r>
            <a:endParaRPr b="0" i="0" sz="1100" u="none" cap="none" strike="noStrike">
              <a:solidFill>
                <a:schemeClr val="dk1"/>
              </a:solidFill>
              <a:latin typeface="Calibri"/>
              <a:ea typeface="Calibri"/>
              <a:cs typeface="Calibri"/>
              <a:sym typeface="Calibri"/>
            </a:endParaRPr>
          </a:p>
        </p:txBody>
      </p:sp>
      <p:sp>
        <p:nvSpPr>
          <p:cNvPr id="410" name="Google Shape;410;p12"/>
          <p:cNvSpPr/>
          <p:nvPr/>
        </p:nvSpPr>
        <p:spPr>
          <a:xfrm>
            <a:off x="228600" y="3026664"/>
            <a:ext cx="457200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2"/>
          <p:cNvSpPr/>
          <p:nvPr/>
        </p:nvSpPr>
        <p:spPr>
          <a:xfrm>
            <a:off x="274320" y="3026664"/>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GB961</a:t>
            </a:r>
            <a:endParaRPr b="0" i="0" sz="1100" u="none" cap="none" strike="noStrike">
              <a:solidFill>
                <a:schemeClr val="dk1"/>
              </a:solidFill>
              <a:latin typeface="Calibri"/>
              <a:ea typeface="Calibri"/>
              <a:cs typeface="Calibri"/>
              <a:sym typeface="Calibri"/>
            </a:endParaRPr>
          </a:p>
        </p:txBody>
      </p:sp>
      <p:sp>
        <p:nvSpPr>
          <p:cNvPr id="412" name="Google Shape;412;p12"/>
          <p:cNvSpPr/>
          <p:nvPr/>
        </p:nvSpPr>
        <p:spPr>
          <a:xfrm>
            <a:off x="1798320" y="3026664"/>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LHR</a:t>
            </a:r>
            <a:endParaRPr b="0" i="0" sz="1100" u="none" cap="none" strike="noStrike">
              <a:solidFill>
                <a:schemeClr val="dk1"/>
              </a:solidFill>
              <a:latin typeface="Calibri"/>
              <a:ea typeface="Calibri"/>
              <a:cs typeface="Calibri"/>
              <a:sym typeface="Calibri"/>
            </a:endParaRPr>
          </a:p>
        </p:txBody>
      </p:sp>
      <p:sp>
        <p:nvSpPr>
          <p:cNvPr id="413" name="Google Shape;413;p12"/>
          <p:cNvSpPr/>
          <p:nvPr/>
        </p:nvSpPr>
        <p:spPr>
          <a:xfrm>
            <a:off x="3322320" y="3026664"/>
            <a:ext cx="14325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ZRH</a:t>
            </a:r>
            <a:endParaRPr b="0" i="0" sz="1100" u="none" cap="none" strike="noStrike">
              <a:solidFill>
                <a:schemeClr val="dk1"/>
              </a:solidFill>
              <a:latin typeface="Calibri"/>
              <a:ea typeface="Calibri"/>
              <a:cs typeface="Calibri"/>
              <a:sym typeface="Calibri"/>
            </a:endParaRPr>
          </a:p>
        </p:txBody>
      </p:sp>
      <p:sp>
        <p:nvSpPr>
          <p:cNvPr id="414" name="Google Shape;414;p12"/>
          <p:cNvSpPr/>
          <p:nvPr/>
        </p:nvSpPr>
        <p:spPr>
          <a:xfrm>
            <a:off x="5166360" y="1874520"/>
            <a:ext cx="3200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44AD"/>
              </a:buClr>
              <a:buSzPts val="1200"/>
              <a:buFont typeface="Calibri"/>
              <a:buNone/>
            </a:pPr>
            <a:r>
              <a:rPr b="1" i="0" lang="en-US" sz="1200" u="none" cap="none" strike="noStrike">
                <a:solidFill>
                  <a:srgbClr val="8E44AD"/>
                </a:solidFill>
                <a:latin typeface="Calibri"/>
                <a:ea typeface="Calibri"/>
                <a:cs typeface="Calibri"/>
                <a:sym typeface="Calibri"/>
              </a:rPr>
              <a:t>PILOTFLIGHT (junction)</a:t>
            </a:r>
            <a:endParaRPr b="0" i="0" sz="1200" u="none" cap="none" strike="noStrike">
              <a:solidFill>
                <a:schemeClr val="dk1"/>
              </a:solidFill>
              <a:latin typeface="Calibri"/>
              <a:ea typeface="Calibri"/>
              <a:cs typeface="Calibri"/>
              <a:sym typeface="Calibri"/>
            </a:endParaRPr>
          </a:p>
        </p:txBody>
      </p:sp>
      <p:sp>
        <p:nvSpPr>
          <p:cNvPr id="415" name="Google Shape;415;p12"/>
          <p:cNvSpPr/>
          <p:nvPr/>
        </p:nvSpPr>
        <p:spPr>
          <a:xfrm>
            <a:off x="5166360" y="2148840"/>
            <a:ext cx="3200400" cy="292608"/>
          </a:xfrm>
          <a:prstGeom prst="rect">
            <a:avLst/>
          </a:prstGeom>
          <a:solidFill>
            <a:srgbClr val="8E44AD"/>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2"/>
          <p:cNvSpPr/>
          <p:nvPr/>
        </p:nvSpPr>
        <p:spPr>
          <a:xfrm>
            <a:off x="5212080" y="2148840"/>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FlightID FK</a:t>
            </a:r>
            <a:endParaRPr b="0" i="0" sz="1100" u="none" cap="none" strike="noStrike">
              <a:solidFill>
                <a:schemeClr val="dk1"/>
              </a:solidFill>
              <a:latin typeface="Calibri"/>
              <a:ea typeface="Calibri"/>
              <a:cs typeface="Calibri"/>
              <a:sym typeface="Calibri"/>
            </a:endParaRPr>
          </a:p>
        </p:txBody>
      </p:sp>
      <p:sp>
        <p:nvSpPr>
          <p:cNvPr id="417" name="Google Shape;417;p12"/>
          <p:cNvSpPr/>
          <p:nvPr/>
        </p:nvSpPr>
        <p:spPr>
          <a:xfrm>
            <a:off x="6812280" y="2148840"/>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PilotID FK</a:t>
            </a:r>
            <a:endParaRPr b="0" i="0" sz="1100" u="none" cap="none" strike="noStrike">
              <a:solidFill>
                <a:schemeClr val="dk1"/>
              </a:solidFill>
              <a:latin typeface="Calibri"/>
              <a:ea typeface="Calibri"/>
              <a:cs typeface="Calibri"/>
              <a:sym typeface="Calibri"/>
            </a:endParaRPr>
          </a:p>
        </p:txBody>
      </p:sp>
      <p:sp>
        <p:nvSpPr>
          <p:cNvPr id="418" name="Google Shape;418;p12"/>
          <p:cNvSpPr/>
          <p:nvPr/>
        </p:nvSpPr>
        <p:spPr>
          <a:xfrm>
            <a:off x="5166360" y="2441448"/>
            <a:ext cx="320040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2"/>
          <p:cNvSpPr/>
          <p:nvPr/>
        </p:nvSpPr>
        <p:spPr>
          <a:xfrm>
            <a:off x="5212080" y="2441448"/>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LG8903</a:t>
            </a:r>
            <a:endParaRPr b="0" i="0" sz="1100" u="none" cap="none" strike="noStrike">
              <a:solidFill>
                <a:schemeClr val="dk1"/>
              </a:solidFill>
              <a:latin typeface="Calibri"/>
              <a:ea typeface="Calibri"/>
              <a:cs typeface="Calibri"/>
              <a:sym typeface="Calibri"/>
            </a:endParaRPr>
          </a:p>
        </p:txBody>
      </p:sp>
      <p:sp>
        <p:nvSpPr>
          <p:cNvPr id="420" name="Google Shape;420;p12"/>
          <p:cNvSpPr/>
          <p:nvPr/>
        </p:nvSpPr>
        <p:spPr>
          <a:xfrm>
            <a:off x="6812280" y="2441448"/>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P500</a:t>
            </a:r>
            <a:endParaRPr b="0" i="0" sz="1100" u="none" cap="none" strike="noStrike">
              <a:solidFill>
                <a:schemeClr val="dk1"/>
              </a:solidFill>
              <a:latin typeface="Calibri"/>
              <a:ea typeface="Calibri"/>
              <a:cs typeface="Calibri"/>
              <a:sym typeface="Calibri"/>
            </a:endParaRPr>
          </a:p>
        </p:txBody>
      </p:sp>
      <p:sp>
        <p:nvSpPr>
          <p:cNvPr id="421" name="Google Shape;421;p12"/>
          <p:cNvSpPr/>
          <p:nvPr/>
        </p:nvSpPr>
        <p:spPr>
          <a:xfrm>
            <a:off x="5166360" y="2734056"/>
            <a:ext cx="320040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2"/>
          <p:cNvSpPr/>
          <p:nvPr/>
        </p:nvSpPr>
        <p:spPr>
          <a:xfrm>
            <a:off x="5212080" y="2734056"/>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OS864</a:t>
            </a:r>
            <a:endParaRPr b="0" i="0" sz="1100" u="none" cap="none" strike="noStrike">
              <a:solidFill>
                <a:schemeClr val="dk1"/>
              </a:solidFill>
              <a:latin typeface="Calibri"/>
              <a:ea typeface="Calibri"/>
              <a:cs typeface="Calibri"/>
              <a:sym typeface="Calibri"/>
            </a:endParaRPr>
          </a:p>
        </p:txBody>
      </p:sp>
      <p:sp>
        <p:nvSpPr>
          <p:cNvPr id="423" name="Google Shape;423;p12"/>
          <p:cNvSpPr/>
          <p:nvPr/>
        </p:nvSpPr>
        <p:spPr>
          <a:xfrm>
            <a:off x="6812280" y="2734056"/>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P104</a:t>
            </a:r>
            <a:endParaRPr b="0" i="0" sz="1100" u="none" cap="none" strike="noStrike">
              <a:solidFill>
                <a:schemeClr val="dk1"/>
              </a:solidFill>
              <a:latin typeface="Calibri"/>
              <a:ea typeface="Calibri"/>
              <a:cs typeface="Calibri"/>
              <a:sym typeface="Calibri"/>
            </a:endParaRPr>
          </a:p>
        </p:txBody>
      </p:sp>
      <p:sp>
        <p:nvSpPr>
          <p:cNvPr id="424" name="Google Shape;424;p12"/>
          <p:cNvSpPr/>
          <p:nvPr/>
        </p:nvSpPr>
        <p:spPr>
          <a:xfrm>
            <a:off x="5166360" y="3026664"/>
            <a:ext cx="320040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2"/>
          <p:cNvSpPr/>
          <p:nvPr/>
        </p:nvSpPr>
        <p:spPr>
          <a:xfrm>
            <a:off x="5212080" y="3026664"/>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GB961</a:t>
            </a:r>
            <a:endParaRPr b="0" i="0" sz="1100" u="none" cap="none" strike="noStrike">
              <a:solidFill>
                <a:schemeClr val="dk1"/>
              </a:solidFill>
              <a:latin typeface="Calibri"/>
              <a:ea typeface="Calibri"/>
              <a:cs typeface="Calibri"/>
              <a:sym typeface="Calibri"/>
            </a:endParaRPr>
          </a:p>
        </p:txBody>
      </p:sp>
      <p:sp>
        <p:nvSpPr>
          <p:cNvPr id="426" name="Google Shape;426;p12"/>
          <p:cNvSpPr/>
          <p:nvPr/>
        </p:nvSpPr>
        <p:spPr>
          <a:xfrm>
            <a:off x="6812280" y="3026664"/>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P500</a:t>
            </a:r>
            <a:endParaRPr b="0" i="0" sz="1100" u="none" cap="none" strike="noStrike">
              <a:solidFill>
                <a:schemeClr val="dk1"/>
              </a:solidFill>
              <a:latin typeface="Calibri"/>
              <a:ea typeface="Calibri"/>
              <a:cs typeface="Calibri"/>
              <a:sym typeface="Calibri"/>
            </a:endParaRPr>
          </a:p>
        </p:txBody>
      </p:sp>
      <p:sp>
        <p:nvSpPr>
          <p:cNvPr id="427" name="Google Shape;427;p12"/>
          <p:cNvSpPr/>
          <p:nvPr/>
        </p:nvSpPr>
        <p:spPr>
          <a:xfrm>
            <a:off x="5166360" y="3319272"/>
            <a:ext cx="320040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2"/>
          <p:cNvSpPr/>
          <p:nvPr/>
        </p:nvSpPr>
        <p:spPr>
          <a:xfrm>
            <a:off x="5212080" y="3319272"/>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LG8903</a:t>
            </a:r>
            <a:endParaRPr b="0" i="0" sz="1100" u="none" cap="none" strike="noStrike">
              <a:solidFill>
                <a:schemeClr val="dk1"/>
              </a:solidFill>
              <a:latin typeface="Calibri"/>
              <a:ea typeface="Calibri"/>
              <a:cs typeface="Calibri"/>
              <a:sym typeface="Calibri"/>
            </a:endParaRPr>
          </a:p>
        </p:txBody>
      </p:sp>
      <p:sp>
        <p:nvSpPr>
          <p:cNvPr id="429" name="Google Shape;429;p12"/>
          <p:cNvSpPr/>
          <p:nvPr/>
        </p:nvSpPr>
        <p:spPr>
          <a:xfrm>
            <a:off x="6812280" y="3319272"/>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P201</a:t>
            </a:r>
            <a:endParaRPr b="0" i="0" sz="1100" u="none" cap="none" strike="noStrike">
              <a:solidFill>
                <a:schemeClr val="dk1"/>
              </a:solidFill>
              <a:latin typeface="Calibri"/>
              <a:ea typeface="Calibri"/>
              <a:cs typeface="Calibri"/>
              <a:sym typeface="Calibri"/>
            </a:endParaRPr>
          </a:p>
        </p:txBody>
      </p:sp>
      <p:sp>
        <p:nvSpPr>
          <p:cNvPr id="430" name="Google Shape;430;p12"/>
          <p:cNvSpPr/>
          <p:nvPr/>
        </p:nvSpPr>
        <p:spPr>
          <a:xfrm>
            <a:off x="8732520" y="1874520"/>
            <a:ext cx="3200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PILOTS</a:t>
            </a:r>
            <a:endParaRPr b="0" i="0" sz="1200" u="none" cap="none" strike="noStrike">
              <a:solidFill>
                <a:schemeClr val="dk1"/>
              </a:solidFill>
              <a:latin typeface="Calibri"/>
              <a:ea typeface="Calibri"/>
              <a:cs typeface="Calibri"/>
              <a:sym typeface="Calibri"/>
            </a:endParaRPr>
          </a:p>
        </p:txBody>
      </p:sp>
      <p:sp>
        <p:nvSpPr>
          <p:cNvPr id="431" name="Google Shape;431;p12"/>
          <p:cNvSpPr/>
          <p:nvPr/>
        </p:nvSpPr>
        <p:spPr>
          <a:xfrm>
            <a:off x="8732520" y="2148840"/>
            <a:ext cx="3200400" cy="29260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2"/>
          <p:cNvSpPr/>
          <p:nvPr/>
        </p:nvSpPr>
        <p:spPr>
          <a:xfrm>
            <a:off x="8778240" y="2148840"/>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PilotID ★ PK</a:t>
            </a:r>
            <a:endParaRPr b="0" i="0" sz="1100" u="none" cap="none" strike="noStrike">
              <a:solidFill>
                <a:schemeClr val="dk1"/>
              </a:solidFill>
              <a:latin typeface="Calibri"/>
              <a:ea typeface="Calibri"/>
              <a:cs typeface="Calibri"/>
              <a:sym typeface="Calibri"/>
            </a:endParaRPr>
          </a:p>
        </p:txBody>
      </p:sp>
      <p:sp>
        <p:nvSpPr>
          <p:cNvPr id="433" name="Google Shape;433;p12"/>
          <p:cNvSpPr/>
          <p:nvPr/>
        </p:nvSpPr>
        <p:spPr>
          <a:xfrm>
            <a:off x="10378440" y="2148840"/>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Name</a:t>
            </a:r>
            <a:endParaRPr b="0" i="0" sz="1100" u="none" cap="none" strike="noStrike">
              <a:solidFill>
                <a:schemeClr val="dk1"/>
              </a:solidFill>
              <a:latin typeface="Calibri"/>
              <a:ea typeface="Calibri"/>
              <a:cs typeface="Calibri"/>
              <a:sym typeface="Calibri"/>
            </a:endParaRPr>
          </a:p>
        </p:txBody>
      </p:sp>
      <p:sp>
        <p:nvSpPr>
          <p:cNvPr id="434" name="Google Shape;434;p12"/>
          <p:cNvSpPr/>
          <p:nvPr/>
        </p:nvSpPr>
        <p:spPr>
          <a:xfrm>
            <a:off x="8732520" y="2441448"/>
            <a:ext cx="320040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2"/>
          <p:cNvSpPr/>
          <p:nvPr/>
        </p:nvSpPr>
        <p:spPr>
          <a:xfrm>
            <a:off x="8778240" y="2441448"/>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P500</a:t>
            </a:r>
            <a:endParaRPr b="0" i="0" sz="1100" u="none" cap="none" strike="noStrike">
              <a:solidFill>
                <a:schemeClr val="dk1"/>
              </a:solidFill>
              <a:latin typeface="Calibri"/>
              <a:ea typeface="Calibri"/>
              <a:cs typeface="Calibri"/>
              <a:sym typeface="Calibri"/>
            </a:endParaRPr>
          </a:p>
        </p:txBody>
      </p:sp>
      <p:sp>
        <p:nvSpPr>
          <p:cNvPr id="436" name="Google Shape;436;p12"/>
          <p:cNvSpPr/>
          <p:nvPr/>
        </p:nvSpPr>
        <p:spPr>
          <a:xfrm>
            <a:off x="10378440" y="2441448"/>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Ana Tan</a:t>
            </a:r>
            <a:endParaRPr b="0" i="0" sz="1100" u="none" cap="none" strike="noStrike">
              <a:solidFill>
                <a:schemeClr val="dk1"/>
              </a:solidFill>
              <a:latin typeface="Calibri"/>
              <a:ea typeface="Calibri"/>
              <a:cs typeface="Calibri"/>
              <a:sym typeface="Calibri"/>
            </a:endParaRPr>
          </a:p>
        </p:txBody>
      </p:sp>
      <p:sp>
        <p:nvSpPr>
          <p:cNvPr id="437" name="Google Shape;437;p12"/>
          <p:cNvSpPr/>
          <p:nvPr/>
        </p:nvSpPr>
        <p:spPr>
          <a:xfrm>
            <a:off x="8732520" y="2734056"/>
            <a:ext cx="3200400" cy="292608"/>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2"/>
          <p:cNvSpPr/>
          <p:nvPr/>
        </p:nvSpPr>
        <p:spPr>
          <a:xfrm>
            <a:off x="8778240" y="2734056"/>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P104</a:t>
            </a:r>
            <a:endParaRPr b="0" i="0" sz="1100" u="none" cap="none" strike="noStrike">
              <a:solidFill>
                <a:schemeClr val="dk1"/>
              </a:solidFill>
              <a:latin typeface="Calibri"/>
              <a:ea typeface="Calibri"/>
              <a:cs typeface="Calibri"/>
              <a:sym typeface="Calibri"/>
            </a:endParaRPr>
          </a:p>
        </p:txBody>
      </p:sp>
      <p:sp>
        <p:nvSpPr>
          <p:cNvPr id="439" name="Google Shape;439;p12"/>
          <p:cNvSpPr/>
          <p:nvPr/>
        </p:nvSpPr>
        <p:spPr>
          <a:xfrm>
            <a:off x="10378440" y="2734056"/>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Ben Ali</a:t>
            </a:r>
            <a:endParaRPr b="0" i="0" sz="1100" u="none" cap="none" strike="noStrike">
              <a:solidFill>
                <a:schemeClr val="dk1"/>
              </a:solidFill>
              <a:latin typeface="Calibri"/>
              <a:ea typeface="Calibri"/>
              <a:cs typeface="Calibri"/>
              <a:sym typeface="Calibri"/>
            </a:endParaRPr>
          </a:p>
        </p:txBody>
      </p:sp>
      <p:sp>
        <p:nvSpPr>
          <p:cNvPr id="440" name="Google Shape;440;p12"/>
          <p:cNvSpPr/>
          <p:nvPr/>
        </p:nvSpPr>
        <p:spPr>
          <a:xfrm>
            <a:off x="8732520" y="3026664"/>
            <a:ext cx="3200400" cy="292608"/>
          </a:xfrm>
          <a:prstGeom prst="rect">
            <a:avLst/>
          </a:prstGeom>
          <a:solidFill>
            <a:srgbClr val="F7F7F7"/>
          </a:solidFill>
          <a:ln cap="flat" cmpd="sng" w="12700">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2"/>
          <p:cNvSpPr/>
          <p:nvPr/>
        </p:nvSpPr>
        <p:spPr>
          <a:xfrm>
            <a:off x="8778240" y="3026664"/>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P201</a:t>
            </a:r>
            <a:endParaRPr b="0" i="0" sz="1100" u="none" cap="none" strike="noStrike">
              <a:solidFill>
                <a:schemeClr val="dk1"/>
              </a:solidFill>
              <a:latin typeface="Calibri"/>
              <a:ea typeface="Calibri"/>
              <a:cs typeface="Calibri"/>
              <a:sym typeface="Calibri"/>
            </a:endParaRPr>
          </a:p>
        </p:txBody>
      </p:sp>
      <p:sp>
        <p:nvSpPr>
          <p:cNvPr id="442" name="Google Shape;442;p12"/>
          <p:cNvSpPr/>
          <p:nvPr/>
        </p:nvSpPr>
        <p:spPr>
          <a:xfrm>
            <a:off x="10378440" y="3026664"/>
            <a:ext cx="1508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100"/>
              <a:buFont typeface="Calibri"/>
              <a:buNone/>
            </a:pPr>
            <a:r>
              <a:rPr b="0" i="0" lang="en-US" sz="1100" u="none" cap="none" strike="noStrike">
                <a:solidFill>
                  <a:srgbClr val="0D0D0D"/>
                </a:solidFill>
                <a:latin typeface="Calibri"/>
                <a:ea typeface="Calibri"/>
                <a:cs typeface="Calibri"/>
                <a:sym typeface="Calibri"/>
              </a:rPr>
              <a:t>Chloe Wu</a:t>
            </a:r>
            <a:endParaRPr b="0" i="0" sz="1100" u="none" cap="none" strike="noStrike">
              <a:solidFill>
                <a:schemeClr val="dk1"/>
              </a:solidFill>
              <a:latin typeface="Calibri"/>
              <a:ea typeface="Calibri"/>
              <a:cs typeface="Calibri"/>
              <a:sym typeface="Calibri"/>
            </a:endParaRPr>
          </a:p>
        </p:txBody>
      </p:sp>
      <p:sp>
        <p:nvSpPr>
          <p:cNvPr id="443" name="Google Shape;443;p12"/>
          <p:cNvSpPr/>
          <p:nvPr/>
        </p:nvSpPr>
        <p:spPr>
          <a:xfrm>
            <a:off x="4389120" y="2606040"/>
            <a:ext cx="6858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44AD"/>
              </a:buClr>
              <a:buSzPts val="1300"/>
              <a:buFont typeface="Trebuchet MS"/>
              <a:buNone/>
            </a:pPr>
            <a:r>
              <a:rPr b="1" i="0" lang="en-US" sz="1300" u="none" cap="none" strike="noStrike">
                <a:solidFill>
                  <a:srgbClr val="8E44AD"/>
                </a:solidFill>
                <a:latin typeface="Trebuchet MS"/>
                <a:ea typeface="Trebuchet MS"/>
                <a:cs typeface="Trebuchet MS"/>
                <a:sym typeface="Trebuchet MS"/>
              </a:rPr>
              <a:t>1:m</a:t>
            </a:r>
            <a:endParaRPr b="0" i="0" sz="1300" u="none" cap="none" strike="noStrike">
              <a:solidFill>
                <a:schemeClr val="dk1"/>
              </a:solidFill>
              <a:latin typeface="Calibri"/>
              <a:ea typeface="Calibri"/>
              <a:cs typeface="Calibri"/>
              <a:sym typeface="Calibri"/>
            </a:endParaRPr>
          </a:p>
        </p:txBody>
      </p:sp>
      <p:sp>
        <p:nvSpPr>
          <p:cNvPr id="444" name="Google Shape;444;p12"/>
          <p:cNvSpPr/>
          <p:nvPr/>
        </p:nvSpPr>
        <p:spPr>
          <a:xfrm>
            <a:off x="7955280" y="2606040"/>
            <a:ext cx="6858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E44AD"/>
              </a:buClr>
              <a:buSzPts val="1300"/>
              <a:buFont typeface="Trebuchet MS"/>
              <a:buNone/>
            </a:pPr>
            <a:r>
              <a:rPr b="1" i="0" lang="en-US" sz="1300" u="none" cap="none" strike="noStrike">
                <a:solidFill>
                  <a:srgbClr val="8E44AD"/>
                </a:solidFill>
                <a:latin typeface="Trebuchet MS"/>
                <a:ea typeface="Trebuchet MS"/>
                <a:cs typeface="Trebuchet MS"/>
                <a:sym typeface="Trebuchet MS"/>
              </a:rPr>
              <a:t>m:1</a:t>
            </a:r>
            <a:endParaRPr b="0" i="0" sz="1300" u="none" cap="none" strike="noStrike">
              <a:solidFill>
                <a:schemeClr val="dk1"/>
              </a:solidFill>
              <a:latin typeface="Calibri"/>
              <a:ea typeface="Calibri"/>
              <a:cs typeface="Calibri"/>
              <a:sym typeface="Calibri"/>
            </a:endParaRPr>
          </a:p>
        </p:txBody>
      </p:sp>
      <p:sp>
        <p:nvSpPr>
          <p:cNvPr id="445" name="Google Shape;445;p12"/>
          <p:cNvSpPr/>
          <p:nvPr/>
        </p:nvSpPr>
        <p:spPr>
          <a:xfrm>
            <a:off x="228600" y="3822192"/>
            <a:ext cx="11704320" cy="137160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2"/>
          <p:cNvSpPr/>
          <p:nvPr/>
        </p:nvSpPr>
        <p:spPr>
          <a:xfrm>
            <a:off x="365760" y="3895344"/>
            <a:ext cx="6400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1" i="0" lang="en-US" sz="1300" u="none" cap="none" strike="noStrike">
                <a:solidFill>
                  <a:srgbClr val="0D0D0D"/>
                </a:solidFill>
                <a:latin typeface="Calibri"/>
                <a:ea typeface="Calibri"/>
                <a:cs typeface="Calibri"/>
                <a:sym typeface="Calibri"/>
              </a:rPr>
              <a:t>How the junction table works:</a:t>
            </a:r>
            <a:endParaRPr b="0" i="0" sz="1300" u="none" cap="none" strike="noStrike">
              <a:solidFill>
                <a:schemeClr val="dk1"/>
              </a:solidFill>
              <a:latin typeface="Calibri"/>
              <a:ea typeface="Calibri"/>
              <a:cs typeface="Calibri"/>
              <a:sym typeface="Calibri"/>
            </a:endParaRPr>
          </a:p>
        </p:txBody>
      </p:sp>
      <p:sp>
        <p:nvSpPr>
          <p:cNvPr id="447" name="Google Shape;447;p12"/>
          <p:cNvSpPr/>
          <p:nvPr/>
        </p:nvSpPr>
        <p:spPr>
          <a:xfrm>
            <a:off x="365760" y="4233672"/>
            <a:ext cx="114300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 FLIGHTS → PILOTFLIGHT: one flight can appear many times (1:m) — one flight, many pilots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 PILOTS → PILOTFLIGHT: one pilot can appear many times (1:m) — one pilot, many flights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 The m:m is broken into two 1:m relationships via the junction table</a:t>
            </a:r>
            <a:endParaRPr b="0" i="0" sz="1250" u="none" cap="none" strike="noStrike">
              <a:solidFill>
                <a:schemeClr val="dk1"/>
              </a:solidFill>
              <a:latin typeface="Calibri"/>
              <a:ea typeface="Calibri"/>
              <a:cs typeface="Calibri"/>
              <a:sym typeface="Calibri"/>
            </a:endParaRPr>
          </a:p>
        </p:txBody>
      </p:sp>
      <p:sp>
        <p:nvSpPr>
          <p:cNvPr id="448" name="Google Shape;448;p12"/>
          <p:cNvSpPr/>
          <p:nvPr/>
        </p:nvSpPr>
        <p:spPr>
          <a:xfrm>
            <a:off x="228600" y="5321808"/>
            <a:ext cx="11704320" cy="594360"/>
          </a:xfrm>
          <a:prstGeom prst="rect">
            <a:avLst/>
          </a:prstGeom>
          <a:solidFill>
            <a:srgbClr val="FFF9C4"/>
          </a:solidFill>
          <a:ln cap="flat" cmpd="sng" w="12700">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2"/>
          <p:cNvSpPr/>
          <p:nvPr/>
        </p:nvSpPr>
        <p:spPr>
          <a:xfrm>
            <a:off x="365760" y="5376672"/>
            <a:ext cx="114300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800"/>
              </a:buClr>
              <a:buSzPts val="1200"/>
              <a:buFont typeface="Calibri"/>
              <a:buNone/>
            </a:pPr>
            <a:r>
              <a:rPr b="0" i="1" lang="en-US" sz="1200" u="none" cap="none" strike="noStrike">
                <a:solidFill>
                  <a:srgbClr val="7B5800"/>
                </a:solidFill>
                <a:latin typeface="Calibri"/>
                <a:ea typeface="Calibri"/>
                <a:cs typeface="Calibri"/>
                <a:sym typeface="Calibri"/>
              </a:rPr>
              <a:t>Key point: A many-to-many relationship cannot be physically represented in a relational database without a junction table. The composite key (FlightID + PilotID) in PILOTFLIGHT uniquely identifies each assignment.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4" name="Shape 454"/>
        <p:cNvGrpSpPr/>
        <p:nvPr/>
      </p:nvGrpSpPr>
      <p:grpSpPr>
        <a:xfrm>
          <a:off x="0" y="0"/>
          <a:ext cx="0" cy="0"/>
          <a:chOff x="0" y="0"/>
          <a:chExt cx="0" cy="0"/>
        </a:xfrm>
      </p:grpSpPr>
      <p:sp>
        <p:nvSpPr>
          <p:cNvPr id="455" name="Google Shape;455;p13"/>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Activity 1 — Key Check</a:t>
            </a:r>
            <a:endParaRPr b="0" i="0" sz="2400" u="none" cap="none" strike="noStrike">
              <a:solidFill>
                <a:schemeClr val="dk1"/>
              </a:solidFill>
              <a:latin typeface="Calibri"/>
              <a:ea typeface="Calibri"/>
              <a:cs typeface="Calibri"/>
              <a:sym typeface="Calibri"/>
            </a:endParaRPr>
          </a:p>
        </p:txBody>
      </p:sp>
      <p:sp>
        <p:nvSpPr>
          <p:cNvPr id="457" name="Google Shape;457;p13"/>
          <p:cNvSpPr/>
          <p:nvPr/>
        </p:nvSpPr>
        <p:spPr>
          <a:xfrm>
            <a:off x="9948672" y="128016"/>
            <a:ext cx="2011680" cy="48463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9948672" y="128016"/>
            <a:ext cx="2011680" cy="4846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AfL CHECK</a:t>
            </a:r>
            <a:endParaRPr b="0" i="0" sz="1100" u="none" cap="none" strike="noStrike">
              <a:solidFill>
                <a:schemeClr val="dk1"/>
              </a:solidFill>
              <a:latin typeface="Calibri"/>
              <a:ea typeface="Calibri"/>
              <a:cs typeface="Calibri"/>
              <a:sym typeface="Calibri"/>
            </a:endParaRPr>
          </a:p>
        </p:txBody>
      </p:sp>
      <p:sp>
        <p:nvSpPr>
          <p:cNvPr id="459" name="Google Shape;459;p13"/>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3"/>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461" name="Google Shape;461;p13"/>
          <p:cNvSpPr/>
          <p:nvPr/>
        </p:nvSpPr>
        <p:spPr>
          <a:xfrm>
            <a:off x="228600" y="932688"/>
            <a:ext cx="117043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1400" u="none" cap="none" strike="noStrike">
                <a:solidFill>
                  <a:srgbClr val="0D0D0D"/>
                </a:solidFill>
                <a:latin typeface="Calibri"/>
                <a:ea typeface="Calibri"/>
                <a:cs typeface="Calibri"/>
                <a:sym typeface="Calibri"/>
              </a:rPr>
              <a:t>Answer these questions on your worksheet (Section A). We will review as a class.</a:t>
            </a:r>
            <a:endParaRPr b="0" i="0" sz="1400" u="none" cap="none" strike="noStrike">
              <a:solidFill>
                <a:schemeClr val="dk1"/>
              </a:solidFill>
              <a:latin typeface="Calibri"/>
              <a:ea typeface="Calibri"/>
              <a:cs typeface="Calibri"/>
              <a:sym typeface="Calibri"/>
            </a:endParaRPr>
          </a:p>
        </p:txBody>
      </p:sp>
      <p:sp>
        <p:nvSpPr>
          <p:cNvPr id="462" name="Google Shape;462;p13"/>
          <p:cNvSpPr/>
          <p:nvPr/>
        </p:nvSpPr>
        <p:spPr>
          <a:xfrm>
            <a:off x="228600" y="1417320"/>
            <a:ext cx="548640" cy="841248"/>
          </a:xfrm>
          <a:prstGeom prst="rect">
            <a:avLst/>
          </a:prstGeom>
          <a:solidFill>
            <a:srgbClr val="0D0D0D"/>
          </a:solidFill>
          <a:ln cap="flat" cmpd="sng" w="12700">
            <a:solidFill>
              <a:srgbClr val="0D0D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228600" y="1618488"/>
            <a:ext cx="54864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200"/>
              <a:buFont typeface="Calibri"/>
              <a:buNone/>
            </a:pPr>
            <a:r>
              <a:rPr b="1" i="0" lang="en-US" sz="1200" u="none" cap="none" strike="noStrike">
                <a:solidFill>
                  <a:srgbClr val="FFE500"/>
                </a:solidFill>
                <a:latin typeface="Calibri"/>
                <a:ea typeface="Calibri"/>
                <a:cs typeface="Calibri"/>
                <a:sym typeface="Calibri"/>
              </a:rPr>
              <a:t>Q1</a:t>
            </a:r>
            <a:endParaRPr b="0" i="0" sz="1200" u="none" cap="none" strike="noStrike">
              <a:solidFill>
                <a:schemeClr val="dk1"/>
              </a:solidFill>
              <a:latin typeface="Calibri"/>
              <a:ea typeface="Calibri"/>
              <a:cs typeface="Calibri"/>
              <a:sym typeface="Calibri"/>
            </a:endParaRPr>
          </a:p>
        </p:txBody>
      </p:sp>
      <p:sp>
        <p:nvSpPr>
          <p:cNvPr id="464" name="Google Shape;464;p13"/>
          <p:cNvSpPr/>
          <p:nvPr/>
        </p:nvSpPr>
        <p:spPr>
          <a:xfrm>
            <a:off x="822960" y="1417320"/>
            <a:ext cx="11109960" cy="84124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960120" y="1508760"/>
            <a:ext cx="1088136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50"/>
              <a:buFont typeface="Calibri"/>
              <a:buNone/>
            </a:pPr>
            <a:r>
              <a:rPr b="0" i="0" lang="en-US" sz="1350" u="none" cap="none" strike="noStrike">
                <a:solidFill>
                  <a:srgbClr val="0D0D0D"/>
                </a:solidFill>
                <a:latin typeface="Calibri"/>
                <a:ea typeface="Calibri"/>
                <a:cs typeface="Calibri"/>
                <a:sym typeface="Calibri"/>
              </a:rPr>
              <a:t>A library table has BookID, Title, Author. BookID is unique for each book. What type of key is BookID?</a:t>
            </a:r>
            <a:endParaRPr b="0" i="0" sz="1350" u="none" cap="none" strike="noStrike">
              <a:solidFill>
                <a:schemeClr val="dk1"/>
              </a:solidFill>
              <a:latin typeface="Calibri"/>
              <a:ea typeface="Calibri"/>
              <a:cs typeface="Calibri"/>
              <a:sym typeface="Calibri"/>
            </a:endParaRPr>
          </a:p>
        </p:txBody>
      </p:sp>
      <p:sp>
        <p:nvSpPr>
          <p:cNvPr id="466" name="Google Shape;466;p13"/>
          <p:cNvSpPr/>
          <p:nvPr/>
        </p:nvSpPr>
        <p:spPr>
          <a:xfrm>
            <a:off x="228600" y="2377440"/>
            <a:ext cx="548640" cy="841248"/>
          </a:xfrm>
          <a:prstGeom prst="rect">
            <a:avLst/>
          </a:prstGeom>
          <a:solidFill>
            <a:srgbClr val="0D0D0D"/>
          </a:solidFill>
          <a:ln cap="flat" cmpd="sng" w="12700">
            <a:solidFill>
              <a:srgbClr val="0D0D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3"/>
          <p:cNvSpPr/>
          <p:nvPr/>
        </p:nvSpPr>
        <p:spPr>
          <a:xfrm>
            <a:off x="228600" y="2578608"/>
            <a:ext cx="54864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200"/>
              <a:buFont typeface="Calibri"/>
              <a:buNone/>
            </a:pPr>
            <a:r>
              <a:rPr b="1" i="0" lang="en-US" sz="1200" u="none" cap="none" strike="noStrike">
                <a:solidFill>
                  <a:srgbClr val="FFE500"/>
                </a:solidFill>
                <a:latin typeface="Calibri"/>
                <a:ea typeface="Calibri"/>
                <a:cs typeface="Calibri"/>
                <a:sym typeface="Calibri"/>
              </a:rPr>
              <a:t>Q2</a:t>
            </a:r>
            <a:endParaRPr b="0" i="0" sz="1200" u="none" cap="none" strike="noStrike">
              <a:solidFill>
                <a:schemeClr val="dk1"/>
              </a:solidFill>
              <a:latin typeface="Calibri"/>
              <a:ea typeface="Calibri"/>
              <a:cs typeface="Calibri"/>
              <a:sym typeface="Calibri"/>
            </a:endParaRPr>
          </a:p>
        </p:txBody>
      </p:sp>
      <p:sp>
        <p:nvSpPr>
          <p:cNvPr id="468" name="Google Shape;468;p13"/>
          <p:cNvSpPr/>
          <p:nvPr/>
        </p:nvSpPr>
        <p:spPr>
          <a:xfrm>
            <a:off x="822960" y="2377440"/>
            <a:ext cx="11109960" cy="84124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3"/>
          <p:cNvSpPr/>
          <p:nvPr/>
        </p:nvSpPr>
        <p:spPr>
          <a:xfrm>
            <a:off x="960120" y="2468880"/>
            <a:ext cx="1088136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50"/>
              <a:buFont typeface="Calibri"/>
              <a:buNone/>
            </a:pPr>
            <a:r>
              <a:rPr b="0" i="0" lang="en-US" sz="1350" u="none" cap="none" strike="noStrike">
                <a:solidFill>
                  <a:srgbClr val="0D0D0D"/>
                </a:solidFill>
                <a:latin typeface="Calibri"/>
                <a:ea typeface="Calibri"/>
                <a:cs typeface="Calibri"/>
                <a:sym typeface="Calibri"/>
              </a:rPr>
              <a:t>An OrderItems table has OrderID and ProductID. Neither field alone is unique, but together they are. What type of key do they form?</a:t>
            </a:r>
            <a:endParaRPr b="0" i="0" sz="1350" u="none" cap="none" strike="noStrike">
              <a:solidFill>
                <a:schemeClr val="dk1"/>
              </a:solidFill>
              <a:latin typeface="Calibri"/>
              <a:ea typeface="Calibri"/>
              <a:cs typeface="Calibri"/>
              <a:sym typeface="Calibri"/>
            </a:endParaRPr>
          </a:p>
        </p:txBody>
      </p:sp>
      <p:sp>
        <p:nvSpPr>
          <p:cNvPr id="470" name="Google Shape;470;p13"/>
          <p:cNvSpPr/>
          <p:nvPr/>
        </p:nvSpPr>
        <p:spPr>
          <a:xfrm>
            <a:off x="228600" y="3337560"/>
            <a:ext cx="548640" cy="841248"/>
          </a:xfrm>
          <a:prstGeom prst="rect">
            <a:avLst/>
          </a:prstGeom>
          <a:solidFill>
            <a:srgbClr val="0D0D0D"/>
          </a:solidFill>
          <a:ln cap="flat" cmpd="sng" w="12700">
            <a:solidFill>
              <a:srgbClr val="0D0D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3"/>
          <p:cNvSpPr/>
          <p:nvPr/>
        </p:nvSpPr>
        <p:spPr>
          <a:xfrm>
            <a:off x="228600" y="3538728"/>
            <a:ext cx="54864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200"/>
              <a:buFont typeface="Calibri"/>
              <a:buNone/>
            </a:pPr>
            <a:r>
              <a:rPr b="1" i="0" lang="en-US" sz="1200" u="none" cap="none" strike="noStrike">
                <a:solidFill>
                  <a:srgbClr val="FFE500"/>
                </a:solidFill>
                <a:latin typeface="Calibri"/>
                <a:ea typeface="Calibri"/>
                <a:cs typeface="Calibri"/>
                <a:sym typeface="Calibri"/>
              </a:rPr>
              <a:t>Q3</a:t>
            </a:r>
            <a:endParaRPr b="0" i="0" sz="1200" u="none" cap="none" strike="noStrike">
              <a:solidFill>
                <a:schemeClr val="dk1"/>
              </a:solidFill>
              <a:latin typeface="Calibri"/>
              <a:ea typeface="Calibri"/>
              <a:cs typeface="Calibri"/>
              <a:sym typeface="Calibri"/>
            </a:endParaRPr>
          </a:p>
        </p:txBody>
      </p:sp>
      <p:sp>
        <p:nvSpPr>
          <p:cNvPr id="472" name="Google Shape;472;p13"/>
          <p:cNvSpPr/>
          <p:nvPr/>
        </p:nvSpPr>
        <p:spPr>
          <a:xfrm>
            <a:off x="822960" y="3337560"/>
            <a:ext cx="11109960" cy="84124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3"/>
          <p:cNvSpPr/>
          <p:nvPr/>
        </p:nvSpPr>
        <p:spPr>
          <a:xfrm>
            <a:off x="960120" y="3429000"/>
            <a:ext cx="1088136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50"/>
              <a:buFont typeface="Calibri"/>
              <a:buNone/>
            </a:pPr>
            <a:r>
              <a:rPr b="0" i="0" lang="en-US" sz="1350" u="none" cap="none" strike="noStrike">
                <a:solidFill>
                  <a:srgbClr val="0D0D0D"/>
                </a:solidFill>
                <a:latin typeface="Calibri"/>
                <a:ea typeface="Calibri"/>
                <a:cs typeface="Calibri"/>
                <a:sym typeface="Calibri"/>
              </a:rPr>
              <a:t>The OrderItems table has an OrderID field that links to the Orders table. What type of key is this OrderID in OrderItems?</a:t>
            </a:r>
            <a:endParaRPr b="0" i="0" sz="1350" u="none" cap="none" strike="noStrike">
              <a:solidFill>
                <a:schemeClr val="dk1"/>
              </a:solidFill>
              <a:latin typeface="Calibri"/>
              <a:ea typeface="Calibri"/>
              <a:cs typeface="Calibri"/>
              <a:sym typeface="Calibri"/>
            </a:endParaRPr>
          </a:p>
        </p:txBody>
      </p:sp>
      <p:sp>
        <p:nvSpPr>
          <p:cNvPr id="474" name="Google Shape;474;p13"/>
          <p:cNvSpPr/>
          <p:nvPr/>
        </p:nvSpPr>
        <p:spPr>
          <a:xfrm>
            <a:off x="228600" y="4297680"/>
            <a:ext cx="548640" cy="841248"/>
          </a:xfrm>
          <a:prstGeom prst="rect">
            <a:avLst/>
          </a:prstGeom>
          <a:solidFill>
            <a:srgbClr val="0D0D0D"/>
          </a:solidFill>
          <a:ln cap="flat" cmpd="sng" w="12700">
            <a:solidFill>
              <a:srgbClr val="0D0D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3"/>
          <p:cNvSpPr/>
          <p:nvPr/>
        </p:nvSpPr>
        <p:spPr>
          <a:xfrm>
            <a:off x="228600" y="4498848"/>
            <a:ext cx="54864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200"/>
              <a:buFont typeface="Calibri"/>
              <a:buNone/>
            </a:pPr>
            <a:r>
              <a:rPr b="1" i="0" lang="en-US" sz="1200" u="none" cap="none" strike="noStrike">
                <a:solidFill>
                  <a:srgbClr val="FFE500"/>
                </a:solidFill>
                <a:latin typeface="Calibri"/>
                <a:ea typeface="Calibri"/>
                <a:cs typeface="Calibri"/>
                <a:sym typeface="Calibri"/>
              </a:rPr>
              <a:t>Q4</a:t>
            </a:r>
            <a:endParaRPr b="0" i="0" sz="1200" u="none" cap="none" strike="noStrike">
              <a:solidFill>
                <a:schemeClr val="dk1"/>
              </a:solidFill>
              <a:latin typeface="Calibri"/>
              <a:ea typeface="Calibri"/>
              <a:cs typeface="Calibri"/>
              <a:sym typeface="Calibri"/>
            </a:endParaRPr>
          </a:p>
        </p:txBody>
      </p:sp>
      <p:sp>
        <p:nvSpPr>
          <p:cNvPr id="476" name="Google Shape;476;p13"/>
          <p:cNvSpPr/>
          <p:nvPr/>
        </p:nvSpPr>
        <p:spPr>
          <a:xfrm>
            <a:off x="822960" y="4297680"/>
            <a:ext cx="11109960" cy="84124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3"/>
          <p:cNvSpPr/>
          <p:nvPr/>
        </p:nvSpPr>
        <p:spPr>
          <a:xfrm>
            <a:off x="960120" y="4389120"/>
            <a:ext cx="1088136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50"/>
              <a:buFont typeface="Calibri"/>
              <a:buNone/>
            </a:pPr>
            <a:r>
              <a:rPr b="0" i="0" lang="en-US" sz="1350" u="none" cap="none" strike="noStrike">
                <a:solidFill>
                  <a:srgbClr val="0D0D0D"/>
                </a:solidFill>
                <a:latin typeface="Calibri"/>
                <a:ea typeface="Calibri"/>
                <a:cs typeface="Calibri"/>
                <a:sym typeface="Calibri"/>
              </a:rPr>
              <a:t>True or False: A primary key can contain NULL values. Justify your answer.</a:t>
            </a:r>
            <a:endParaRPr b="0" i="0" sz="1350" u="none" cap="none" strike="noStrike">
              <a:solidFill>
                <a:schemeClr val="dk1"/>
              </a:solidFill>
              <a:latin typeface="Calibri"/>
              <a:ea typeface="Calibri"/>
              <a:cs typeface="Calibri"/>
              <a:sym typeface="Calibri"/>
            </a:endParaRPr>
          </a:p>
        </p:txBody>
      </p:sp>
      <p:sp>
        <p:nvSpPr>
          <p:cNvPr id="478" name="Google Shape;478;p13"/>
          <p:cNvSpPr/>
          <p:nvPr/>
        </p:nvSpPr>
        <p:spPr>
          <a:xfrm>
            <a:off x="228600" y="5257800"/>
            <a:ext cx="548640" cy="841248"/>
          </a:xfrm>
          <a:prstGeom prst="rect">
            <a:avLst/>
          </a:prstGeom>
          <a:solidFill>
            <a:srgbClr val="0D0D0D"/>
          </a:solidFill>
          <a:ln cap="flat" cmpd="sng" w="12700">
            <a:solidFill>
              <a:srgbClr val="0D0D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228600" y="5458968"/>
            <a:ext cx="54864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200"/>
              <a:buFont typeface="Calibri"/>
              <a:buNone/>
            </a:pPr>
            <a:r>
              <a:rPr b="1" i="0" lang="en-US" sz="1200" u="none" cap="none" strike="noStrike">
                <a:solidFill>
                  <a:srgbClr val="FFE500"/>
                </a:solidFill>
                <a:latin typeface="Calibri"/>
                <a:ea typeface="Calibri"/>
                <a:cs typeface="Calibri"/>
                <a:sym typeface="Calibri"/>
              </a:rPr>
              <a:t>Q5</a:t>
            </a:r>
            <a:endParaRPr b="0" i="0" sz="1200" u="none" cap="none" strike="noStrike">
              <a:solidFill>
                <a:schemeClr val="dk1"/>
              </a:solidFill>
              <a:latin typeface="Calibri"/>
              <a:ea typeface="Calibri"/>
              <a:cs typeface="Calibri"/>
              <a:sym typeface="Calibri"/>
            </a:endParaRPr>
          </a:p>
        </p:txBody>
      </p:sp>
      <p:sp>
        <p:nvSpPr>
          <p:cNvPr id="480" name="Google Shape;480;p13"/>
          <p:cNvSpPr/>
          <p:nvPr/>
        </p:nvSpPr>
        <p:spPr>
          <a:xfrm>
            <a:off x="822960" y="5257800"/>
            <a:ext cx="11109960" cy="84124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3"/>
          <p:cNvSpPr/>
          <p:nvPr/>
        </p:nvSpPr>
        <p:spPr>
          <a:xfrm>
            <a:off x="960120" y="5349240"/>
            <a:ext cx="1088136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50"/>
              <a:buFont typeface="Calibri"/>
              <a:buNone/>
            </a:pPr>
            <a:r>
              <a:rPr b="0" i="0" lang="en-US" sz="1350" u="none" cap="none" strike="noStrike">
                <a:solidFill>
                  <a:srgbClr val="0D0D0D"/>
                </a:solidFill>
                <a:latin typeface="Calibri"/>
                <a:ea typeface="Calibri"/>
                <a:cs typeface="Calibri"/>
                <a:sym typeface="Calibri"/>
              </a:rPr>
              <a:t>A school has Teachers and Subjects. One teacher teaches many subjects. What type of relationship is this?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p14"/>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4"/>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Benefits of Relational Databases (1 of 2)</a:t>
            </a:r>
            <a:endParaRPr b="0" i="0" sz="2400" u="none" cap="none" strike="noStrike">
              <a:solidFill>
                <a:schemeClr val="dk1"/>
              </a:solidFill>
              <a:latin typeface="Calibri"/>
              <a:ea typeface="Calibri"/>
              <a:cs typeface="Calibri"/>
              <a:sym typeface="Calibri"/>
            </a:endParaRPr>
          </a:p>
        </p:txBody>
      </p:sp>
      <p:sp>
        <p:nvSpPr>
          <p:cNvPr id="489" name="Google Shape;489;p14"/>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491" name="Google Shape;491;p14"/>
          <p:cNvSpPr/>
          <p:nvPr/>
        </p:nvSpPr>
        <p:spPr>
          <a:xfrm>
            <a:off x="182880" y="914400"/>
            <a:ext cx="388620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4"/>
          <p:cNvSpPr/>
          <p:nvPr/>
        </p:nvSpPr>
        <p:spPr>
          <a:xfrm>
            <a:off x="182880" y="914400"/>
            <a:ext cx="3886200" cy="274320"/>
          </a:xfrm>
          <a:prstGeom prst="rect">
            <a:avLst/>
          </a:prstGeom>
          <a:solidFill>
            <a:srgbClr val="2980B9"/>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4"/>
          <p:cNvSpPr/>
          <p:nvPr/>
        </p:nvSpPr>
        <p:spPr>
          <a:xfrm>
            <a:off x="274320" y="923544"/>
            <a:ext cx="3703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Community Support</a:t>
            </a:r>
            <a:endParaRPr b="0" i="0" sz="1150" u="none" cap="none" strike="noStrike">
              <a:solidFill>
                <a:schemeClr val="dk1"/>
              </a:solidFill>
              <a:latin typeface="Calibri"/>
              <a:ea typeface="Calibri"/>
              <a:cs typeface="Calibri"/>
              <a:sym typeface="Calibri"/>
            </a:endParaRPr>
          </a:p>
        </p:txBody>
      </p:sp>
      <p:sp>
        <p:nvSpPr>
          <p:cNvPr id="494" name="Google Shape;494;p14"/>
          <p:cNvSpPr/>
          <p:nvPr/>
        </p:nvSpPr>
        <p:spPr>
          <a:xfrm>
            <a:off x="274320" y="1225296"/>
            <a:ext cx="370332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Relational databases have been in use since the 1970s and are the most widely accepted model. There are large online communities providing support, documentation, and guidance for building and maintaining them.</a:t>
            </a:r>
            <a:endParaRPr b="0" i="0" sz="1150" u="none" cap="none" strike="noStrike">
              <a:solidFill>
                <a:schemeClr val="dk1"/>
              </a:solidFill>
              <a:latin typeface="Calibri"/>
              <a:ea typeface="Calibri"/>
              <a:cs typeface="Calibri"/>
              <a:sym typeface="Calibri"/>
            </a:endParaRPr>
          </a:p>
        </p:txBody>
      </p:sp>
      <p:sp>
        <p:nvSpPr>
          <p:cNvPr id="495" name="Google Shape;495;p14"/>
          <p:cNvSpPr/>
          <p:nvPr/>
        </p:nvSpPr>
        <p:spPr>
          <a:xfrm>
            <a:off x="274320" y="2514600"/>
            <a:ext cx="370332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980B9"/>
              </a:buClr>
              <a:buSzPts val="1050"/>
              <a:buFont typeface="Calibri"/>
              <a:buNone/>
            </a:pPr>
            <a:r>
              <a:rPr b="0" i="1" lang="en-US" sz="1050" u="none" cap="none" strike="noStrike">
                <a:solidFill>
                  <a:srgbClr val="2980B9"/>
                </a:solidFill>
                <a:latin typeface="Calibri"/>
                <a:ea typeface="Calibri"/>
                <a:cs typeface="Calibri"/>
                <a:sym typeface="Calibri"/>
              </a:rPr>
              <a:t>e.g. MySQL, PostgreSQL, and Oracle all have extensive community forums, Stack Overflow threads, and official documentation.</a:t>
            </a:r>
            <a:endParaRPr b="0" i="0" sz="1050" u="none" cap="none" strike="noStrike">
              <a:solidFill>
                <a:schemeClr val="dk1"/>
              </a:solidFill>
              <a:latin typeface="Calibri"/>
              <a:ea typeface="Calibri"/>
              <a:cs typeface="Calibri"/>
              <a:sym typeface="Calibri"/>
            </a:endParaRPr>
          </a:p>
        </p:txBody>
      </p:sp>
      <p:sp>
        <p:nvSpPr>
          <p:cNvPr id="496" name="Google Shape;496;p14"/>
          <p:cNvSpPr/>
          <p:nvPr/>
        </p:nvSpPr>
        <p:spPr>
          <a:xfrm>
            <a:off x="4160520" y="914400"/>
            <a:ext cx="388620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4"/>
          <p:cNvSpPr/>
          <p:nvPr/>
        </p:nvSpPr>
        <p:spPr>
          <a:xfrm>
            <a:off x="4160520" y="914400"/>
            <a:ext cx="3886200" cy="274320"/>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4"/>
          <p:cNvSpPr/>
          <p:nvPr/>
        </p:nvSpPr>
        <p:spPr>
          <a:xfrm>
            <a:off x="4251960" y="923544"/>
            <a:ext cx="3703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Concurrency Control</a:t>
            </a:r>
            <a:endParaRPr b="0" i="0" sz="1150" u="none" cap="none" strike="noStrike">
              <a:solidFill>
                <a:schemeClr val="dk1"/>
              </a:solidFill>
              <a:latin typeface="Calibri"/>
              <a:ea typeface="Calibri"/>
              <a:cs typeface="Calibri"/>
              <a:sym typeface="Calibri"/>
            </a:endParaRPr>
          </a:p>
        </p:txBody>
      </p:sp>
      <p:sp>
        <p:nvSpPr>
          <p:cNvPr id="499" name="Google Shape;499;p14"/>
          <p:cNvSpPr/>
          <p:nvPr/>
        </p:nvSpPr>
        <p:spPr>
          <a:xfrm>
            <a:off x="4251960" y="1225296"/>
            <a:ext cx="370332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A crucial DBMS component that manages simultaneous operations without conflict. It maintains data integrity, consistency and isolation when multiple users access the database at the same time.</a:t>
            </a:r>
            <a:endParaRPr b="0" i="0" sz="1150" u="none" cap="none" strike="noStrike">
              <a:solidFill>
                <a:schemeClr val="dk1"/>
              </a:solidFill>
              <a:latin typeface="Calibri"/>
              <a:ea typeface="Calibri"/>
              <a:cs typeface="Calibri"/>
              <a:sym typeface="Calibri"/>
            </a:endParaRPr>
          </a:p>
        </p:txBody>
      </p:sp>
      <p:sp>
        <p:nvSpPr>
          <p:cNvPr id="500" name="Google Shape;500;p14"/>
          <p:cNvSpPr/>
          <p:nvPr/>
        </p:nvSpPr>
        <p:spPr>
          <a:xfrm>
            <a:off x="4251960" y="2514600"/>
            <a:ext cx="370332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7AE60"/>
              </a:buClr>
              <a:buSzPts val="1050"/>
              <a:buFont typeface="Calibri"/>
              <a:buNone/>
            </a:pPr>
            <a:r>
              <a:rPr b="0" i="1" lang="en-US" sz="1050" u="none" cap="none" strike="noStrike">
                <a:solidFill>
                  <a:srgbClr val="27AE60"/>
                </a:solidFill>
                <a:latin typeface="Calibri"/>
                <a:ea typeface="Calibri"/>
                <a:cs typeface="Calibri"/>
                <a:sym typeface="Calibri"/>
              </a:rPr>
              <a:t>e.g. Two bank clerks updating account balances simultaneously — locking mechanisms ensure neither overwrites the other's change.</a:t>
            </a:r>
            <a:endParaRPr b="0" i="0" sz="1050" u="none" cap="none" strike="noStrike">
              <a:solidFill>
                <a:schemeClr val="dk1"/>
              </a:solidFill>
              <a:latin typeface="Calibri"/>
              <a:ea typeface="Calibri"/>
              <a:cs typeface="Calibri"/>
              <a:sym typeface="Calibri"/>
            </a:endParaRPr>
          </a:p>
        </p:txBody>
      </p:sp>
      <p:sp>
        <p:nvSpPr>
          <p:cNvPr id="501" name="Google Shape;501;p14"/>
          <p:cNvSpPr/>
          <p:nvPr/>
        </p:nvSpPr>
        <p:spPr>
          <a:xfrm>
            <a:off x="8138160" y="914400"/>
            <a:ext cx="388620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4"/>
          <p:cNvSpPr/>
          <p:nvPr/>
        </p:nvSpPr>
        <p:spPr>
          <a:xfrm>
            <a:off x="8138160" y="914400"/>
            <a:ext cx="3886200" cy="274320"/>
          </a:xfrm>
          <a:prstGeom prst="rect">
            <a:avLst/>
          </a:prstGeom>
          <a:solidFill>
            <a:srgbClr val="8E44AD"/>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4"/>
          <p:cNvSpPr/>
          <p:nvPr/>
        </p:nvSpPr>
        <p:spPr>
          <a:xfrm>
            <a:off x="8229600" y="923544"/>
            <a:ext cx="3703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Data Consistency</a:t>
            </a:r>
            <a:endParaRPr b="0" i="0" sz="1150" u="none" cap="none" strike="noStrike">
              <a:solidFill>
                <a:schemeClr val="dk1"/>
              </a:solidFill>
              <a:latin typeface="Calibri"/>
              <a:ea typeface="Calibri"/>
              <a:cs typeface="Calibri"/>
              <a:sym typeface="Calibri"/>
            </a:endParaRPr>
          </a:p>
        </p:txBody>
      </p:sp>
      <p:sp>
        <p:nvSpPr>
          <p:cNvPr id="504" name="Google Shape;504;p14"/>
          <p:cNvSpPr/>
          <p:nvPr/>
        </p:nvSpPr>
        <p:spPr>
          <a:xfrm>
            <a:off x="8229600" y="1225296"/>
            <a:ext cx="370332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Data remains in a consistent state from start to finish. Each piece of data is stored in only one place, and all related data is kept together. All users see accurate, up-to-date information.</a:t>
            </a:r>
            <a:endParaRPr b="0" i="0" sz="1150" u="none" cap="none" strike="noStrike">
              <a:solidFill>
                <a:schemeClr val="dk1"/>
              </a:solidFill>
              <a:latin typeface="Calibri"/>
              <a:ea typeface="Calibri"/>
              <a:cs typeface="Calibri"/>
              <a:sym typeface="Calibri"/>
            </a:endParaRPr>
          </a:p>
        </p:txBody>
      </p:sp>
      <p:sp>
        <p:nvSpPr>
          <p:cNvPr id="505" name="Google Shape;505;p14"/>
          <p:cNvSpPr/>
          <p:nvPr/>
        </p:nvSpPr>
        <p:spPr>
          <a:xfrm>
            <a:off x="8229600" y="2514600"/>
            <a:ext cx="370332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E44AD"/>
              </a:buClr>
              <a:buSzPts val="1050"/>
              <a:buFont typeface="Calibri"/>
              <a:buNone/>
            </a:pPr>
            <a:r>
              <a:rPr b="0" i="1" lang="en-US" sz="1050" u="none" cap="none" strike="noStrike">
                <a:solidFill>
                  <a:srgbClr val="8E44AD"/>
                </a:solidFill>
                <a:latin typeface="Calibri"/>
                <a:ea typeface="Calibri"/>
                <a:cs typeface="Calibri"/>
                <a:sym typeface="Calibri"/>
              </a:rPr>
              <a:t>e.g. A student's name changed in the Students table immediately reflects across all linked grade and attendance records.</a:t>
            </a:r>
            <a:endParaRPr b="0" i="0" sz="1050" u="none" cap="none" strike="noStrike">
              <a:solidFill>
                <a:schemeClr val="dk1"/>
              </a:solidFill>
              <a:latin typeface="Calibri"/>
              <a:ea typeface="Calibri"/>
              <a:cs typeface="Calibri"/>
              <a:sym typeface="Calibri"/>
            </a:endParaRPr>
          </a:p>
        </p:txBody>
      </p:sp>
      <p:sp>
        <p:nvSpPr>
          <p:cNvPr id="506" name="Google Shape;506;p14"/>
          <p:cNvSpPr/>
          <p:nvPr/>
        </p:nvSpPr>
        <p:spPr>
          <a:xfrm>
            <a:off x="1188720" y="3767328"/>
            <a:ext cx="475488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4"/>
          <p:cNvSpPr/>
          <p:nvPr/>
        </p:nvSpPr>
        <p:spPr>
          <a:xfrm>
            <a:off x="1188720" y="3767328"/>
            <a:ext cx="4754880" cy="27432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4"/>
          <p:cNvSpPr/>
          <p:nvPr/>
        </p:nvSpPr>
        <p:spPr>
          <a:xfrm>
            <a:off x="1280160" y="3776472"/>
            <a:ext cx="4572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Data Integrity</a:t>
            </a:r>
            <a:endParaRPr b="0" i="0" sz="1150" u="none" cap="none" strike="noStrike">
              <a:solidFill>
                <a:schemeClr val="dk1"/>
              </a:solidFill>
              <a:latin typeface="Calibri"/>
              <a:ea typeface="Calibri"/>
              <a:cs typeface="Calibri"/>
              <a:sym typeface="Calibri"/>
            </a:endParaRPr>
          </a:p>
        </p:txBody>
      </p:sp>
      <p:sp>
        <p:nvSpPr>
          <p:cNvPr id="509" name="Google Shape;509;p14"/>
          <p:cNvSpPr/>
          <p:nvPr/>
        </p:nvSpPr>
        <p:spPr>
          <a:xfrm>
            <a:off x="1280160" y="4078224"/>
            <a:ext cx="457200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Ensures accuracy, completeness and consistency of data throughout its lifecycle. Constraints (e.g. primary keys, NOT NULL, data types) prevent invalid data from being entered.</a:t>
            </a:r>
            <a:endParaRPr b="0" i="0" sz="1150" u="none" cap="none" strike="noStrike">
              <a:solidFill>
                <a:schemeClr val="dk1"/>
              </a:solidFill>
              <a:latin typeface="Calibri"/>
              <a:ea typeface="Calibri"/>
              <a:cs typeface="Calibri"/>
              <a:sym typeface="Calibri"/>
            </a:endParaRPr>
          </a:p>
        </p:txBody>
      </p:sp>
      <p:sp>
        <p:nvSpPr>
          <p:cNvPr id="510" name="Google Shape;510;p14"/>
          <p:cNvSpPr/>
          <p:nvPr/>
        </p:nvSpPr>
        <p:spPr>
          <a:xfrm>
            <a:off x="1280160" y="5367528"/>
            <a:ext cx="45720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7E22"/>
              </a:buClr>
              <a:buSzPts val="1050"/>
              <a:buFont typeface="Calibri"/>
              <a:buNone/>
            </a:pPr>
            <a:r>
              <a:rPr b="0" i="1" lang="en-US" sz="1050" u="none" cap="none" strike="noStrike">
                <a:solidFill>
                  <a:srgbClr val="E67E22"/>
                </a:solidFill>
                <a:latin typeface="Calibri"/>
                <a:ea typeface="Calibri"/>
                <a:cs typeface="Calibri"/>
                <a:sym typeface="Calibri"/>
              </a:rPr>
              <a:t>e.g. A blood type field restricted to valid values (A, B, AB, O) prevents entry of 'XYZ'.</a:t>
            </a:r>
            <a:endParaRPr b="0" i="0" sz="1050" u="none" cap="none" strike="noStrike">
              <a:solidFill>
                <a:schemeClr val="dk1"/>
              </a:solidFill>
              <a:latin typeface="Calibri"/>
              <a:ea typeface="Calibri"/>
              <a:cs typeface="Calibri"/>
              <a:sym typeface="Calibri"/>
            </a:endParaRPr>
          </a:p>
        </p:txBody>
      </p:sp>
      <p:sp>
        <p:nvSpPr>
          <p:cNvPr id="511" name="Google Shape;511;p14"/>
          <p:cNvSpPr/>
          <p:nvPr/>
        </p:nvSpPr>
        <p:spPr>
          <a:xfrm>
            <a:off x="6080760" y="3767328"/>
            <a:ext cx="475488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4"/>
          <p:cNvSpPr/>
          <p:nvPr/>
        </p:nvSpPr>
        <p:spPr>
          <a:xfrm>
            <a:off x="6080760" y="3767328"/>
            <a:ext cx="4754880" cy="27432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4"/>
          <p:cNvSpPr/>
          <p:nvPr/>
        </p:nvSpPr>
        <p:spPr>
          <a:xfrm>
            <a:off x="6172200" y="3776472"/>
            <a:ext cx="4572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Data Retrieval</a:t>
            </a:r>
            <a:endParaRPr b="0" i="0" sz="1150" u="none" cap="none" strike="noStrike">
              <a:solidFill>
                <a:schemeClr val="dk1"/>
              </a:solidFill>
              <a:latin typeface="Calibri"/>
              <a:ea typeface="Calibri"/>
              <a:cs typeface="Calibri"/>
              <a:sym typeface="Calibri"/>
            </a:endParaRPr>
          </a:p>
        </p:txBody>
      </p:sp>
      <p:sp>
        <p:nvSpPr>
          <p:cNvPr id="514" name="Google Shape;514;p14"/>
          <p:cNvSpPr/>
          <p:nvPr/>
        </p:nvSpPr>
        <p:spPr>
          <a:xfrm>
            <a:off x="6172200" y="4078224"/>
            <a:ext cx="457200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The process of retrieving data is efficient and flexible. SQL allows complex queries using SELECT, JOINs, WHERE clauses and more. Users can create ad hoc queries without needing pre-built reports.</a:t>
            </a:r>
            <a:endParaRPr b="0" i="0" sz="1150" u="none" cap="none" strike="noStrike">
              <a:solidFill>
                <a:schemeClr val="dk1"/>
              </a:solidFill>
              <a:latin typeface="Calibri"/>
              <a:ea typeface="Calibri"/>
              <a:cs typeface="Calibri"/>
              <a:sym typeface="Calibri"/>
            </a:endParaRPr>
          </a:p>
        </p:txBody>
      </p:sp>
      <p:sp>
        <p:nvSpPr>
          <p:cNvPr id="515" name="Google Shape;515;p14"/>
          <p:cNvSpPr/>
          <p:nvPr/>
        </p:nvSpPr>
        <p:spPr>
          <a:xfrm>
            <a:off x="6172200" y="5367528"/>
            <a:ext cx="45720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392B"/>
              </a:buClr>
              <a:buSzPts val="1050"/>
              <a:buFont typeface="Calibri"/>
              <a:buNone/>
            </a:pPr>
            <a:r>
              <a:rPr b="0" i="1" lang="en-US" sz="1050" u="none" cap="none" strike="noStrike">
                <a:solidFill>
                  <a:srgbClr val="C0392B"/>
                </a:solidFill>
                <a:latin typeface="Calibri"/>
                <a:ea typeface="Calibri"/>
                <a:cs typeface="Calibri"/>
                <a:sym typeface="Calibri"/>
              </a:rPr>
              <a:t>e.g. SELECT student.Name, course.CourseName FROM Students JOIN Enrolments ... retrieves exactly the needed data in one statement.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0" name="Shape 520"/>
        <p:cNvGrpSpPr/>
        <p:nvPr/>
      </p:nvGrpSpPr>
      <p:grpSpPr>
        <a:xfrm>
          <a:off x="0" y="0"/>
          <a:ext cx="0" cy="0"/>
          <a:chOff x="0" y="0"/>
          <a:chExt cx="0" cy="0"/>
        </a:xfrm>
      </p:grpSpPr>
      <p:sp>
        <p:nvSpPr>
          <p:cNvPr id="521" name="Google Shape;521;p15"/>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Benefits of Relational Databases (2 of 2)</a:t>
            </a:r>
            <a:endParaRPr b="0" i="0" sz="2400" u="none" cap="none" strike="noStrike">
              <a:solidFill>
                <a:schemeClr val="dk1"/>
              </a:solidFill>
              <a:latin typeface="Calibri"/>
              <a:ea typeface="Calibri"/>
              <a:cs typeface="Calibri"/>
              <a:sym typeface="Calibri"/>
            </a:endParaRPr>
          </a:p>
        </p:txBody>
      </p:sp>
      <p:sp>
        <p:nvSpPr>
          <p:cNvPr id="523" name="Google Shape;523;p15"/>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5"/>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525" name="Google Shape;525;p15"/>
          <p:cNvSpPr/>
          <p:nvPr/>
        </p:nvSpPr>
        <p:spPr>
          <a:xfrm>
            <a:off x="182880" y="914400"/>
            <a:ext cx="388620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5"/>
          <p:cNvSpPr/>
          <p:nvPr/>
        </p:nvSpPr>
        <p:spPr>
          <a:xfrm>
            <a:off x="182880" y="914400"/>
            <a:ext cx="3886200" cy="274320"/>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5"/>
          <p:cNvSpPr/>
          <p:nvPr/>
        </p:nvSpPr>
        <p:spPr>
          <a:xfrm>
            <a:off x="274320" y="923544"/>
            <a:ext cx="3703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Reduced Data Duplication</a:t>
            </a:r>
            <a:endParaRPr b="0" i="0" sz="1150" u="none" cap="none" strike="noStrike">
              <a:solidFill>
                <a:schemeClr val="dk1"/>
              </a:solidFill>
              <a:latin typeface="Calibri"/>
              <a:ea typeface="Calibri"/>
              <a:cs typeface="Calibri"/>
              <a:sym typeface="Calibri"/>
            </a:endParaRPr>
          </a:p>
        </p:txBody>
      </p:sp>
      <p:sp>
        <p:nvSpPr>
          <p:cNvPr id="528" name="Google Shape;528;p15"/>
          <p:cNvSpPr/>
          <p:nvPr/>
        </p:nvSpPr>
        <p:spPr>
          <a:xfrm>
            <a:off x="274320" y="1225296"/>
            <a:ext cx="370332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Common fields link tables rather than duplicating all details across multiple records. Identifying and removing duplicate data reduces storage requirements.</a:t>
            </a:r>
            <a:endParaRPr b="0" i="0" sz="1150" u="none" cap="none" strike="noStrike">
              <a:solidFill>
                <a:schemeClr val="dk1"/>
              </a:solidFill>
              <a:latin typeface="Calibri"/>
              <a:ea typeface="Calibri"/>
              <a:cs typeface="Calibri"/>
              <a:sym typeface="Calibri"/>
            </a:endParaRPr>
          </a:p>
        </p:txBody>
      </p:sp>
      <p:sp>
        <p:nvSpPr>
          <p:cNvPr id="529" name="Google Shape;529;p15"/>
          <p:cNvSpPr/>
          <p:nvPr/>
        </p:nvSpPr>
        <p:spPr>
          <a:xfrm>
            <a:off x="274320" y="2514600"/>
            <a:ext cx="370332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5276"/>
              </a:buClr>
              <a:buSzPts val="1050"/>
              <a:buFont typeface="Calibri"/>
              <a:buNone/>
            </a:pPr>
            <a:r>
              <a:rPr b="0" i="1" lang="en-US" sz="1050" u="none" cap="none" strike="noStrike">
                <a:solidFill>
                  <a:srgbClr val="1A5276"/>
                </a:solidFill>
                <a:latin typeface="Calibri"/>
                <a:ea typeface="Calibri"/>
                <a:cs typeface="Calibri"/>
                <a:sym typeface="Calibri"/>
              </a:rPr>
              <a:t>e.g. Course details stored once in a Courses table — not repeated for every student enrolled.</a:t>
            </a:r>
            <a:endParaRPr b="0" i="0" sz="1050" u="none" cap="none" strike="noStrike">
              <a:solidFill>
                <a:schemeClr val="dk1"/>
              </a:solidFill>
              <a:latin typeface="Calibri"/>
              <a:ea typeface="Calibri"/>
              <a:cs typeface="Calibri"/>
              <a:sym typeface="Calibri"/>
            </a:endParaRPr>
          </a:p>
        </p:txBody>
      </p:sp>
      <p:sp>
        <p:nvSpPr>
          <p:cNvPr id="530" name="Google Shape;530;p15"/>
          <p:cNvSpPr/>
          <p:nvPr/>
        </p:nvSpPr>
        <p:spPr>
          <a:xfrm>
            <a:off x="4160520" y="914400"/>
            <a:ext cx="388620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5"/>
          <p:cNvSpPr/>
          <p:nvPr/>
        </p:nvSpPr>
        <p:spPr>
          <a:xfrm>
            <a:off x="4160520" y="914400"/>
            <a:ext cx="3886200" cy="274320"/>
          </a:xfrm>
          <a:prstGeom prst="rect">
            <a:avLst/>
          </a:prstGeom>
          <a:solidFill>
            <a:srgbClr val="117A65"/>
          </a:solidFill>
          <a:ln cap="flat" cmpd="sng" w="12700">
            <a:solidFill>
              <a:srgbClr val="117A6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5"/>
          <p:cNvSpPr/>
          <p:nvPr/>
        </p:nvSpPr>
        <p:spPr>
          <a:xfrm>
            <a:off x="4251960" y="923544"/>
            <a:ext cx="3703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Reduced Redundancy</a:t>
            </a:r>
            <a:endParaRPr b="0" i="0" sz="1150" u="none" cap="none" strike="noStrike">
              <a:solidFill>
                <a:schemeClr val="dk1"/>
              </a:solidFill>
              <a:latin typeface="Calibri"/>
              <a:ea typeface="Calibri"/>
              <a:cs typeface="Calibri"/>
              <a:sym typeface="Calibri"/>
            </a:endParaRPr>
          </a:p>
        </p:txBody>
      </p:sp>
      <p:sp>
        <p:nvSpPr>
          <p:cNvPr id="533" name="Google Shape;533;p15"/>
          <p:cNvSpPr/>
          <p:nvPr/>
        </p:nvSpPr>
        <p:spPr>
          <a:xfrm>
            <a:off x="4251960" y="1225296"/>
            <a:ext cx="370332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Data redundancy (storing the same data in multiple locations) leads to inconsistencies and partial updates. Normalisation organises data into tables and enforces dependencies to minimise repetition.</a:t>
            </a:r>
            <a:endParaRPr b="0" i="0" sz="1150" u="none" cap="none" strike="noStrike">
              <a:solidFill>
                <a:schemeClr val="dk1"/>
              </a:solidFill>
              <a:latin typeface="Calibri"/>
              <a:ea typeface="Calibri"/>
              <a:cs typeface="Calibri"/>
              <a:sym typeface="Calibri"/>
            </a:endParaRPr>
          </a:p>
        </p:txBody>
      </p:sp>
      <p:sp>
        <p:nvSpPr>
          <p:cNvPr id="534" name="Google Shape;534;p15"/>
          <p:cNvSpPr/>
          <p:nvPr/>
        </p:nvSpPr>
        <p:spPr>
          <a:xfrm>
            <a:off x="4251960" y="2514600"/>
            <a:ext cx="370332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7A65"/>
              </a:buClr>
              <a:buSzPts val="1050"/>
              <a:buFont typeface="Calibri"/>
              <a:buNone/>
            </a:pPr>
            <a:r>
              <a:rPr b="0" i="1" lang="en-US" sz="1050" u="none" cap="none" strike="noStrike">
                <a:solidFill>
                  <a:srgbClr val="117A65"/>
                </a:solidFill>
                <a:latin typeface="Calibri"/>
                <a:ea typeface="Calibri"/>
                <a:cs typeface="Calibri"/>
                <a:sym typeface="Calibri"/>
              </a:rPr>
              <a:t>e.g. A customer's address stored once in a Customers table, not in every Order record.</a:t>
            </a:r>
            <a:endParaRPr b="0" i="0" sz="1050" u="none" cap="none" strike="noStrike">
              <a:solidFill>
                <a:schemeClr val="dk1"/>
              </a:solidFill>
              <a:latin typeface="Calibri"/>
              <a:ea typeface="Calibri"/>
              <a:cs typeface="Calibri"/>
              <a:sym typeface="Calibri"/>
            </a:endParaRPr>
          </a:p>
        </p:txBody>
      </p:sp>
      <p:sp>
        <p:nvSpPr>
          <p:cNvPr id="535" name="Google Shape;535;p15"/>
          <p:cNvSpPr/>
          <p:nvPr/>
        </p:nvSpPr>
        <p:spPr>
          <a:xfrm>
            <a:off x="8138160" y="914400"/>
            <a:ext cx="388620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5"/>
          <p:cNvSpPr/>
          <p:nvPr/>
        </p:nvSpPr>
        <p:spPr>
          <a:xfrm>
            <a:off x="8138160" y="914400"/>
            <a:ext cx="3886200" cy="274320"/>
          </a:xfrm>
          <a:prstGeom prst="rect">
            <a:avLst/>
          </a:prstGeom>
          <a:solidFill>
            <a:srgbClr val="7D3C98"/>
          </a:solidFill>
          <a:ln cap="flat" cmpd="sng" w="12700">
            <a:solidFill>
              <a:srgbClr val="7D3C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5"/>
          <p:cNvSpPr/>
          <p:nvPr/>
        </p:nvSpPr>
        <p:spPr>
          <a:xfrm>
            <a:off x="8229600" y="923544"/>
            <a:ext cx="3703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Reliable Transaction Processing</a:t>
            </a:r>
            <a:endParaRPr b="0" i="0" sz="1150" u="none" cap="none" strike="noStrike">
              <a:solidFill>
                <a:schemeClr val="dk1"/>
              </a:solidFill>
              <a:latin typeface="Calibri"/>
              <a:ea typeface="Calibri"/>
              <a:cs typeface="Calibri"/>
              <a:sym typeface="Calibri"/>
            </a:endParaRPr>
          </a:p>
        </p:txBody>
      </p:sp>
      <p:sp>
        <p:nvSpPr>
          <p:cNvPr id="538" name="Google Shape;538;p15"/>
          <p:cNvSpPr/>
          <p:nvPr/>
        </p:nvSpPr>
        <p:spPr>
          <a:xfrm>
            <a:off x="8229600" y="1225296"/>
            <a:ext cx="370332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A transaction is a sequence of database operations treated as a single unit — it either completes fully or not at all (ACID properties). This ensures integrity during operations like insertions, deletions and updates.</a:t>
            </a:r>
            <a:endParaRPr b="0" i="0" sz="1150" u="none" cap="none" strike="noStrike">
              <a:solidFill>
                <a:schemeClr val="dk1"/>
              </a:solidFill>
              <a:latin typeface="Calibri"/>
              <a:ea typeface="Calibri"/>
              <a:cs typeface="Calibri"/>
              <a:sym typeface="Calibri"/>
            </a:endParaRPr>
          </a:p>
        </p:txBody>
      </p:sp>
      <p:sp>
        <p:nvSpPr>
          <p:cNvPr id="539" name="Google Shape;539;p15"/>
          <p:cNvSpPr/>
          <p:nvPr/>
        </p:nvSpPr>
        <p:spPr>
          <a:xfrm>
            <a:off x="8229600" y="2514600"/>
            <a:ext cx="370332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D3C98"/>
              </a:buClr>
              <a:buSzPts val="1050"/>
              <a:buFont typeface="Calibri"/>
              <a:buNone/>
            </a:pPr>
            <a:r>
              <a:rPr b="0" i="1" lang="en-US" sz="1050" u="none" cap="none" strike="noStrike">
                <a:solidFill>
                  <a:srgbClr val="7D3C98"/>
                </a:solidFill>
                <a:latin typeface="Calibri"/>
                <a:ea typeface="Calibri"/>
                <a:cs typeface="Calibri"/>
                <a:sym typeface="Calibri"/>
              </a:rPr>
              <a:t>e.g. A bank transfer debits one account and credits another. If the credit fails, the debit is automatically rolled back.</a:t>
            </a:r>
            <a:endParaRPr b="0" i="0" sz="1050" u="none" cap="none" strike="noStrike">
              <a:solidFill>
                <a:schemeClr val="dk1"/>
              </a:solidFill>
              <a:latin typeface="Calibri"/>
              <a:ea typeface="Calibri"/>
              <a:cs typeface="Calibri"/>
              <a:sym typeface="Calibri"/>
            </a:endParaRPr>
          </a:p>
        </p:txBody>
      </p:sp>
      <p:sp>
        <p:nvSpPr>
          <p:cNvPr id="540" name="Google Shape;540;p15"/>
          <p:cNvSpPr/>
          <p:nvPr/>
        </p:nvSpPr>
        <p:spPr>
          <a:xfrm>
            <a:off x="1188720" y="3767328"/>
            <a:ext cx="475488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5"/>
          <p:cNvSpPr/>
          <p:nvPr/>
        </p:nvSpPr>
        <p:spPr>
          <a:xfrm>
            <a:off x="1188720" y="3767328"/>
            <a:ext cx="4754880" cy="274320"/>
          </a:xfrm>
          <a:prstGeom prst="rect">
            <a:avLst/>
          </a:prstGeom>
          <a:solidFill>
            <a:srgbClr val="A04000"/>
          </a:solidFill>
          <a:ln cap="flat" cmpd="sng" w="12700">
            <a:solidFill>
              <a:srgbClr val="A04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5"/>
          <p:cNvSpPr/>
          <p:nvPr/>
        </p:nvSpPr>
        <p:spPr>
          <a:xfrm>
            <a:off x="1280160" y="3776472"/>
            <a:ext cx="4572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Scalability</a:t>
            </a:r>
            <a:endParaRPr b="0" i="0" sz="1150" u="none" cap="none" strike="noStrike">
              <a:solidFill>
                <a:schemeClr val="dk1"/>
              </a:solidFill>
              <a:latin typeface="Calibri"/>
              <a:ea typeface="Calibri"/>
              <a:cs typeface="Calibri"/>
              <a:sym typeface="Calibri"/>
            </a:endParaRPr>
          </a:p>
        </p:txBody>
      </p:sp>
      <p:sp>
        <p:nvSpPr>
          <p:cNvPr id="543" name="Google Shape;543;p15"/>
          <p:cNvSpPr/>
          <p:nvPr/>
        </p:nvSpPr>
        <p:spPr>
          <a:xfrm>
            <a:off x="1280160" y="4078224"/>
            <a:ext cx="457200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Database scalability is the ability to handle increasing data volumes, users and request types without sacrificing performance. Relational databases scale vertically by adding more CPU, RAM or storage to existing systems.</a:t>
            </a:r>
            <a:endParaRPr b="0" i="0" sz="1150" u="none" cap="none" strike="noStrike">
              <a:solidFill>
                <a:schemeClr val="dk1"/>
              </a:solidFill>
              <a:latin typeface="Calibri"/>
              <a:ea typeface="Calibri"/>
              <a:cs typeface="Calibri"/>
              <a:sym typeface="Calibri"/>
            </a:endParaRPr>
          </a:p>
        </p:txBody>
      </p:sp>
      <p:sp>
        <p:nvSpPr>
          <p:cNvPr id="544" name="Google Shape;544;p15"/>
          <p:cNvSpPr/>
          <p:nvPr/>
        </p:nvSpPr>
        <p:spPr>
          <a:xfrm>
            <a:off x="1280160" y="5367528"/>
            <a:ext cx="45720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4000"/>
              </a:buClr>
              <a:buSzPts val="1050"/>
              <a:buFont typeface="Calibri"/>
              <a:buNone/>
            </a:pPr>
            <a:r>
              <a:rPr b="0" i="1" lang="en-US" sz="1050" u="none" cap="none" strike="noStrike">
                <a:solidFill>
                  <a:srgbClr val="A04000"/>
                </a:solidFill>
                <a:latin typeface="Calibri"/>
                <a:ea typeface="Calibri"/>
                <a:cs typeface="Calibri"/>
                <a:sym typeface="Calibri"/>
              </a:rPr>
              <a:t>e.g. A school system scales from 500 to 5,000 students by upgrading server resources, without redesigning the schema.</a:t>
            </a:r>
            <a:endParaRPr b="0" i="0" sz="1050" u="none" cap="none" strike="noStrike">
              <a:solidFill>
                <a:schemeClr val="dk1"/>
              </a:solidFill>
              <a:latin typeface="Calibri"/>
              <a:ea typeface="Calibri"/>
              <a:cs typeface="Calibri"/>
              <a:sym typeface="Calibri"/>
            </a:endParaRPr>
          </a:p>
        </p:txBody>
      </p:sp>
      <p:sp>
        <p:nvSpPr>
          <p:cNvPr id="545" name="Google Shape;545;p15"/>
          <p:cNvSpPr/>
          <p:nvPr/>
        </p:nvSpPr>
        <p:spPr>
          <a:xfrm>
            <a:off x="6080760" y="3767328"/>
            <a:ext cx="4754880" cy="2633472"/>
          </a:xfrm>
          <a:prstGeom prst="rect">
            <a:avLst/>
          </a:prstGeom>
          <a:solidFill>
            <a:srgbClr val="FAFAFA"/>
          </a:solidFill>
          <a:ln cap="flat" cmpd="sng" w="1270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5"/>
          <p:cNvSpPr/>
          <p:nvPr/>
        </p:nvSpPr>
        <p:spPr>
          <a:xfrm>
            <a:off x="6080760" y="3767328"/>
            <a:ext cx="4754880" cy="274320"/>
          </a:xfrm>
          <a:prstGeom prst="rect">
            <a:avLst/>
          </a:prstGeom>
          <a:solidFill>
            <a:srgbClr val="1F618D"/>
          </a:solidFill>
          <a:ln cap="flat" cmpd="sng" w="12700">
            <a:solidFill>
              <a:srgbClr val="1F61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5"/>
          <p:cNvSpPr/>
          <p:nvPr/>
        </p:nvSpPr>
        <p:spPr>
          <a:xfrm>
            <a:off x="6172200" y="3776472"/>
            <a:ext cx="4572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Security Features</a:t>
            </a:r>
            <a:endParaRPr b="0" i="0" sz="1150" u="none" cap="none" strike="noStrike">
              <a:solidFill>
                <a:schemeClr val="dk1"/>
              </a:solidFill>
              <a:latin typeface="Calibri"/>
              <a:ea typeface="Calibri"/>
              <a:cs typeface="Calibri"/>
              <a:sym typeface="Calibri"/>
            </a:endParaRPr>
          </a:p>
        </p:txBody>
      </p:sp>
      <p:sp>
        <p:nvSpPr>
          <p:cNvPr id="548" name="Google Shape;548;p15"/>
          <p:cNvSpPr/>
          <p:nvPr/>
        </p:nvSpPr>
        <p:spPr>
          <a:xfrm>
            <a:off x="6172200" y="4078224"/>
            <a:ext cx="4572000" cy="12618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150"/>
              <a:buFont typeface="Calibri"/>
              <a:buNone/>
            </a:pPr>
            <a:r>
              <a:rPr b="0" i="0" lang="en-US" sz="1150" u="none" cap="none" strike="noStrike">
                <a:solidFill>
                  <a:srgbClr val="0D0D0D"/>
                </a:solidFill>
                <a:latin typeface="Calibri"/>
                <a:ea typeface="Calibri"/>
                <a:cs typeface="Calibri"/>
                <a:sym typeface="Calibri"/>
              </a:rPr>
              <a:t>Access is controlled by assigning unique user accounts with specific permissions based on roles and responsibilities. Different views can be created to restrict what different users can see.</a:t>
            </a:r>
            <a:endParaRPr b="0" i="0" sz="1150" u="none" cap="none" strike="noStrike">
              <a:solidFill>
                <a:schemeClr val="dk1"/>
              </a:solidFill>
              <a:latin typeface="Calibri"/>
              <a:ea typeface="Calibri"/>
              <a:cs typeface="Calibri"/>
              <a:sym typeface="Calibri"/>
            </a:endParaRPr>
          </a:p>
        </p:txBody>
      </p:sp>
      <p:sp>
        <p:nvSpPr>
          <p:cNvPr id="549" name="Google Shape;549;p15"/>
          <p:cNvSpPr/>
          <p:nvPr/>
        </p:nvSpPr>
        <p:spPr>
          <a:xfrm>
            <a:off x="6172200" y="5367528"/>
            <a:ext cx="45720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618D"/>
              </a:buClr>
              <a:buSzPts val="1050"/>
              <a:buFont typeface="Calibri"/>
              <a:buNone/>
            </a:pPr>
            <a:r>
              <a:rPr b="0" i="1" lang="en-US" sz="1050" u="none" cap="none" strike="noStrike">
                <a:solidFill>
                  <a:srgbClr val="1F618D"/>
                </a:solidFill>
                <a:latin typeface="Calibri"/>
                <a:ea typeface="Calibri"/>
                <a:cs typeface="Calibri"/>
                <a:sym typeface="Calibri"/>
              </a:rPr>
              <a:t>e.g. Students see only their own grades; teachers see all grades in their class; admin sees the entire database.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16"/>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Activity 2 — Benefits: Real-World Match</a:t>
            </a:r>
            <a:endParaRPr b="0" i="0" sz="2400" u="none" cap="none" strike="noStrike">
              <a:solidFill>
                <a:schemeClr val="dk1"/>
              </a:solidFill>
              <a:latin typeface="Calibri"/>
              <a:ea typeface="Calibri"/>
              <a:cs typeface="Calibri"/>
              <a:sym typeface="Calibri"/>
            </a:endParaRPr>
          </a:p>
        </p:txBody>
      </p:sp>
      <p:sp>
        <p:nvSpPr>
          <p:cNvPr id="557" name="Google Shape;557;p16"/>
          <p:cNvSpPr/>
          <p:nvPr/>
        </p:nvSpPr>
        <p:spPr>
          <a:xfrm>
            <a:off x="9948672" y="128016"/>
            <a:ext cx="2011680" cy="48463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9948672" y="128016"/>
            <a:ext cx="2011680" cy="4846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AfL CHECK</a:t>
            </a:r>
            <a:endParaRPr b="0" i="0" sz="1100" u="none" cap="none" strike="noStrike">
              <a:solidFill>
                <a:schemeClr val="dk1"/>
              </a:solidFill>
              <a:latin typeface="Calibri"/>
              <a:ea typeface="Calibri"/>
              <a:cs typeface="Calibri"/>
              <a:sym typeface="Calibri"/>
            </a:endParaRPr>
          </a:p>
        </p:txBody>
      </p:sp>
      <p:sp>
        <p:nvSpPr>
          <p:cNvPr id="559" name="Google Shape;559;p16"/>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561" name="Google Shape;561;p16"/>
          <p:cNvSpPr/>
          <p:nvPr/>
        </p:nvSpPr>
        <p:spPr>
          <a:xfrm>
            <a:off x="228600" y="914400"/>
            <a:ext cx="117043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1400" u="none" cap="none" strike="noStrike">
                <a:solidFill>
                  <a:srgbClr val="0D0D0D"/>
                </a:solidFill>
                <a:latin typeface="Calibri"/>
                <a:ea typeface="Calibri"/>
                <a:cs typeface="Calibri"/>
                <a:sym typeface="Calibri"/>
              </a:rPr>
              <a:t>Read each scenario. Identify the benefit it demonstrates. Write your answer on your worksheet (Section B).</a:t>
            </a:r>
            <a:endParaRPr b="0" i="0" sz="1400" u="none" cap="none" strike="noStrike">
              <a:solidFill>
                <a:schemeClr val="dk1"/>
              </a:solidFill>
              <a:latin typeface="Calibri"/>
              <a:ea typeface="Calibri"/>
              <a:cs typeface="Calibri"/>
              <a:sym typeface="Calibri"/>
            </a:endParaRPr>
          </a:p>
        </p:txBody>
      </p:sp>
      <p:sp>
        <p:nvSpPr>
          <p:cNvPr id="562" name="Google Shape;562;p16"/>
          <p:cNvSpPr/>
          <p:nvPr/>
        </p:nvSpPr>
        <p:spPr>
          <a:xfrm>
            <a:off x="228600" y="1508760"/>
            <a:ext cx="5760720" cy="137160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a:off x="228600" y="1508760"/>
            <a:ext cx="457200" cy="137160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a:off x="228600" y="2011680"/>
            <a:ext cx="457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400"/>
              <a:buFont typeface="Calibri"/>
              <a:buNone/>
            </a:pPr>
            <a:r>
              <a:rPr b="1" i="0" lang="en-US" sz="1400" u="none" cap="none" strike="noStrike">
                <a:solidFill>
                  <a:srgbClr val="FFE500"/>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565" name="Google Shape;565;p16"/>
          <p:cNvSpPr/>
          <p:nvPr/>
        </p:nvSpPr>
        <p:spPr>
          <a:xfrm>
            <a:off x="777240" y="1600200"/>
            <a:ext cx="512064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A hospital database prevents entry of blood type 'XYZ' because it is not a valid value.</a:t>
            </a:r>
            <a:endParaRPr b="0" i="0" sz="1300" u="none" cap="none" strike="noStrike">
              <a:solidFill>
                <a:schemeClr val="dk1"/>
              </a:solidFill>
              <a:latin typeface="Calibri"/>
              <a:ea typeface="Calibri"/>
              <a:cs typeface="Calibri"/>
              <a:sym typeface="Calibri"/>
            </a:endParaRPr>
          </a:p>
        </p:txBody>
      </p:sp>
      <p:sp>
        <p:nvSpPr>
          <p:cNvPr id="566" name="Google Shape;566;p16"/>
          <p:cNvSpPr/>
          <p:nvPr/>
        </p:nvSpPr>
        <p:spPr>
          <a:xfrm>
            <a:off x="777240" y="2496312"/>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200"/>
              <a:buFont typeface="Calibri"/>
              <a:buNone/>
            </a:pPr>
            <a:r>
              <a:rPr b="0" i="0" lang="en-US" sz="1200" u="none" cap="none" strike="noStrike">
                <a:solidFill>
                  <a:srgbClr val="AAAAAA"/>
                </a:solidFill>
                <a:latin typeface="Calibri"/>
                <a:ea typeface="Calibri"/>
                <a:cs typeface="Calibri"/>
                <a:sym typeface="Calibri"/>
              </a:rPr>
              <a:t>Benefit: _______________________</a:t>
            </a:r>
            <a:endParaRPr b="0" i="0" sz="1200" u="none" cap="none" strike="noStrike">
              <a:solidFill>
                <a:schemeClr val="dk1"/>
              </a:solidFill>
              <a:latin typeface="Calibri"/>
              <a:ea typeface="Calibri"/>
              <a:cs typeface="Calibri"/>
              <a:sym typeface="Calibri"/>
            </a:endParaRPr>
          </a:p>
        </p:txBody>
      </p:sp>
      <p:sp>
        <p:nvSpPr>
          <p:cNvPr id="567" name="Google Shape;567;p16"/>
          <p:cNvSpPr/>
          <p:nvPr/>
        </p:nvSpPr>
        <p:spPr>
          <a:xfrm>
            <a:off x="6263640" y="1508760"/>
            <a:ext cx="5760720" cy="137160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a:off x="6263640" y="1508760"/>
            <a:ext cx="457200" cy="137160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a:off x="6263640" y="2011680"/>
            <a:ext cx="457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400"/>
              <a:buFont typeface="Calibri"/>
              <a:buNone/>
            </a:pPr>
            <a:r>
              <a:rPr b="1" i="0" lang="en-US" sz="1400" u="none" cap="none" strike="noStrike">
                <a:solidFill>
                  <a:srgbClr val="FFE500"/>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570" name="Google Shape;570;p16"/>
          <p:cNvSpPr/>
          <p:nvPr/>
        </p:nvSpPr>
        <p:spPr>
          <a:xfrm>
            <a:off x="6812280" y="1600200"/>
            <a:ext cx="512064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Two bank tellers process transactions simultaneously — neither corrupts the other's changes.</a:t>
            </a:r>
            <a:endParaRPr b="0" i="0" sz="1300" u="none" cap="none" strike="noStrike">
              <a:solidFill>
                <a:schemeClr val="dk1"/>
              </a:solidFill>
              <a:latin typeface="Calibri"/>
              <a:ea typeface="Calibri"/>
              <a:cs typeface="Calibri"/>
              <a:sym typeface="Calibri"/>
            </a:endParaRPr>
          </a:p>
        </p:txBody>
      </p:sp>
      <p:sp>
        <p:nvSpPr>
          <p:cNvPr id="571" name="Google Shape;571;p16"/>
          <p:cNvSpPr/>
          <p:nvPr/>
        </p:nvSpPr>
        <p:spPr>
          <a:xfrm>
            <a:off x="6812280" y="2496312"/>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200"/>
              <a:buFont typeface="Calibri"/>
              <a:buNone/>
            </a:pPr>
            <a:r>
              <a:rPr b="0" i="0" lang="en-US" sz="1200" u="none" cap="none" strike="noStrike">
                <a:solidFill>
                  <a:srgbClr val="AAAAAA"/>
                </a:solidFill>
                <a:latin typeface="Calibri"/>
                <a:ea typeface="Calibri"/>
                <a:cs typeface="Calibri"/>
                <a:sym typeface="Calibri"/>
              </a:rPr>
              <a:t>Benefit: _______________________</a:t>
            </a:r>
            <a:endParaRPr b="0" i="0" sz="1200" u="none" cap="none" strike="noStrike">
              <a:solidFill>
                <a:schemeClr val="dk1"/>
              </a:solidFill>
              <a:latin typeface="Calibri"/>
              <a:ea typeface="Calibri"/>
              <a:cs typeface="Calibri"/>
              <a:sym typeface="Calibri"/>
            </a:endParaRPr>
          </a:p>
        </p:txBody>
      </p:sp>
      <p:sp>
        <p:nvSpPr>
          <p:cNvPr id="572" name="Google Shape;572;p16"/>
          <p:cNvSpPr/>
          <p:nvPr/>
        </p:nvSpPr>
        <p:spPr>
          <a:xfrm>
            <a:off x="228600" y="3017520"/>
            <a:ext cx="5760720" cy="137160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6"/>
          <p:cNvSpPr/>
          <p:nvPr/>
        </p:nvSpPr>
        <p:spPr>
          <a:xfrm>
            <a:off x="228600" y="3017520"/>
            <a:ext cx="457200" cy="137160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a:off x="228600" y="3520440"/>
            <a:ext cx="457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400"/>
              <a:buFont typeface="Calibri"/>
              <a:buNone/>
            </a:pPr>
            <a:r>
              <a:rPr b="1" i="0" lang="en-US" sz="1400" u="none" cap="none" strike="noStrike">
                <a:solidFill>
                  <a:srgbClr val="FFE500"/>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75" name="Google Shape;575;p16"/>
          <p:cNvSpPr/>
          <p:nvPr/>
        </p:nvSpPr>
        <p:spPr>
          <a:xfrm>
            <a:off x="777240" y="3108960"/>
            <a:ext cx="512064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A student's name is changed once in the Students table and automatically updates in all Grade and Attendance records.</a:t>
            </a:r>
            <a:endParaRPr b="0" i="0" sz="1300" u="none" cap="none" strike="noStrike">
              <a:solidFill>
                <a:schemeClr val="dk1"/>
              </a:solidFill>
              <a:latin typeface="Calibri"/>
              <a:ea typeface="Calibri"/>
              <a:cs typeface="Calibri"/>
              <a:sym typeface="Calibri"/>
            </a:endParaRPr>
          </a:p>
        </p:txBody>
      </p:sp>
      <p:sp>
        <p:nvSpPr>
          <p:cNvPr id="576" name="Google Shape;576;p16"/>
          <p:cNvSpPr/>
          <p:nvPr/>
        </p:nvSpPr>
        <p:spPr>
          <a:xfrm>
            <a:off x="777240" y="4005072"/>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200"/>
              <a:buFont typeface="Calibri"/>
              <a:buNone/>
            </a:pPr>
            <a:r>
              <a:rPr b="0" i="0" lang="en-US" sz="1200" u="none" cap="none" strike="noStrike">
                <a:solidFill>
                  <a:srgbClr val="AAAAAA"/>
                </a:solidFill>
                <a:latin typeface="Calibri"/>
                <a:ea typeface="Calibri"/>
                <a:cs typeface="Calibri"/>
                <a:sym typeface="Calibri"/>
              </a:rPr>
              <a:t>Benefit: _______________________</a:t>
            </a:r>
            <a:endParaRPr b="0" i="0" sz="1200" u="none" cap="none" strike="noStrike">
              <a:solidFill>
                <a:schemeClr val="dk1"/>
              </a:solidFill>
              <a:latin typeface="Calibri"/>
              <a:ea typeface="Calibri"/>
              <a:cs typeface="Calibri"/>
              <a:sym typeface="Calibri"/>
            </a:endParaRPr>
          </a:p>
        </p:txBody>
      </p:sp>
      <p:sp>
        <p:nvSpPr>
          <p:cNvPr id="577" name="Google Shape;577;p16"/>
          <p:cNvSpPr/>
          <p:nvPr/>
        </p:nvSpPr>
        <p:spPr>
          <a:xfrm>
            <a:off x="6263640" y="3017520"/>
            <a:ext cx="5760720" cy="137160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a:off x="6263640" y="3017520"/>
            <a:ext cx="457200" cy="137160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a:off x="6263640" y="3520440"/>
            <a:ext cx="457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400"/>
              <a:buFont typeface="Calibri"/>
              <a:buNone/>
            </a:pPr>
            <a:r>
              <a:rPr b="1" i="0" lang="en-US" sz="1400" u="none" cap="none" strike="noStrike">
                <a:solidFill>
                  <a:srgbClr val="FFE500"/>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580" name="Google Shape;580;p16"/>
          <p:cNvSpPr/>
          <p:nvPr/>
        </p:nvSpPr>
        <p:spPr>
          <a:xfrm>
            <a:off x="6812280" y="3108960"/>
            <a:ext cx="512064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A social media platform grows from 10,000 to 10 million users by adding more RAM and CPU to their database server.</a:t>
            </a:r>
            <a:endParaRPr b="0" i="0" sz="1300" u="none" cap="none" strike="noStrike">
              <a:solidFill>
                <a:schemeClr val="dk1"/>
              </a:solidFill>
              <a:latin typeface="Calibri"/>
              <a:ea typeface="Calibri"/>
              <a:cs typeface="Calibri"/>
              <a:sym typeface="Calibri"/>
            </a:endParaRPr>
          </a:p>
        </p:txBody>
      </p:sp>
      <p:sp>
        <p:nvSpPr>
          <p:cNvPr id="581" name="Google Shape;581;p16"/>
          <p:cNvSpPr/>
          <p:nvPr/>
        </p:nvSpPr>
        <p:spPr>
          <a:xfrm>
            <a:off x="6812280" y="4005072"/>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200"/>
              <a:buFont typeface="Calibri"/>
              <a:buNone/>
            </a:pPr>
            <a:r>
              <a:rPr b="0" i="0" lang="en-US" sz="1200" u="none" cap="none" strike="noStrike">
                <a:solidFill>
                  <a:srgbClr val="AAAAAA"/>
                </a:solidFill>
                <a:latin typeface="Calibri"/>
                <a:ea typeface="Calibri"/>
                <a:cs typeface="Calibri"/>
                <a:sym typeface="Calibri"/>
              </a:rPr>
              <a:t>Benefit: _______________________</a:t>
            </a:r>
            <a:endParaRPr b="0" i="0" sz="1200" u="none" cap="none" strike="noStrike">
              <a:solidFill>
                <a:schemeClr val="dk1"/>
              </a:solidFill>
              <a:latin typeface="Calibri"/>
              <a:ea typeface="Calibri"/>
              <a:cs typeface="Calibri"/>
              <a:sym typeface="Calibri"/>
            </a:endParaRPr>
          </a:p>
        </p:txBody>
      </p:sp>
      <p:sp>
        <p:nvSpPr>
          <p:cNvPr id="582" name="Google Shape;582;p16"/>
          <p:cNvSpPr/>
          <p:nvPr/>
        </p:nvSpPr>
        <p:spPr>
          <a:xfrm>
            <a:off x="228600" y="4526280"/>
            <a:ext cx="5760720" cy="137160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6"/>
          <p:cNvSpPr/>
          <p:nvPr/>
        </p:nvSpPr>
        <p:spPr>
          <a:xfrm>
            <a:off x="228600" y="4526280"/>
            <a:ext cx="457200" cy="137160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a:off x="228600" y="5029200"/>
            <a:ext cx="457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400"/>
              <a:buFont typeface="Calibri"/>
              <a:buNone/>
            </a:pPr>
            <a:r>
              <a:rPr b="1" i="0" lang="en-US" sz="1400" u="none" cap="none" strike="noStrike">
                <a:solidFill>
                  <a:srgbClr val="FFE500"/>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585" name="Google Shape;585;p16"/>
          <p:cNvSpPr/>
          <p:nvPr/>
        </p:nvSpPr>
        <p:spPr>
          <a:xfrm>
            <a:off x="777240" y="4617720"/>
            <a:ext cx="512064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A payroll system crashes mid-run. All incomplete salary updates are fully reversed — no partial payments.</a:t>
            </a:r>
            <a:endParaRPr b="0" i="0" sz="1300" u="none" cap="none" strike="noStrike">
              <a:solidFill>
                <a:schemeClr val="dk1"/>
              </a:solidFill>
              <a:latin typeface="Calibri"/>
              <a:ea typeface="Calibri"/>
              <a:cs typeface="Calibri"/>
              <a:sym typeface="Calibri"/>
            </a:endParaRPr>
          </a:p>
        </p:txBody>
      </p:sp>
      <p:sp>
        <p:nvSpPr>
          <p:cNvPr id="586" name="Google Shape;586;p16"/>
          <p:cNvSpPr/>
          <p:nvPr/>
        </p:nvSpPr>
        <p:spPr>
          <a:xfrm>
            <a:off x="777240" y="5513832"/>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200"/>
              <a:buFont typeface="Calibri"/>
              <a:buNone/>
            </a:pPr>
            <a:r>
              <a:rPr b="0" i="0" lang="en-US" sz="1200" u="none" cap="none" strike="noStrike">
                <a:solidFill>
                  <a:srgbClr val="AAAAAA"/>
                </a:solidFill>
                <a:latin typeface="Calibri"/>
                <a:ea typeface="Calibri"/>
                <a:cs typeface="Calibri"/>
                <a:sym typeface="Calibri"/>
              </a:rPr>
              <a:t>Benefit: _______________________</a:t>
            </a:r>
            <a:endParaRPr b="0" i="0" sz="1200" u="none" cap="none" strike="noStrike">
              <a:solidFill>
                <a:schemeClr val="dk1"/>
              </a:solidFill>
              <a:latin typeface="Calibri"/>
              <a:ea typeface="Calibri"/>
              <a:cs typeface="Calibri"/>
              <a:sym typeface="Calibri"/>
            </a:endParaRPr>
          </a:p>
        </p:txBody>
      </p:sp>
      <p:sp>
        <p:nvSpPr>
          <p:cNvPr id="587" name="Google Shape;587;p16"/>
          <p:cNvSpPr/>
          <p:nvPr/>
        </p:nvSpPr>
        <p:spPr>
          <a:xfrm>
            <a:off x="6263640" y="4526280"/>
            <a:ext cx="5760720" cy="1371600"/>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6"/>
          <p:cNvSpPr/>
          <p:nvPr/>
        </p:nvSpPr>
        <p:spPr>
          <a:xfrm>
            <a:off x="6263640" y="4526280"/>
            <a:ext cx="457200" cy="137160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6"/>
          <p:cNvSpPr/>
          <p:nvPr/>
        </p:nvSpPr>
        <p:spPr>
          <a:xfrm>
            <a:off x="6263640" y="5029200"/>
            <a:ext cx="457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E500"/>
              </a:buClr>
              <a:buSzPts val="1400"/>
              <a:buFont typeface="Calibri"/>
              <a:buNone/>
            </a:pPr>
            <a:r>
              <a:rPr b="1" i="0" lang="en-US" sz="1400" u="none" cap="none" strike="noStrike">
                <a:solidFill>
                  <a:srgbClr val="FFE500"/>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590" name="Google Shape;590;p16"/>
          <p:cNvSpPr/>
          <p:nvPr/>
        </p:nvSpPr>
        <p:spPr>
          <a:xfrm>
            <a:off x="6812280" y="4617720"/>
            <a:ext cx="512064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Course details are stored once in a Courses table and referenced by 2,000 student enrolment records.</a:t>
            </a:r>
            <a:endParaRPr b="0" i="0" sz="1300" u="none" cap="none" strike="noStrike">
              <a:solidFill>
                <a:schemeClr val="dk1"/>
              </a:solidFill>
              <a:latin typeface="Calibri"/>
              <a:ea typeface="Calibri"/>
              <a:cs typeface="Calibri"/>
              <a:sym typeface="Calibri"/>
            </a:endParaRPr>
          </a:p>
        </p:txBody>
      </p:sp>
      <p:sp>
        <p:nvSpPr>
          <p:cNvPr id="591" name="Google Shape;591;p16"/>
          <p:cNvSpPr/>
          <p:nvPr/>
        </p:nvSpPr>
        <p:spPr>
          <a:xfrm>
            <a:off x="6812280" y="5513832"/>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200"/>
              <a:buFont typeface="Calibri"/>
              <a:buNone/>
            </a:pPr>
            <a:r>
              <a:rPr b="0" i="0" lang="en-US" sz="1200" u="none" cap="none" strike="noStrike">
                <a:solidFill>
                  <a:srgbClr val="AAAAAA"/>
                </a:solidFill>
                <a:latin typeface="Calibri"/>
                <a:ea typeface="Calibri"/>
                <a:cs typeface="Calibri"/>
                <a:sym typeface="Calibri"/>
              </a:rPr>
              <a:t>Benefit: _______________________</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6" name="Shape 596"/>
        <p:cNvGrpSpPr/>
        <p:nvPr/>
      </p:nvGrpSpPr>
      <p:grpSpPr>
        <a:xfrm>
          <a:off x="0" y="0"/>
          <a:ext cx="0" cy="0"/>
          <a:chOff x="0" y="0"/>
          <a:chExt cx="0" cy="0"/>
        </a:xfrm>
      </p:grpSpPr>
      <p:sp>
        <p:nvSpPr>
          <p:cNvPr id="597" name="Google Shape;597;p17"/>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7"/>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Limitations of Relational Databases (1 of 2)</a:t>
            </a:r>
            <a:endParaRPr b="0" i="0" sz="2400" u="none" cap="none" strike="noStrike">
              <a:solidFill>
                <a:schemeClr val="dk1"/>
              </a:solidFill>
              <a:latin typeface="Calibri"/>
              <a:ea typeface="Calibri"/>
              <a:cs typeface="Calibri"/>
              <a:sym typeface="Calibri"/>
            </a:endParaRPr>
          </a:p>
        </p:txBody>
      </p:sp>
      <p:sp>
        <p:nvSpPr>
          <p:cNvPr id="599" name="Google Shape;599;p17"/>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7"/>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601" name="Google Shape;601;p17"/>
          <p:cNvSpPr/>
          <p:nvPr/>
        </p:nvSpPr>
        <p:spPr>
          <a:xfrm>
            <a:off x="228600" y="914400"/>
            <a:ext cx="11704320" cy="1691640"/>
          </a:xfrm>
          <a:prstGeom prst="rect">
            <a:avLst/>
          </a:prstGeom>
          <a:solidFill>
            <a:srgbClr val="FFF5F5"/>
          </a:solidFill>
          <a:ln cap="flat" cmpd="sng" w="12700">
            <a:solidFill>
              <a:srgbClr val="FADB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7"/>
          <p:cNvSpPr/>
          <p:nvPr/>
        </p:nvSpPr>
        <p:spPr>
          <a:xfrm>
            <a:off x="228600" y="914400"/>
            <a:ext cx="2743200" cy="169164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7"/>
          <p:cNvSpPr/>
          <p:nvPr/>
        </p:nvSpPr>
        <p:spPr>
          <a:xfrm>
            <a:off x="274320" y="1325880"/>
            <a:ext cx="260604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Trebuchet MS"/>
              <a:buNone/>
            </a:pPr>
            <a:r>
              <a:rPr b="1" i="0" lang="en-US" sz="1400" u="none" cap="none" strike="noStrike">
                <a:solidFill>
                  <a:srgbClr val="FFFFFF"/>
                </a:solidFill>
                <a:latin typeface="Trebuchet MS"/>
                <a:ea typeface="Trebuchet MS"/>
                <a:cs typeface="Trebuchet MS"/>
                <a:sym typeface="Trebuchet MS"/>
              </a:rPr>
              <a:t>Rigid Schema</a:t>
            </a:r>
            <a:endParaRPr b="0" i="0" sz="1400" u="none" cap="none" strike="noStrike">
              <a:solidFill>
                <a:schemeClr val="dk1"/>
              </a:solidFill>
              <a:latin typeface="Calibri"/>
              <a:ea typeface="Calibri"/>
              <a:cs typeface="Calibri"/>
              <a:sym typeface="Calibri"/>
            </a:endParaRPr>
          </a:p>
        </p:txBody>
      </p:sp>
      <p:sp>
        <p:nvSpPr>
          <p:cNvPr id="604" name="Google Shape;604;p17"/>
          <p:cNvSpPr/>
          <p:nvPr/>
        </p:nvSpPr>
        <p:spPr>
          <a:xfrm>
            <a:off x="3154680" y="987552"/>
            <a:ext cx="868680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Relational databases have a predefined schema — the structure is defined upfront. Changing it later (adding columns, altering types) is time-consuming and can be dangerous on live systems with millions of rows.</a:t>
            </a:r>
            <a:endParaRPr b="0" i="0" sz="1300" u="none" cap="none" strike="noStrike">
              <a:solidFill>
                <a:schemeClr val="dk1"/>
              </a:solidFill>
              <a:latin typeface="Calibri"/>
              <a:ea typeface="Calibri"/>
              <a:cs typeface="Calibri"/>
              <a:sym typeface="Calibri"/>
            </a:endParaRPr>
          </a:p>
        </p:txBody>
      </p:sp>
      <p:sp>
        <p:nvSpPr>
          <p:cNvPr id="605" name="Google Shape;605;p17"/>
          <p:cNvSpPr/>
          <p:nvPr/>
        </p:nvSpPr>
        <p:spPr>
          <a:xfrm>
            <a:off x="3154680" y="1828800"/>
            <a:ext cx="86868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392B"/>
              </a:buClr>
              <a:buSzPts val="1200"/>
              <a:buFont typeface="Calibri"/>
              <a:buNone/>
            </a:pPr>
            <a:r>
              <a:rPr b="0" i="1" lang="en-US" sz="1200" u="none" cap="none" strike="noStrike">
                <a:solidFill>
                  <a:srgbClr val="C0392B"/>
                </a:solidFill>
                <a:latin typeface="Calibri"/>
                <a:ea typeface="Calibri"/>
                <a:cs typeface="Calibri"/>
                <a:sym typeface="Calibri"/>
              </a:rPr>
              <a:t>e.g. Adding a new field to a 50-million-row orders table can lock the table for hours, causing system downtime.</a:t>
            </a:r>
            <a:endParaRPr b="0" i="0" sz="1200" u="none" cap="none" strike="noStrike">
              <a:solidFill>
                <a:schemeClr val="dk1"/>
              </a:solidFill>
              <a:latin typeface="Calibri"/>
              <a:ea typeface="Calibri"/>
              <a:cs typeface="Calibri"/>
              <a:sym typeface="Calibri"/>
            </a:endParaRPr>
          </a:p>
        </p:txBody>
      </p:sp>
      <p:sp>
        <p:nvSpPr>
          <p:cNvPr id="606" name="Google Shape;606;p17"/>
          <p:cNvSpPr/>
          <p:nvPr/>
        </p:nvSpPr>
        <p:spPr>
          <a:xfrm>
            <a:off x="228600" y="2743200"/>
            <a:ext cx="11704320" cy="1691640"/>
          </a:xfrm>
          <a:prstGeom prst="rect">
            <a:avLst/>
          </a:prstGeom>
          <a:solidFill>
            <a:srgbClr val="FFF5F5"/>
          </a:solidFill>
          <a:ln cap="flat" cmpd="sng" w="12700">
            <a:solidFill>
              <a:srgbClr val="FADB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7"/>
          <p:cNvSpPr/>
          <p:nvPr/>
        </p:nvSpPr>
        <p:spPr>
          <a:xfrm>
            <a:off x="228600" y="2743200"/>
            <a:ext cx="2743200" cy="169164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7"/>
          <p:cNvSpPr/>
          <p:nvPr/>
        </p:nvSpPr>
        <p:spPr>
          <a:xfrm>
            <a:off x="274320" y="3154680"/>
            <a:ext cx="260604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Trebuchet MS"/>
              <a:buNone/>
            </a:pPr>
            <a:r>
              <a:rPr b="1" i="0" lang="en-US" sz="1400" u="none" cap="none" strike="noStrike">
                <a:solidFill>
                  <a:srgbClr val="FFFFFF"/>
                </a:solidFill>
                <a:latin typeface="Trebuchet MS"/>
                <a:ea typeface="Trebuchet MS"/>
                <a:cs typeface="Trebuchet MS"/>
                <a:sym typeface="Trebuchet MS"/>
              </a:rPr>
              <a:t>Design Complexity</a:t>
            </a:r>
            <a:endParaRPr b="0" i="0" sz="1400" u="none" cap="none" strike="noStrike">
              <a:solidFill>
                <a:schemeClr val="dk1"/>
              </a:solidFill>
              <a:latin typeface="Calibri"/>
              <a:ea typeface="Calibri"/>
              <a:cs typeface="Calibri"/>
              <a:sym typeface="Calibri"/>
            </a:endParaRPr>
          </a:p>
        </p:txBody>
      </p:sp>
      <p:sp>
        <p:nvSpPr>
          <p:cNvPr id="609" name="Google Shape;609;p17"/>
          <p:cNvSpPr/>
          <p:nvPr/>
        </p:nvSpPr>
        <p:spPr>
          <a:xfrm>
            <a:off x="3154680" y="2816352"/>
            <a:ext cx="868680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Designing an efficient, normalised relational schema requires expertise and careful planning. Poor design leads to slow queries, anomalies and maintenance nightmares.</a:t>
            </a:r>
            <a:endParaRPr b="0" i="0" sz="1300" u="none" cap="none" strike="noStrike">
              <a:solidFill>
                <a:schemeClr val="dk1"/>
              </a:solidFill>
              <a:latin typeface="Calibri"/>
              <a:ea typeface="Calibri"/>
              <a:cs typeface="Calibri"/>
              <a:sym typeface="Calibri"/>
            </a:endParaRPr>
          </a:p>
        </p:txBody>
      </p:sp>
      <p:sp>
        <p:nvSpPr>
          <p:cNvPr id="610" name="Google Shape;610;p17"/>
          <p:cNvSpPr/>
          <p:nvPr/>
        </p:nvSpPr>
        <p:spPr>
          <a:xfrm>
            <a:off x="3154680" y="3657600"/>
            <a:ext cx="86868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392B"/>
              </a:buClr>
              <a:buSzPts val="1200"/>
              <a:buFont typeface="Calibri"/>
              <a:buNone/>
            </a:pPr>
            <a:r>
              <a:rPr b="0" i="1" lang="en-US" sz="1200" u="none" cap="none" strike="noStrike">
                <a:solidFill>
                  <a:srgbClr val="C0392B"/>
                </a:solidFill>
                <a:latin typeface="Calibri"/>
                <a:ea typeface="Calibri"/>
                <a:cs typeface="Calibri"/>
                <a:sym typeface="Calibri"/>
              </a:rPr>
              <a:t>e.g. A poorly designed schema with unnecessary JOINs across 10 tables can make simple queries unacceptably slow.</a:t>
            </a:r>
            <a:endParaRPr b="0" i="0" sz="1200" u="none" cap="none" strike="noStrike">
              <a:solidFill>
                <a:schemeClr val="dk1"/>
              </a:solidFill>
              <a:latin typeface="Calibri"/>
              <a:ea typeface="Calibri"/>
              <a:cs typeface="Calibri"/>
              <a:sym typeface="Calibri"/>
            </a:endParaRPr>
          </a:p>
        </p:txBody>
      </p:sp>
      <p:sp>
        <p:nvSpPr>
          <p:cNvPr id="611" name="Google Shape;611;p17"/>
          <p:cNvSpPr/>
          <p:nvPr/>
        </p:nvSpPr>
        <p:spPr>
          <a:xfrm>
            <a:off x="228600" y="4572000"/>
            <a:ext cx="11704320" cy="1691640"/>
          </a:xfrm>
          <a:prstGeom prst="rect">
            <a:avLst/>
          </a:prstGeom>
          <a:solidFill>
            <a:srgbClr val="FFF5F5"/>
          </a:solidFill>
          <a:ln cap="flat" cmpd="sng" w="12700">
            <a:solidFill>
              <a:srgbClr val="FADB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a:off x="228600" y="4572000"/>
            <a:ext cx="2743200" cy="169164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7"/>
          <p:cNvSpPr/>
          <p:nvPr/>
        </p:nvSpPr>
        <p:spPr>
          <a:xfrm>
            <a:off x="274320" y="4983480"/>
            <a:ext cx="260604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Trebuchet MS"/>
              <a:buNone/>
            </a:pPr>
            <a:r>
              <a:rPr b="1" i="0" lang="en-US" sz="1400" u="none" cap="none" strike="noStrike">
                <a:solidFill>
                  <a:srgbClr val="FFFFFF"/>
                </a:solidFill>
                <a:latin typeface="Trebuchet MS"/>
                <a:ea typeface="Trebuchet MS"/>
                <a:cs typeface="Trebuchet MS"/>
                <a:sym typeface="Trebuchet MS"/>
              </a:rPr>
              <a:t>"Big Data" Scalability Issues</a:t>
            </a:r>
            <a:endParaRPr b="0" i="0" sz="1400" u="none" cap="none" strike="noStrike">
              <a:solidFill>
                <a:schemeClr val="dk1"/>
              </a:solidFill>
              <a:latin typeface="Calibri"/>
              <a:ea typeface="Calibri"/>
              <a:cs typeface="Calibri"/>
              <a:sym typeface="Calibri"/>
            </a:endParaRPr>
          </a:p>
        </p:txBody>
      </p:sp>
      <p:sp>
        <p:nvSpPr>
          <p:cNvPr id="614" name="Google Shape;614;p17"/>
          <p:cNvSpPr/>
          <p:nvPr/>
        </p:nvSpPr>
        <p:spPr>
          <a:xfrm>
            <a:off x="3154680" y="4645152"/>
            <a:ext cx="868680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Performance degrades when handling very large, complex datasets. Horizontal scaling (adding servers) is difficult — RDBMSs are optimised for vertical scaling (bigger single servers), which has limits.</a:t>
            </a:r>
            <a:endParaRPr b="0" i="0" sz="1300" u="none" cap="none" strike="noStrike">
              <a:solidFill>
                <a:schemeClr val="dk1"/>
              </a:solidFill>
              <a:latin typeface="Calibri"/>
              <a:ea typeface="Calibri"/>
              <a:cs typeface="Calibri"/>
              <a:sym typeface="Calibri"/>
            </a:endParaRPr>
          </a:p>
        </p:txBody>
      </p:sp>
      <p:sp>
        <p:nvSpPr>
          <p:cNvPr id="615" name="Google Shape;615;p17"/>
          <p:cNvSpPr/>
          <p:nvPr/>
        </p:nvSpPr>
        <p:spPr>
          <a:xfrm>
            <a:off x="3154680" y="5486400"/>
            <a:ext cx="86868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392B"/>
              </a:buClr>
              <a:buSzPts val="1200"/>
              <a:buFont typeface="Calibri"/>
              <a:buNone/>
            </a:pPr>
            <a:r>
              <a:rPr b="0" i="1" lang="en-US" sz="1200" u="none" cap="none" strike="noStrike">
                <a:solidFill>
                  <a:srgbClr val="C0392B"/>
                </a:solidFill>
                <a:latin typeface="Calibri"/>
                <a:ea typeface="Calibri"/>
                <a:cs typeface="Calibri"/>
                <a:sym typeface="Calibri"/>
              </a:rPr>
              <a:t>e.g. Facebook processes billions of events daily — a traditional RDBMS cannot distribute this write load efficiently across thousands of servers.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p18"/>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8"/>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Limitations of Relational Databases (2 of 2)</a:t>
            </a:r>
            <a:endParaRPr b="0" i="0" sz="2400" u="none" cap="none" strike="noStrike">
              <a:solidFill>
                <a:schemeClr val="dk1"/>
              </a:solidFill>
              <a:latin typeface="Calibri"/>
              <a:ea typeface="Calibri"/>
              <a:cs typeface="Calibri"/>
              <a:sym typeface="Calibri"/>
            </a:endParaRPr>
          </a:p>
        </p:txBody>
      </p:sp>
      <p:sp>
        <p:nvSpPr>
          <p:cNvPr id="623" name="Google Shape;623;p18"/>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8"/>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625" name="Google Shape;625;p18"/>
          <p:cNvSpPr/>
          <p:nvPr/>
        </p:nvSpPr>
        <p:spPr>
          <a:xfrm>
            <a:off x="228600" y="914400"/>
            <a:ext cx="11704320" cy="1691640"/>
          </a:xfrm>
          <a:prstGeom prst="rect">
            <a:avLst/>
          </a:prstGeom>
          <a:solidFill>
            <a:srgbClr val="FFF5F5"/>
          </a:solidFill>
          <a:ln cap="flat" cmpd="sng" w="12700">
            <a:solidFill>
              <a:srgbClr val="FADB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8"/>
          <p:cNvSpPr/>
          <p:nvPr/>
        </p:nvSpPr>
        <p:spPr>
          <a:xfrm>
            <a:off x="228600" y="914400"/>
            <a:ext cx="2743200" cy="169164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8"/>
          <p:cNvSpPr/>
          <p:nvPr/>
        </p:nvSpPr>
        <p:spPr>
          <a:xfrm>
            <a:off x="274320" y="1234440"/>
            <a:ext cx="2606040"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Object-Relational Impedance Mismatch</a:t>
            </a:r>
            <a:endParaRPr b="0" i="0" sz="1300" u="none" cap="none" strike="noStrike">
              <a:solidFill>
                <a:schemeClr val="dk1"/>
              </a:solidFill>
              <a:latin typeface="Calibri"/>
              <a:ea typeface="Calibri"/>
              <a:cs typeface="Calibri"/>
              <a:sym typeface="Calibri"/>
            </a:endParaRPr>
          </a:p>
        </p:txBody>
      </p:sp>
      <p:sp>
        <p:nvSpPr>
          <p:cNvPr id="628" name="Google Shape;628;p18"/>
          <p:cNvSpPr/>
          <p:nvPr/>
        </p:nvSpPr>
        <p:spPr>
          <a:xfrm>
            <a:off x="3154680" y="987552"/>
            <a:ext cx="868680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Object-oriented programs represent data as objects with nested, complex relationships. These do not map cleanly to flat relational tables, requiring extra translation code (ORM frameworks) that adds complexity and overhead.</a:t>
            </a:r>
            <a:endParaRPr b="0" i="0" sz="1300" u="none" cap="none" strike="noStrike">
              <a:solidFill>
                <a:schemeClr val="dk1"/>
              </a:solidFill>
              <a:latin typeface="Calibri"/>
              <a:ea typeface="Calibri"/>
              <a:cs typeface="Calibri"/>
              <a:sym typeface="Calibri"/>
            </a:endParaRPr>
          </a:p>
        </p:txBody>
      </p:sp>
      <p:sp>
        <p:nvSpPr>
          <p:cNvPr id="629" name="Google Shape;629;p18"/>
          <p:cNvSpPr/>
          <p:nvPr/>
        </p:nvSpPr>
        <p:spPr>
          <a:xfrm>
            <a:off x="3154680" y="1828800"/>
            <a:ext cx="86868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392B"/>
              </a:buClr>
              <a:buSzPts val="1200"/>
              <a:buFont typeface="Calibri"/>
              <a:buNone/>
            </a:pPr>
            <a:r>
              <a:rPr b="0" i="1" lang="en-US" sz="1200" u="none" cap="none" strike="noStrike">
                <a:solidFill>
                  <a:srgbClr val="C0392B"/>
                </a:solidFill>
                <a:latin typeface="Calibri"/>
                <a:ea typeface="Calibri"/>
                <a:cs typeface="Calibri"/>
                <a:sym typeface="Calibri"/>
              </a:rPr>
              <a:t>e.g. An Order object with nested LineItems, nested Products, and nested CustomerProfiles is awkward to split across 4 tables and must be reassembled on every query.</a:t>
            </a:r>
            <a:endParaRPr b="0" i="0" sz="1200" u="none" cap="none" strike="noStrike">
              <a:solidFill>
                <a:schemeClr val="dk1"/>
              </a:solidFill>
              <a:latin typeface="Calibri"/>
              <a:ea typeface="Calibri"/>
              <a:cs typeface="Calibri"/>
              <a:sym typeface="Calibri"/>
            </a:endParaRPr>
          </a:p>
        </p:txBody>
      </p:sp>
      <p:sp>
        <p:nvSpPr>
          <p:cNvPr id="630" name="Google Shape;630;p18"/>
          <p:cNvSpPr/>
          <p:nvPr/>
        </p:nvSpPr>
        <p:spPr>
          <a:xfrm>
            <a:off x="228600" y="2743200"/>
            <a:ext cx="11704320" cy="1691640"/>
          </a:xfrm>
          <a:prstGeom prst="rect">
            <a:avLst/>
          </a:prstGeom>
          <a:solidFill>
            <a:srgbClr val="FFF5F5"/>
          </a:solidFill>
          <a:ln cap="flat" cmpd="sng" w="12700">
            <a:solidFill>
              <a:srgbClr val="FADB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8"/>
          <p:cNvSpPr/>
          <p:nvPr/>
        </p:nvSpPr>
        <p:spPr>
          <a:xfrm>
            <a:off x="228600" y="2743200"/>
            <a:ext cx="2743200" cy="169164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8"/>
          <p:cNvSpPr/>
          <p:nvPr/>
        </p:nvSpPr>
        <p:spPr>
          <a:xfrm>
            <a:off x="274320" y="3063240"/>
            <a:ext cx="2606040"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Hierarchical Data Handling</a:t>
            </a:r>
            <a:endParaRPr b="0" i="0" sz="1300" u="none" cap="none" strike="noStrike">
              <a:solidFill>
                <a:schemeClr val="dk1"/>
              </a:solidFill>
              <a:latin typeface="Calibri"/>
              <a:ea typeface="Calibri"/>
              <a:cs typeface="Calibri"/>
              <a:sym typeface="Calibri"/>
            </a:endParaRPr>
          </a:p>
        </p:txBody>
      </p:sp>
      <p:sp>
        <p:nvSpPr>
          <p:cNvPr id="633" name="Google Shape;633;p18"/>
          <p:cNvSpPr/>
          <p:nvPr/>
        </p:nvSpPr>
        <p:spPr>
          <a:xfrm>
            <a:off x="3154680" y="2816352"/>
            <a:ext cx="868680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Tree structures (org charts, file systems, product categories) do not map naturally to tables. Strategies like adjacency lists work but become very slow and complex for deep or large hierarchies.</a:t>
            </a:r>
            <a:endParaRPr b="0" i="0" sz="1300" u="none" cap="none" strike="noStrike">
              <a:solidFill>
                <a:schemeClr val="dk1"/>
              </a:solidFill>
              <a:latin typeface="Calibri"/>
              <a:ea typeface="Calibri"/>
              <a:cs typeface="Calibri"/>
              <a:sym typeface="Calibri"/>
            </a:endParaRPr>
          </a:p>
        </p:txBody>
      </p:sp>
      <p:sp>
        <p:nvSpPr>
          <p:cNvPr id="634" name="Google Shape;634;p18"/>
          <p:cNvSpPr/>
          <p:nvPr/>
        </p:nvSpPr>
        <p:spPr>
          <a:xfrm>
            <a:off x="3154680" y="3657600"/>
            <a:ext cx="86868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392B"/>
              </a:buClr>
              <a:buSzPts val="1200"/>
              <a:buFont typeface="Calibri"/>
              <a:buNone/>
            </a:pPr>
            <a:r>
              <a:rPr b="0" i="1" lang="en-US" sz="1200" u="none" cap="none" strike="noStrike">
                <a:solidFill>
                  <a:srgbClr val="C0392B"/>
                </a:solidFill>
                <a:latin typeface="Calibri"/>
                <a:ea typeface="Calibri"/>
                <a:cs typeface="Calibri"/>
                <a:sym typeface="Calibri"/>
              </a:rPr>
              <a:t>e.g. Querying a folder structure with unlimited nesting depth requires recursive queries or multiple JOINs — this is inefficient in a relational model.</a:t>
            </a:r>
            <a:endParaRPr b="0" i="0" sz="1200" u="none" cap="none" strike="noStrike">
              <a:solidFill>
                <a:schemeClr val="dk1"/>
              </a:solidFill>
              <a:latin typeface="Calibri"/>
              <a:ea typeface="Calibri"/>
              <a:cs typeface="Calibri"/>
              <a:sym typeface="Calibri"/>
            </a:endParaRPr>
          </a:p>
        </p:txBody>
      </p:sp>
      <p:sp>
        <p:nvSpPr>
          <p:cNvPr id="635" name="Google Shape;635;p18"/>
          <p:cNvSpPr/>
          <p:nvPr/>
        </p:nvSpPr>
        <p:spPr>
          <a:xfrm>
            <a:off x="228600" y="4572000"/>
            <a:ext cx="11704320" cy="1691640"/>
          </a:xfrm>
          <a:prstGeom prst="rect">
            <a:avLst/>
          </a:prstGeom>
          <a:solidFill>
            <a:srgbClr val="FFF5F5"/>
          </a:solidFill>
          <a:ln cap="flat" cmpd="sng" w="12700">
            <a:solidFill>
              <a:srgbClr val="FADB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8"/>
          <p:cNvSpPr/>
          <p:nvPr/>
        </p:nvSpPr>
        <p:spPr>
          <a:xfrm>
            <a:off x="228600" y="4572000"/>
            <a:ext cx="2743200" cy="169164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8"/>
          <p:cNvSpPr/>
          <p:nvPr/>
        </p:nvSpPr>
        <p:spPr>
          <a:xfrm>
            <a:off x="274320" y="4892040"/>
            <a:ext cx="2606040"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Unstructured Data Handling</a:t>
            </a:r>
            <a:endParaRPr b="0" i="0" sz="1300" u="none" cap="none" strike="noStrike">
              <a:solidFill>
                <a:schemeClr val="dk1"/>
              </a:solidFill>
              <a:latin typeface="Calibri"/>
              <a:ea typeface="Calibri"/>
              <a:cs typeface="Calibri"/>
              <a:sym typeface="Calibri"/>
            </a:endParaRPr>
          </a:p>
        </p:txBody>
      </p:sp>
      <p:sp>
        <p:nvSpPr>
          <p:cNvPr id="638" name="Google Shape;638;p18"/>
          <p:cNvSpPr/>
          <p:nvPr/>
        </p:nvSpPr>
        <p:spPr>
          <a:xfrm>
            <a:off x="3154680" y="4645152"/>
            <a:ext cx="8686800" cy="8046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300"/>
              <a:buFont typeface="Calibri"/>
              <a:buNone/>
            </a:pPr>
            <a:r>
              <a:rPr b="0" i="0" lang="en-US" sz="1300" u="none" cap="none" strike="noStrike">
                <a:solidFill>
                  <a:srgbClr val="0D0D0D"/>
                </a:solidFill>
                <a:latin typeface="Calibri"/>
                <a:ea typeface="Calibri"/>
                <a:cs typeface="Calibri"/>
                <a:sym typeface="Calibri"/>
              </a:rPr>
              <a:t>Relational databases require all data to fit into predefined columns and data types. They handle unstructured or semi-structured data (images, video, free-text documents, variable JSON) very poorly.</a:t>
            </a:r>
            <a:endParaRPr b="0" i="0" sz="1300" u="none" cap="none" strike="noStrike">
              <a:solidFill>
                <a:schemeClr val="dk1"/>
              </a:solidFill>
              <a:latin typeface="Calibri"/>
              <a:ea typeface="Calibri"/>
              <a:cs typeface="Calibri"/>
              <a:sym typeface="Calibri"/>
            </a:endParaRPr>
          </a:p>
        </p:txBody>
      </p:sp>
      <p:sp>
        <p:nvSpPr>
          <p:cNvPr id="639" name="Google Shape;639;p18"/>
          <p:cNvSpPr/>
          <p:nvPr/>
        </p:nvSpPr>
        <p:spPr>
          <a:xfrm>
            <a:off x="3154680" y="5486400"/>
            <a:ext cx="86868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392B"/>
              </a:buClr>
              <a:buSzPts val="1200"/>
              <a:buFont typeface="Calibri"/>
              <a:buNone/>
            </a:pPr>
            <a:r>
              <a:rPr b="0" i="1" lang="en-US" sz="1200" u="none" cap="none" strike="noStrike">
                <a:solidFill>
                  <a:srgbClr val="C0392B"/>
                </a:solidFill>
                <a:latin typeface="Calibri"/>
                <a:ea typeface="Calibri"/>
                <a:cs typeface="Calibri"/>
                <a:sym typeface="Calibri"/>
              </a:rPr>
              <a:t>e.g. Social media posts with different fields per post (text, image, poll, reel) are better suited to document databases like MongoDB, which do not enforce a fixed schema.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sp>
        <p:nvSpPr>
          <p:cNvPr id="645" name="Google Shape;645;p19"/>
          <p:cNvSpPr/>
          <p:nvPr/>
        </p:nvSpPr>
        <p:spPr>
          <a:xfrm>
            <a:off x="0" y="0"/>
            <a:ext cx="12188952" cy="749808"/>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a:off x="228600" y="0"/>
            <a:ext cx="1170432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Activity 3 — Limitations: B or L?</a:t>
            </a:r>
            <a:endParaRPr b="0" i="0" sz="2400" u="none" cap="none" strike="noStrike">
              <a:solidFill>
                <a:schemeClr val="dk1"/>
              </a:solidFill>
              <a:latin typeface="Calibri"/>
              <a:ea typeface="Calibri"/>
              <a:cs typeface="Calibri"/>
              <a:sym typeface="Calibri"/>
            </a:endParaRPr>
          </a:p>
        </p:txBody>
      </p:sp>
      <p:sp>
        <p:nvSpPr>
          <p:cNvPr id="647" name="Google Shape;647;p19"/>
          <p:cNvSpPr/>
          <p:nvPr/>
        </p:nvSpPr>
        <p:spPr>
          <a:xfrm>
            <a:off x="9948672" y="128016"/>
            <a:ext cx="2011680" cy="48463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9"/>
          <p:cNvSpPr/>
          <p:nvPr/>
        </p:nvSpPr>
        <p:spPr>
          <a:xfrm>
            <a:off x="9948672" y="128016"/>
            <a:ext cx="2011680" cy="4846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AfL CHECK</a:t>
            </a:r>
            <a:endParaRPr b="0" i="0" sz="1100" u="none" cap="none" strike="noStrike">
              <a:solidFill>
                <a:schemeClr val="dk1"/>
              </a:solidFill>
              <a:latin typeface="Calibri"/>
              <a:ea typeface="Calibri"/>
              <a:cs typeface="Calibri"/>
              <a:sym typeface="Calibri"/>
            </a:endParaRPr>
          </a:p>
        </p:txBody>
      </p:sp>
      <p:sp>
        <p:nvSpPr>
          <p:cNvPr id="649" name="Google Shape;649;p19"/>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9"/>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
        <p:nvSpPr>
          <p:cNvPr id="651" name="Google Shape;651;p19"/>
          <p:cNvSpPr/>
          <p:nvPr/>
        </p:nvSpPr>
        <p:spPr>
          <a:xfrm>
            <a:off x="228600" y="914400"/>
            <a:ext cx="117043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400"/>
              <a:buFont typeface="Calibri"/>
              <a:buNone/>
            </a:pPr>
            <a:r>
              <a:rPr b="0" i="0" lang="en-US" sz="1400" u="none" cap="none" strike="noStrike">
                <a:solidFill>
                  <a:srgbClr val="0D0D0D"/>
                </a:solidFill>
                <a:latin typeface="Calibri"/>
                <a:ea typeface="Calibri"/>
                <a:cs typeface="Calibri"/>
                <a:sym typeface="Calibri"/>
              </a:rPr>
              <a:t>Read each statement. Write B (Benefit) or L (Limitation) on your worksheet (Section C). Then justify in one sentence.</a:t>
            </a:r>
            <a:endParaRPr b="0" i="0" sz="1400" u="none" cap="none" strike="noStrike">
              <a:solidFill>
                <a:schemeClr val="dk1"/>
              </a:solidFill>
              <a:latin typeface="Calibri"/>
              <a:ea typeface="Calibri"/>
              <a:cs typeface="Calibri"/>
              <a:sym typeface="Calibri"/>
            </a:endParaRPr>
          </a:p>
        </p:txBody>
      </p:sp>
      <p:sp>
        <p:nvSpPr>
          <p:cNvPr id="652" name="Google Shape;652;p19"/>
          <p:cNvSpPr/>
          <p:nvPr/>
        </p:nvSpPr>
        <p:spPr>
          <a:xfrm>
            <a:off x="228600" y="1481328"/>
            <a:ext cx="5760720" cy="111556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9"/>
          <p:cNvSpPr/>
          <p:nvPr/>
        </p:nvSpPr>
        <p:spPr>
          <a:xfrm>
            <a:off x="338328" y="1554480"/>
            <a:ext cx="553212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1. The database ensures no two students share the same ID number.</a:t>
            </a:r>
            <a:endParaRPr b="0" i="0" sz="1250" u="none" cap="none" strike="noStrike">
              <a:solidFill>
                <a:schemeClr val="dk1"/>
              </a:solidFill>
              <a:latin typeface="Calibri"/>
              <a:ea typeface="Calibri"/>
              <a:cs typeface="Calibri"/>
              <a:sym typeface="Calibri"/>
            </a:endParaRPr>
          </a:p>
        </p:txBody>
      </p:sp>
      <p:sp>
        <p:nvSpPr>
          <p:cNvPr id="654" name="Google Shape;654;p19"/>
          <p:cNvSpPr/>
          <p:nvPr/>
        </p:nvSpPr>
        <p:spPr>
          <a:xfrm>
            <a:off x="338328" y="2286000"/>
            <a:ext cx="5532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150"/>
              <a:buFont typeface="Calibri"/>
              <a:buNone/>
            </a:pPr>
            <a:r>
              <a:rPr b="0" i="0" lang="en-US" sz="1150" u="none" cap="none" strike="noStrike">
                <a:solidFill>
                  <a:srgbClr val="AAAAAA"/>
                </a:solidFill>
                <a:latin typeface="Calibri"/>
                <a:ea typeface="Calibri"/>
                <a:cs typeface="Calibri"/>
                <a:sym typeface="Calibri"/>
              </a:rPr>
              <a:t>B / L  — Because: ___________________________________________</a:t>
            </a:r>
            <a:endParaRPr b="0" i="0" sz="1150" u="none" cap="none" strike="noStrike">
              <a:solidFill>
                <a:schemeClr val="dk1"/>
              </a:solidFill>
              <a:latin typeface="Calibri"/>
              <a:ea typeface="Calibri"/>
              <a:cs typeface="Calibri"/>
              <a:sym typeface="Calibri"/>
            </a:endParaRPr>
          </a:p>
        </p:txBody>
      </p:sp>
      <p:sp>
        <p:nvSpPr>
          <p:cNvPr id="655" name="Google Shape;655;p19"/>
          <p:cNvSpPr/>
          <p:nvPr/>
        </p:nvSpPr>
        <p:spPr>
          <a:xfrm>
            <a:off x="6263640" y="1481328"/>
            <a:ext cx="5760720" cy="111556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9"/>
          <p:cNvSpPr/>
          <p:nvPr/>
        </p:nvSpPr>
        <p:spPr>
          <a:xfrm>
            <a:off x="6373368" y="1554480"/>
            <a:ext cx="553212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2. The company needs to store billions of social media posts with unpredictable, varying fields.</a:t>
            </a:r>
            <a:endParaRPr b="0" i="0" sz="1250" u="none" cap="none" strike="noStrike">
              <a:solidFill>
                <a:schemeClr val="dk1"/>
              </a:solidFill>
              <a:latin typeface="Calibri"/>
              <a:ea typeface="Calibri"/>
              <a:cs typeface="Calibri"/>
              <a:sym typeface="Calibri"/>
            </a:endParaRPr>
          </a:p>
        </p:txBody>
      </p:sp>
      <p:sp>
        <p:nvSpPr>
          <p:cNvPr id="657" name="Google Shape;657;p19"/>
          <p:cNvSpPr/>
          <p:nvPr/>
        </p:nvSpPr>
        <p:spPr>
          <a:xfrm>
            <a:off x="6373368" y="2286000"/>
            <a:ext cx="5532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150"/>
              <a:buFont typeface="Calibri"/>
              <a:buNone/>
            </a:pPr>
            <a:r>
              <a:rPr b="0" i="0" lang="en-US" sz="1150" u="none" cap="none" strike="noStrike">
                <a:solidFill>
                  <a:srgbClr val="AAAAAA"/>
                </a:solidFill>
                <a:latin typeface="Calibri"/>
                <a:ea typeface="Calibri"/>
                <a:cs typeface="Calibri"/>
                <a:sym typeface="Calibri"/>
              </a:rPr>
              <a:t>B / L  — Because: ___________________________________________</a:t>
            </a:r>
            <a:endParaRPr b="0" i="0" sz="1150" u="none" cap="none" strike="noStrike">
              <a:solidFill>
                <a:schemeClr val="dk1"/>
              </a:solidFill>
              <a:latin typeface="Calibri"/>
              <a:ea typeface="Calibri"/>
              <a:cs typeface="Calibri"/>
              <a:sym typeface="Calibri"/>
            </a:endParaRPr>
          </a:p>
        </p:txBody>
      </p:sp>
      <p:sp>
        <p:nvSpPr>
          <p:cNvPr id="658" name="Google Shape;658;p19"/>
          <p:cNvSpPr/>
          <p:nvPr/>
        </p:nvSpPr>
        <p:spPr>
          <a:xfrm>
            <a:off x="228600" y="2688336"/>
            <a:ext cx="5760720" cy="111556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338328" y="2761488"/>
            <a:ext cx="553212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3. Updating a product price updates all linked order records automatically.</a:t>
            </a:r>
            <a:endParaRPr b="0" i="0" sz="1250" u="none" cap="none" strike="noStrike">
              <a:solidFill>
                <a:schemeClr val="dk1"/>
              </a:solidFill>
              <a:latin typeface="Calibri"/>
              <a:ea typeface="Calibri"/>
              <a:cs typeface="Calibri"/>
              <a:sym typeface="Calibri"/>
            </a:endParaRPr>
          </a:p>
        </p:txBody>
      </p:sp>
      <p:sp>
        <p:nvSpPr>
          <p:cNvPr id="660" name="Google Shape;660;p19"/>
          <p:cNvSpPr/>
          <p:nvPr/>
        </p:nvSpPr>
        <p:spPr>
          <a:xfrm>
            <a:off x="338328" y="3493008"/>
            <a:ext cx="5532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150"/>
              <a:buFont typeface="Calibri"/>
              <a:buNone/>
            </a:pPr>
            <a:r>
              <a:rPr b="0" i="0" lang="en-US" sz="1150" u="none" cap="none" strike="noStrike">
                <a:solidFill>
                  <a:srgbClr val="AAAAAA"/>
                </a:solidFill>
                <a:latin typeface="Calibri"/>
                <a:ea typeface="Calibri"/>
                <a:cs typeface="Calibri"/>
                <a:sym typeface="Calibri"/>
              </a:rPr>
              <a:t>B / L  — Because: ___________________________________________</a:t>
            </a:r>
            <a:endParaRPr b="0" i="0" sz="1150" u="none" cap="none" strike="noStrike">
              <a:solidFill>
                <a:schemeClr val="dk1"/>
              </a:solidFill>
              <a:latin typeface="Calibri"/>
              <a:ea typeface="Calibri"/>
              <a:cs typeface="Calibri"/>
              <a:sym typeface="Calibri"/>
            </a:endParaRPr>
          </a:p>
        </p:txBody>
      </p:sp>
      <p:sp>
        <p:nvSpPr>
          <p:cNvPr id="661" name="Google Shape;661;p19"/>
          <p:cNvSpPr/>
          <p:nvPr/>
        </p:nvSpPr>
        <p:spPr>
          <a:xfrm>
            <a:off x="6263640" y="2688336"/>
            <a:ext cx="5760720" cy="111556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9"/>
          <p:cNvSpPr/>
          <p:nvPr/>
        </p:nvSpPr>
        <p:spPr>
          <a:xfrm>
            <a:off x="6373368" y="2761488"/>
            <a:ext cx="553212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4. The development team needs 3 months to add a new column to the live database.</a:t>
            </a:r>
            <a:endParaRPr b="0" i="0" sz="1250" u="none" cap="none" strike="noStrike">
              <a:solidFill>
                <a:schemeClr val="dk1"/>
              </a:solidFill>
              <a:latin typeface="Calibri"/>
              <a:ea typeface="Calibri"/>
              <a:cs typeface="Calibri"/>
              <a:sym typeface="Calibri"/>
            </a:endParaRPr>
          </a:p>
        </p:txBody>
      </p:sp>
      <p:sp>
        <p:nvSpPr>
          <p:cNvPr id="663" name="Google Shape;663;p19"/>
          <p:cNvSpPr/>
          <p:nvPr/>
        </p:nvSpPr>
        <p:spPr>
          <a:xfrm>
            <a:off x="6373368" y="3493008"/>
            <a:ext cx="5532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150"/>
              <a:buFont typeface="Calibri"/>
              <a:buNone/>
            </a:pPr>
            <a:r>
              <a:rPr b="0" i="0" lang="en-US" sz="1150" u="none" cap="none" strike="noStrike">
                <a:solidFill>
                  <a:srgbClr val="AAAAAA"/>
                </a:solidFill>
                <a:latin typeface="Calibri"/>
                <a:ea typeface="Calibri"/>
                <a:cs typeface="Calibri"/>
                <a:sym typeface="Calibri"/>
              </a:rPr>
              <a:t>B / L  — Because: ___________________________________________</a:t>
            </a:r>
            <a:endParaRPr b="0" i="0" sz="1150" u="none" cap="none" strike="noStrike">
              <a:solidFill>
                <a:schemeClr val="dk1"/>
              </a:solidFill>
              <a:latin typeface="Calibri"/>
              <a:ea typeface="Calibri"/>
              <a:cs typeface="Calibri"/>
              <a:sym typeface="Calibri"/>
            </a:endParaRPr>
          </a:p>
        </p:txBody>
      </p:sp>
      <p:sp>
        <p:nvSpPr>
          <p:cNvPr id="664" name="Google Shape;664;p19"/>
          <p:cNvSpPr/>
          <p:nvPr/>
        </p:nvSpPr>
        <p:spPr>
          <a:xfrm>
            <a:off x="228600" y="3895344"/>
            <a:ext cx="5760720" cy="111556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338328" y="3968496"/>
            <a:ext cx="553212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5. 10 users can edit the database simultaneously without their changes clashing.</a:t>
            </a:r>
            <a:endParaRPr b="0" i="0" sz="1250" u="none" cap="none" strike="noStrike">
              <a:solidFill>
                <a:schemeClr val="dk1"/>
              </a:solidFill>
              <a:latin typeface="Calibri"/>
              <a:ea typeface="Calibri"/>
              <a:cs typeface="Calibri"/>
              <a:sym typeface="Calibri"/>
            </a:endParaRPr>
          </a:p>
        </p:txBody>
      </p:sp>
      <p:sp>
        <p:nvSpPr>
          <p:cNvPr id="666" name="Google Shape;666;p19"/>
          <p:cNvSpPr/>
          <p:nvPr/>
        </p:nvSpPr>
        <p:spPr>
          <a:xfrm>
            <a:off x="338328" y="4700016"/>
            <a:ext cx="5532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150"/>
              <a:buFont typeface="Calibri"/>
              <a:buNone/>
            </a:pPr>
            <a:r>
              <a:rPr b="0" i="0" lang="en-US" sz="1150" u="none" cap="none" strike="noStrike">
                <a:solidFill>
                  <a:srgbClr val="AAAAAA"/>
                </a:solidFill>
                <a:latin typeface="Calibri"/>
                <a:ea typeface="Calibri"/>
                <a:cs typeface="Calibri"/>
                <a:sym typeface="Calibri"/>
              </a:rPr>
              <a:t>B / L  — Because: ___________________________________________</a:t>
            </a:r>
            <a:endParaRPr b="0" i="0" sz="1150" u="none" cap="none" strike="noStrike">
              <a:solidFill>
                <a:schemeClr val="dk1"/>
              </a:solidFill>
              <a:latin typeface="Calibri"/>
              <a:ea typeface="Calibri"/>
              <a:cs typeface="Calibri"/>
              <a:sym typeface="Calibri"/>
            </a:endParaRPr>
          </a:p>
        </p:txBody>
      </p:sp>
      <p:sp>
        <p:nvSpPr>
          <p:cNvPr id="667" name="Google Shape;667;p19"/>
          <p:cNvSpPr/>
          <p:nvPr/>
        </p:nvSpPr>
        <p:spPr>
          <a:xfrm>
            <a:off x="6263640" y="3895344"/>
            <a:ext cx="5760720" cy="111556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9"/>
          <p:cNvSpPr/>
          <p:nvPr/>
        </p:nvSpPr>
        <p:spPr>
          <a:xfrm>
            <a:off x="6373368" y="3968496"/>
            <a:ext cx="553212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6. The application stores deeply nested objects that are difficult to flatten into tables.</a:t>
            </a:r>
            <a:endParaRPr b="0" i="0" sz="1250" u="none" cap="none" strike="noStrike">
              <a:solidFill>
                <a:schemeClr val="dk1"/>
              </a:solidFill>
              <a:latin typeface="Calibri"/>
              <a:ea typeface="Calibri"/>
              <a:cs typeface="Calibri"/>
              <a:sym typeface="Calibri"/>
            </a:endParaRPr>
          </a:p>
        </p:txBody>
      </p:sp>
      <p:sp>
        <p:nvSpPr>
          <p:cNvPr id="669" name="Google Shape;669;p19"/>
          <p:cNvSpPr/>
          <p:nvPr/>
        </p:nvSpPr>
        <p:spPr>
          <a:xfrm>
            <a:off x="6373368" y="4700016"/>
            <a:ext cx="5532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150"/>
              <a:buFont typeface="Calibri"/>
              <a:buNone/>
            </a:pPr>
            <a:r>
              <a:rPr b="0" i="0" lang="en-US" sz="1150" u="none" cap="none" strike="noStrike">
                <a:solidFill>
                  <a:srgbClr val="AAAAAA"/>
                </a:solidFill>
                <a:latin typeface="Calibri"/>
                <a:ea typeface="Calibri"/>
                <a:cs typeface="Calibri"/>
                <a:sym typeface="Calibri"/>
              </a:rPr>
              <a:t>B / L  — Because: ___________________________________________</a:t>
            </a:r>
            <a:endParaRPr b="0" i="0" sz="1150" u="none" cap="none" strike="noStrike">
              <a:solidFill>
                <a:schemeClr val="dk1"/>
              </a:solidFill>
              <a:latin typeface="Calibri"/>
              <a:ea typeface="Calibri"/>
              <a:cs typeface="Calibri"/>
              <a:sym typeface="Calibri"/>
            </a:endParaRPr>
          </a:p>
        </p:txBody>
      </p:sp>
      <p:sp>
        <p:nvSpPr>
          <p:cNvPr id="670" name="Google Shape;670;p19"/>
          <p:cNvSpPr/>
          <p:nvPr/>
        </p:nvSpPr>
        <p:spPr>
          <a:xfrm>
            <a:off x="228600" y="5102352"/>
            <a:ext cx="5760720" cy="111556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338328" y="5175504"/>
            <a:ext cx="553212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7. A failed bank transaction is automatically rolled back — no partial updates.</a:t>
            </a:r>
            <a:endParaRPr b="0" i="0" sz="1250" u="none" cap="none" strike="noStrike">
              <a:solidFill>
                <a:schemeClr val="dk1"/>
              </a:solidFill>
              <a:latin typeface="Calibri"/>
              <a:ea typeface="Calibri"/>
              <a:cs typeface="Calibri"/>
              <a:sym typeface="Calibri"/>
            </a:endParaRPr>
          </a:p>
        </p:txBody>
      </p:sp>
      <p:sp>
        <p:nvSpPr>
          <p:cNvPr id="672" name="Google Shape;672;p19"/>
          <p:cNvSpPr/>
          <p:nvPr/>
        </p:nvSpPr>
        <p:spPr>
          <a:xfrm>
            <a:off x="338328" y="5907024"/>
            <a:ext cx="5532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150"/>
              <a:buFont typeface="Calibri"/>
              <a:buNone/>
            </a:pPr>
            <a:r>
              <a:rPr b="0" i="0" lang="en-US" sz="1150" u="none" cap="none" strike="noStrike">
                <a:solidFill>
                  <a:srgbClr val="AAAAAA"/>
                </a:solidFill>
                <a:latin typeface="Calibri"/>
                <a:ea typeface="Calibri"/>
                <a:cs typeface="Calibri"/>
                <a:sym typeface="Calibri"/>
              </a:rPr>
              <a:t>B / L  — Because: ___________________________________________</a:t>
            </a:r>
            <a:endParaRPr b="0" i="0" sz="1150" u="none" cap="none" strike="noStrike">
              <a:solidFill>
                <a:schemeClr val="dk1"/>
              </a:solidFill>
              <a:latin typeface="Calibri"/>
              <a:ea typeface="Calibri"/>
              <a:cs typeface="Calibri"/>
              <a:sym typeface="Calibri"/>
            </a:endParaRPr>
          </a:p>
        </p:txBody>
      </p:sp>
      <p:sp>
        <p:nvSpPr>
          <p:cNvPr id="673" name="Google Shape;673;p19"/>
          <p:cNvSpPr/>
          <p:nvPr/>
        </p:nvSpPr>
        <p:spPr>
          <a:xfrm>
            <a:off x="6263640" y="5102352"/>
            <a:ext cx="5760720" cy="1115568"/>
          </a:xfrm>
          <a:prstGeom prst="rect">
            <a:avLst/>
          </a:prstGeom>
          <a:solidFill>
            <a:srgbClr val="F2F2F2"/>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9"/>
          <p:cNvSpPr/>
          <p:nvPr/>
        </p:nvSpPr>
        <p:spPr>
          <a:xfrm>
            <a:off x="6373368" y="5175504"/>
            <a:ext cx="553212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8. Querying a deeply nested org chart hierarchy requires complex recursive SQL.</a:t>
            </a:r>
            <a:endParaRPr b="0" i="0" sz="1250" u="none" cap="none" strike="noStrike">
              <a:solidFill>
                <a:schemeClr val="dk1"/>
              </a:solidFill>
              <a:latin typeface="Calibri"/>
              <a:ea typeface="Calibri"/>
              <a:cs typeface="Calibri"/>
              <a:sym typeface="Calibri"/>
            </a:endParaRPr>
          </a:p>
        </p:txBody>
      </p:sp>
      <p:sp>
        <p:nvSpPr>
          <p:cNvPr id="675" name="Google Shape;675;p19"/>
          <p:cNvSpPr/>
          <p:nvPr/>
        </p:nvSpPr>
        <p:spPr>
          <a:xfrm>
            <a:off x="6373368" y="5907024"/>
            <a:ext cx="5532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AA"/>
              </a:buClr>
              <a:buSzPts val="1150"/>
              <a:buFont typeface="Calibri"/>
              <a:buNone/>
            </a:pPr>
            <a:r>
              <a:rPr b="0" i="0" lang="en-US" sz="1150" u="none" cap="none" strike="noStrike">
                <a:solidFill>
                  <a:srgbClr val="AAAAAA"/>
                </a:solidFill>
                <a:latin typeface="Calibri"/>
                <a:ea typeface="Calibri"/>
                <a:cs typeface="Calibri"/>
                <a:sym typeface="Calibri"/>
              </a:rPr>
              <a:t>B / L  — Because: ___________________________________________</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680" name="Shape 680"/>
        <p:cNvGrpSpPr/>
        <p:nvPr/>
      </p:nvGrpSpPr>
      <p:grpSpPr>
        <a:xfrm>
          <a:off x="0" y="0"/>
          <a:ext cx="0" cy="0"/>
          <a:chOff x="0" y="0"/>
          <a:chExt cx="0" cy="0"/>
        </a:xfrm>
      </p:grpSpPr>
      <p:sp>
        <p:nvSpPr>
          <p:cNvPr id="681" name="Google Shape;681;p20"/>
          <p:cNvSpPr/>
          <p:nvPr/>
        </p:nvSpPr>
        <p:spPr>
          <a:xfrm>
            <a:off x="0" y="0"/>
            <a:ext cx="12188952" cy="804672"/>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0"/>
          <p:cNvSpPr/>
          <p:nvPr/>
        </p:nvSpPr>
        <p:spPr>
          <a:xfrm>
            <a:off x="228600" y="0"/>
            <a:ext cx="11704320"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400"/>
              <a:buFont typeface="Trebuchet MS"/>
              <a:buNone/>
            </a:pPr>
            <a:r>
              <a:rPr b="1" i="0" lang="en-US" sz="2400" u="none" cap="none" strike="noStrike">
                <a:solidFill>
                  <a:srgbClr val="0D0D0D"/>
                </a:solidFill>
                <a:latin typeface="Trebuchet MS"/>
                <a:ea typeface="Trebuchet MS"/>
                <a:cs typeface="Trebuchet MS"/>
                <a:sym typeface="Trebuchet MS"/>
              </a:rPr>
              <a:t>Plenary — One-Word Challenge + Exit Ticket</a:t>
            </a:r>
            <a:endParaRPr b="0" i="0" sz="2400" u="none" cap="none" strike="noStrike">
              <a:solidFill>
                <a:schemeClr val="dk1"/>
              </a:solidFill>
              <a:latin typeface="Calibri"/>
              <a:ea typeface="Calibri"/>
              <a:cs typeface="Calibri"/>
              <a:sym typeface="Calibri"/>
            </a:endParaRPr>
          </a:p>
        </p:txBody>
      </p:sp>
      <p:sp>
        <p:nvSpPr>
          <p:cNvPr id="683" name="Google Shape;683;p20"/>
          <p:cNvSpPr/>
          <p:nvPr/>
        </p:nvSpPr>
        <p:spPr>
          <a:xfrm>
            <a:off x="182880" y="960120"/>
            <a:ext cx="5623560" cy="5394960"/>
          </a:xfrm>
          <a:prstGeom prst="rect">
            <a:avLst/>
          </a:prstGeom>
          <a:solidFill>
            <a:srgbClr val="1C1C1C"/>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0"/>
          <p:cNvSpPr/>
          <p:nvPr/>
        </p:nvSpPr>
        <p:spPr>
          <a:xfrm>
            <a:off x="320040" y="1051560"/>
            <a:ext cx="53492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E500"/>
              </a:buClr>
              <a:buSzPts val="1600"/>
              <a:buFont typeface="Trebuchet MS"/>
              <a:buNone/>
            </a:pPr>
            <a:r>
              <a:rPr b="1" i="0" lang="en-US" sz="1600" u="none" cap="none" strike="noStrike">
                <a:solidFill>
                  <a:srgbClr val="FFE500"/>
                </a:solidFill>
                <a:latin typeface="Trebuchet MS"/>
                <a:ea typeface="Trebuchet MS"/>
                <a:cs typeface="Trebuchet MS"/>
                <a:sym typeface="Trebuchet MS"/>
              </a:rPr>
              <a:t>Summarise in ONE WORD:</a:t>
            </a:r>
            <a:endParaRPr b="0" i="0" sz="1600" u="none" cap="none" strike="noStrike">
              <a:solidFill>
                <a:schemeClr val="dk1"/>
              </a:solidFill>
              <a:latin typeface="Calibri"/>
              <a:ea typeface="Calibri"/>
              <a:cs typeface="Calibri"/>
              <a:sym typeface="Calibri"/>
            </a:endParaRPr>
          </a:p>
        </p:txBody>
      </p:sp>
      <p:sp>
        <p:nvSpPr>
          <p:cNvPr id="685" name="Google Shape;685;p20"/>
          <p:cNvSpPr/>
          <p:nvPr/>
        </p:nvSpPr>
        <p:spPr>
          <a:xfrm>
            <a:off x="320040" y="1508760"/>
            <a:ext cx="5376672" cy="914400"/>
          </a:xfrm>
          <a:prstGeom prst="rect">
            <a:avLst/>
          </a:prstGeom>
          <a:solidFill>
            <a:srgbClr val="282828"/>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0"/>
          <p:cNvSpPr/>
          <p:nvPr/>
        </p:nvSpPr>
        <p:spPr>
          <a:xfrm>
            <a:off x="438912" y="1572768"/>
            <a:ext cx="5138928"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DDDDD"/>
              </a:buClr>
              <a:buSzPts val="1250"/>
              <a:buFont typeface="Calibri"/>
              <a:buNone/>
            </a:pPr>
            <a:r>
              <a:rPr b="0" i="0" lang="en-US" sz="1250" u="none" cap="none" strike="noStrike">
                <a:solidFill>
                  <a:srgbClr val="DDDDDD"/>
                </a:solidFill>
                <a:latin typeface="Calibri"/>
                <a:ea typeface="Calibri"/>
                <a:cs typeface="Calibri"/>
                <a:sym typeface="Calibri"/>
              </a:rPr>
              <a:t>1.  What links two tables together?</a:t>
            </a:r>
            <a:endParaRPr b="0" i="0" sz="1250" u="none" cap="none" strike="noStrike">
              <a:solidFill>
                <a:schemeClr val="dk1"/>
              </a:solidFill>
              <a:latin typeface="Calibri"/>
              <a:ea typeface="Calibri"/>
              <a:cs typeface="Calibri"/>
              <a:sym typeface="Calibri"/>
            </a:endParaRPr>
          </a:p>
        </p:txBody>
      </p:sp>
      <p:sp>
        <p:nvSpPr>
          <p:cNvPr id="687" name="Google Shape;687;p20"/>
          <p:cNvSpPr/>
          <p:nvPr/>
        </p:nvSpPr>
        <p:spPr>
          <a:xfrm>
            <a:off x="438912" y="2029968"/>
            <a:ext cx="513892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150"/>
              <a:buFont typeface="Calibri"/>
              <a:buNone/>
            </a:pPr>
            <a:r>
              <a:rPr b="0" i="0" lang="en-US" sz="1150" u="none" cap="none" strike="noStrike">
                <a:solidFill>
                  <a:srgbClr val="666666"/>
                </a:solidFill>
                <a:latin typeface="Calibri"/>
                <a:ea typeface="Calibri"/>
                <a:cs typeface="Calibri"/>
                <a:sym typeface="Calibri"/>
              </a:rPr>
              <a:t>My word: ________________________</a:t>
            </a:r>
            <a:endParaRPr b="0" i="0" sz="1150" u="none" cap="none" strike="noStrike">
              <a:solidFill>
                <a:schemeClr val="dk1"/>
              </a:solidFill>
              <a:latin typeface="Calibri"/>
              <a:ea typeface="Calibri"/>
              <a:cs typeface="Calibri"/>
              <a:sym typeface="Calibri"/>
            </a:endParaRPr>
          </a:p>
        </p:txBody>
      </p:sp>
      <p:sp>
        <p:nvSpPr>
          <p:cNvPr id="688" name="Google Shape;688;p20"/>
          <p:cNvSpPr/>
          <p:nvPr/>
        </p:nvSpPr>
        <p:spPr>
          <a:xfrm>
            <a:off x="320040" y="2514600"/>
            <a:ext cx="5376672" cy="914400"/>
          </a:xfrm>
          <a:prstGeom prst="rect">
            <a:avLst/>
          </a:prstGeom>
          <a:solidFill>
            <a:srgbClr val="282828"/>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0"/>
          <p:cNvSpPr/>
          <p:nvPr/>
        </p:nvSpPr>
        <p:spPr>
          <a:xfrm>
            <a:off x="438912" y="2578608"/>
            <a:ext cx="5138928"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DDDDD"/>
              </a:buClr>
              <a:buSzPts val="1250"/>
              <a:buFont typeface="Calibri"/>
              <a:buNone/>
            </a:pPr>
            <a:r>
              <a:rPr b="0" i="0" lang="en-US" sz="1250" u="none" cap="none" strike="noStrike">
                <a:solidFill>
                  <a:srgbClr val="DDDDDD"/>
                </a:solidFill>
                <a:latin typeface="Calibri"/>
                <a:ea typeface="Calibri"/>
                <a:cs typeface="Calibri"/>
                <a:sym typeface="Calibri"/>
              </a:rPr>
              <a:t>2.  What property ensures every row is unique?</a:t>
            </a:r>
            <a:endParaRPr b="0" i="0" sz="1250" u="none" cap="none" strike="noStrike">
              <a:solidFill>
                <a:schemeClr val="dk1"/>
              </a:solidFill>
              <a:latin typeface="Calibri"/>
              <a:ea typeface="Calibri"/>
              <a:cs typeface="Calibri"/>
              <a:sym typeface="Calibri"/>
            </a:endParaRPr>
          </a:p>
        </p:txBody>
      </p:sp>
      <p:sp>
        <p:nvSpPr>
          <p:cNvPr id="690" name="Google Shape;690;p20"/>
          <p:cNvSpPr/>
          <p:nvPr/>
        </p:nvSpPr>
        <p:spPr>
          <a:xfrm>
            <a:off x="438912" y="3035808"/>
            <a:ext cx="513892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150"/>
              <a:buFont typeface="Calibri"/>
              <a:buNone/>
            </a:pPr>
            <a:r>
              <a:rPr b="0" i="0" lang="en-US" sz="1150" u="none" cap="none" strike="noStrike">
                <a:solidFill>
                  <a:srgbClr val="666666"/>
                </a:solidFill>
                <a:latin typeface="Calibri"/>
                <a:ea typeface="Calibri"/>
                <a:cs typeface="Calibri"/>
                <a:sym typeface="Calibri"/>
              </a:rPr>
              <a:t>My word: ________________________</a:t>
            </a:r>
            <a:endParaRPr b="0" i="0" sz="1150" u="none" cap="none" strike="noStrike">
              <a:solidFill>
                <a:schemeClr val="dk1"/>
              </a:solidFill>
              <a:latin typeface="Calibri"/>
              <a:ea typeface="Calibri"/>
              <a:cs typeface="Calibri"/>
              <a:sym typeface="Calibri"/>
            </a:endParaRPr>
          </a:p>
        </p:txBody>
      </p:sp>
      <p:sp>
        <p:nvSpPr>
          <p:cNvPr id="691" name="Google Shape;691;p20"/>
          <p:cNvSpPr/>
          <p:nvPr/>
        </p:nvSpPr>
        <p:spPr>
          <a:xfrm>
            <a:off x="320040" y="3520440"/>
            <a:ext cx="5376672" cy="914400"/>
          </a:xfrm>
          <a:prstGeom prst="rect">
            <a:avLst/>
          </a:prstGeom>
          <a:solidFill>
            <a:srgbClr val="282828"/>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438912" y="3584448"/>
            <a:ext cx="5138928"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DDDDD"/>
              </a:buClr>
              <a:buSzPts val="1250"/>
              <a:buFont typeface="Calibri"/>
              <a:buNone/>
            </a:pPr>
            <a:r>
              <a:rPr b="0" i="0" lang="en-US" sz="1250" u="none" cap="none" strike="noStrike">
                <a:solidFill>
                  <a:srgbClr val="DDDDDD"/>
                </a:solidFill>
                <a:latin typeface="Calibri"/>
                <a:ea typeface="Calibri"/>
                <a:cs typeface="Calibri"/>
                <a:sym typeface="Calibri"/>
              </a:rPr>
              <a:t>3.  Describe a relational database in one word.</a:t>
            </a:r>
            <a:endParaRPr b="0" i="0" sz="1250" u="none" cap="none" strike="noStrike">
              <a:solidFill>
                <a:schemeClr val="dk1"/>
              </a:solidFill>
              <a:latin typeface="Calibri"/>
              <a:ea typeface="Calibri"/>
              <a:cs typeface="Calibri"/>
              <a:sym typeface="Calibri"/>
            </a:endParaRPr>
          </a:p>
        </p:txBody>
      </p:sp>
      <p:sp>
        <p:nvSpPr>
          <p:cNvPr id="693" name="Google Shape;693;p20"/>
          <p:cNvSpPr/>
          <p:nvPr/>
        </p:nvSpPr>
        <p:spPr>
          <a:xfrm>
            <a:off x="438912" y="4041648"/>
            <a:ext cx="513892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150"/>
              <a:buFont typeface="Calibri"/>
              <a:buNone/>
            </a:pPr>
            <a:r>
              <a:rPr b="0" i="0" lang="en-US" sz="1150" u="none" cap="none" strike="noStrike">
                <a:solidFill>
                  <a:srgbClr val="666666"/>
                </a:solidFill>
                <a:latin typeface="Calibri"/>
                <a:ea typeface="Calibri"/>
                <a:cs typeface="Calibri"/>
                <a:sym typeface="Calibri"/>
              </a:rPr>
              <a:t>My word: ________________________</a:t>
            </a:r>
            <a:endParaRPr b="0" i="0" sz="1150" u="none" cap="none" strike="noStrike">
              <a:solidFill>
                <a:schemeClr val="dk1"/>
              </a:solidFill>
              <a:latin typeface="Calibri"/>
              <a:ea typeface="Calibri"/>
              <a:cs typeface="Calibri"/>
              <a:sym typeface="Calibri"/>
            </a:endParaRPr>
          </a:p>
        </p:txBody>
      </p:sp>
      <p:sp>
        <p:nvSpPr>
          <p:cNvPr id="694" name="Google Shape;694;p20"/>
          <p:cNvSpPr/>
          <p:nvPr/>
        </p:nvSpPr>
        <p:spPr>
          <a:xfrm>
            <a:off x="320040" y="4526280"/>
            <a:ext cx="5376672" cy="914400"/>
          </a:xfrm>
          <a:prstGeom prst="rect">
            <a:avLst/>
          </a:prstGeom>
          <a:solidFill>
            <a:srgbClr val="282828"/>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438912" y="4590288"/>
            <a:ext cx="5138928"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DDDDD"/>
              </a:buClr>
              <a:buSzPts val="1250"/>
              <a:buFont typeface="Calibri"/>
              <a:buNone/>
            </a:pPr>
            <a:r>
              <a:rPr b="0" i="0" lang="en-US" sz="1250" u="none" cap="none" strike="noStrike">
                <a:solidFill>
                  <a:srgbClr val="DDDDDD"/>
                </a:solidFill>
                <a:latin typeface="Calibri"/>
                <a:ea typeface="Calibri"/>
                <a:cs typeface="Calibri"/>
                <a:sym typeface="Calibri"/>
              </a:rPr>
              <a:t>4.  Name one tool that helps with data retrieval in RDBMS.</a:t>
            </a:r>
            <a:endParaRPr b="0" i="0" sz="1250" u="none" cap="none" strike="noStrike">
              <a:solidFill>
                <a:schemeClr val="dk1"/>
              </a:solidFill>
              <a:latin typeface="Calibri"/>
              <a:ea typeface="Calibri"/>
              <a:cs typeface="Calibri"/>
              <a:sym typeface="Calibri"/>
            </a:endParaRPr>
          </a:p>
        </p:txBody>
      </p:sp>
      <p:sp>
        <p:nvSpPr>
          <p:cNvPr id="696" name="Google Shape;696;p20"/>
          <p:cNvSpPr/>
          <p:nvPr/>
        </p:nvSpPr>
        <p:spPr>
          <a:xfrm>
            <a:off x="438912" y="5047488"/>
            <a:ext cx="513892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150"/>
              <a:buFont typeface="Calibri"/>
              <a:buNone/>
            </a:pPr>
            <a:r>
              <a:rPr b="0" i="0" lang="en-US" sz="1150" u="none" cap="none" strike="noStrike">
                <a:solidFill>
                  <a:srgbClr val="666666"/>
                </a:solidFill>
                <a:latin typeface="Calibri"/>
                <a:ea typeface="Calibri"/>
                <a:cs typeface="Calibri"/>
                <a:sym typeface="Calibri"/>
              </a:rPr>
              <a:t>My word: ________________________</a:t>
            </a:r>
            <a:endParaRPr b="0" i="0" sz="1150" u="none" cap="none" strike="noStrike">
              <a:solidFill>
                <a:schemeClr val="dk1"/>
              </a:solidFill>
              <a:latin typeface="Calibri"/>
              <a:ea typeface="Calibri"/>
              <a:cs typeface="Calibri"/>
              <a:sym typeface="Calibri"/>
            </a:endParaRPr>
          </a:p>
        </p:txBody>
      </p:sp>
      <p:sp>
        <p:nvSpPr>
          <p:cNvPr id="697" name="Google Shape;697;p20"/>
          <p:cNvSpPr/>
          <p:nvPr/>
        </p:nvSpPr>
        <p:spPr>
          <a:xfrm>
            <a:off x="6080760" y="960120"/>
            <a:ext cx="5897880" cy="5394960"/>
          </a:xfrm>
          <a:prstGeom prst="rect">
            <a:avLst/>
          </a:prstGeom>
          <a:solidFill>
            <a:srgbClr val="FFE500"/>
          </a:solidFill>
          <a:ln cap="flat" cmpd="sng" w="12700">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6217920" y="1051560"/>
            <a:ext cx="56235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2000"/>
              <a:buFont typeface="Trebuchet MS"/>
              <a:buNone/>
            </a:pPr>
            <a:r>
              <a:rPr b="1" i="0" lang="en-US" sz="2000" u="none" cap="none" strike="noStrike">
                <a:solidFill>
                  <a:srgbClr val="0D0D0D"/>
                </a:solidFill>
                <a:latin typeface="Trebuchet MS"/>
                <a:ea typeface="Trebuchet MS"/>
                <a:cs typeface="Trebuchet MS"/>
                <a:sym typeface="Trebuchet MS"/>
              </a:rPr>
              <a:t>Exit Ticket</a:t>
            </a:r>
            <a:endParaRPr b="0" i="0" sz="2000" u="none" cap="none" strike="noStrike">
              <a:solidFill>
                <a:schemeClr val="dk1"/>
              </a:solidFill>
              <a:latin typeface="Calibri"/>
              <a:ea typeface="Calibri"/>
              <a:cs typeface="Calibri"/>
              <a:sym typeface="Calibri"/>
            </a:endParaRPr>
          </a:p>
        </p:txBody>
      </p:sp>
      <p:sp>
        <p:nvSpPr>
          <p:cNvPr id="699" name="Google Shape;699;p20"/>
          <p:cNvSpPr/>
          <p:nvPr/>
        </p:nvSpPr>
        <p:spPr>
          <a:xfrm>
            <a:off x="6217920" y="1481328"/>
            <a:ext cx="56235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0" i="0" lang="en-US" sz="1250" u="none" cap="none" strike="noStrike">
                <a:solidFill>
                  <a:srgbClr val="0D0D0D"/>
                </a:solidFill>
                <a:latin typeface="Calibri"/>
                <a:ea typeface="Calibri"/>
                <a:cs typeface="Calibri"/>
                <a:sym typeface="Calibri"/>
              </a:rPr>
              <a:t>How confident are you? (1 = not sure, 5 = fully confident)</a:t>
            </a:r>
            <a:endParaRPr b="0" i="0" sz="1250" u="none" cap="none" strike="noStrike">
              <a:solidFill>
                <a:schemeClr val="dk1"/>
              </a:solidFill>
              <a:latin typeface="Calibri"/>
              <a:ea typeface="Calibri"/>
              <a:cs typeface="Calibri"/>
              <a:sym typeface="Calibri"/>
            </a:endParaRPr>
          </a:p>
        </p:txBody>
      </p:sp>
      <p:sp>
        <p:nvSpPr>
          <p:cNvPr id="700" name="Google Shape;700;p20"/>
          <p:cNvSpPr/>
          <p:nvPr/>
        </p:nvSpPr>
        <p:spPr>
          <a:xfrm>
            <a:off x="6217920" y="1938528"/>
            <a:ext cx="56235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1" i="0" lang="en-US" sz="1250" u="none" cap="none" strike="noStrike">
                <a:solidFill>
                  <a:srgbClr val="0D0D0D"/>
                </a:solidFill>
                <a:latin typeface="Calibri"/>
                <a:ea typeface="Calibri"/>
                <a:cs typeface="Calibri"/>
                <a:sym typeface="Calibri"/>
              </a:rPr>
              <a:t>Describing primary, foreign &amp; composite keys:</a:t>
            </a:r>
            <a:endParaRPr b="0" i="0" sz="1250" u="none" cap="none" strike="noStrike">
              <a:solidFill>
                <a:schemeClr val="dk1"/>
              </a:solidFill>
              <a:latin typeface="Calibri"/>
              <a:ea typeface="Calibri"/>
              <a:cs typeface="Calibri"/>
              <a:sym typeface="Calibri"/>
            </a:endParaRPr>
          </a:p>
        </p:txBody>
      </p:sp>
      <p:sp>
        <p:nvSpPr>
          <p:cNvPr id="701" name="Google Shape;701;p20"/>
          <p:cNvSpPr/>
          <p:nvPr/>
        </p:nvSpPr>
        <p:spPr>
          <a:xfrm>
            <a:off x="6217920" y="2267712"/>
            <a:ext cx="562356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600"/>
              <a:buFont typeface="Calibri"/>
              <a:buNone/>
            </a:pPr>
            <a:r>
              <a:rPr b="0" i="0" lang="en-US" sz="1600" u="none" cap="none" strike="noStrike">
                <a:solidFill>
                  <a:srgbClr val="0D0D0D"/>
                </a:solidFill>
                <a:latin typeface="Calibri"/>
                <a:ea typeface="Calibri"/>
                <a:cs typeface="Calibri"/>
                <a:sym typeface="Calibri"/>
              </a:rPr>
              <a:t>1 □  2 □  3 □  4 □  5 □</a:t>
            </a:r>
            <a:endParaRPr b="0" i="0" sz="1600" u="none" cap="none" strike="noStrike">
              <a:solidFill>
                <a:schemeClr val="dk1"/>
              </a:solidFill>
              <a:latin typeface="Calibri"/>
              <a:ea typeface="Calibri"/>
              <a:cs typeface="Calibri"/>
              <a:sym typeface="Calibri"/>
            </a:endParaRPr>
          </a:p>
        </p:txBody>
      </p:sp>
      <p:sp>
        <p:nvSpPr>
          <p:cNvPr id="702" name="Google Shape;702;p20"/>
          <p:cNvSpPr/>
          <p:nvPr/>
        </p:nvSpPr>
        <p:spPr>
          <a:xfrm>
            <a:off x="6217920" y="2944368"/>
            <a:ext cx="56235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1" i="0" lang="en-US" sz="1250" u="none" cap="none" strike="noStrike">
                <a:solidFill>
                  <a:srgbClr val="0D0D0D"/>
                </a:solidFill>
                <a:latin typeface="Calibri"/>
                <a:ea typeface="Calibri"/>
                <a:cs typeface="Calibri"/>
                <a:sym typeface="Calibri"/>
              </a:rPr>
              <a:t>Explaining 5+ benefits with examples:</a:t>
            </a:r>
            <a:endParaRPr b="0" i="0" sz="1250" u="none" cap="none" strike="noStrike">
              <a:solidFill>
                <a:schemeClr val="dk1"/>
              </a:solidFill>
              <a:latin typeface="Calibri"/>
              <a:ea typeface="Calibri"/>
              <a:cs typeface="Calibri"/>
              <a:sym typeface="Calibri"/>
            </a:endParaRPr>
          </a:p>
        </p:txBody>
      </p:sp>
      <p:sp>
        <p:nvSpPr>
          <p:cNvPr id="703" name="Google Shape;703;p20"/>
          <p:cNvSpPr/>
          <p:nvPr/>
        </p:nvSpPr>
        <p:spPr>
          <a:xfrm>
            <a:off x="6217920" y="3273552"/>
            <a:ext cx="562356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600"/>
              <a:buFont typeface="Calibri"/>
              <a:buNone/>
            </a:pPr>
            <a:r>
              <a:rPr b="0" i="0" lang="en-US" sz="1600" u="none" cap="none" strike="noStrike">
                <a:solidFill>
                  <a:srgbClr val="0D0D0D"/>
                </a:solidFill>
                <a:latin typeface="Calibri"/>
                <a:ea typeface="Calibri"/>
                <a:cs typeface="Calibri"/>
                <a:sym typeface="Calibri"/>
              </a:rPr>
              <a:t>1 □  2 □  3 □  4 □  5 □</a:t>
            </a:r>
            <a:endParaRPr b="0" i="0" sz="1600" u="none" cap="none" strike="noStrike">
              <a:solidFill>
                <a:schemeClr val="dk1"/>
              </a:solidFill>
              <a:latin typeface="Calibri"/>
              <a:ea typeface="Calibri"/>
              <a:cs typeface="Calibri"/>
              <a:sym typeface="Calibri"/>
            </a:endParaRPr>
          </a:p>
        </p:txBody>
      </p:sp>
      <p:sp>
        <p:nvSpPr>
          <p:cNvPr id="704" name="Google Shape;704;p20"/>
          <p:cNvSpPr/>
          <p:nvPr/>
        </p:nvSpPr>
        <p:spPr>
          <a:xfrm>
            <a:off x="6217920" y="3950208"/>
            <a:ext cx="56235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1" i="0" lang="en-US" sz="1250" u="none" cap="none" strike="noStrike">
                <a:solidFill>
                  <a:srgbClr val="0D0D0D"/>
                </a:solidFill>
                <a:latin typeface="Calibri"/>
                <a:ea typeface="Calibri"/>
                <a:cs typeface="Calibri"/>
                <a:sym typeface="Calibri"/>
              </a:rPr>
              <a:t>Explaining 4+ limitations with examples:</a:t>
            </a:r>
            <a:endParaRPr b="0" i="0" sz="1250" u="none" cap="none" strike="noStrike">
              <a:solidFill>
                <a:schemeClr val="dk1"/>
              </a:solidFill>
              <a:latin typeface="Calibri"/>
              <a:ea typeface="Calibri"/>
              <a:cs typeface="Calibri"/>
              <a:sym typeface="Calibri"/>
            </a:endParaRPr>
          </a:p>
        </p:txBody>
      </p:sp>
      <p:sp>
        <p:nvSpPr>
          <p:cNvPr id="705" name="Google Shape;705;p20"/>
          <p:cNvSpPr/>
          <p:nvPr/>
        </p:nvSpPr>
        <p:spPr>
          <a:xfrm>
            <a:off x="6217920" y="4279392"/>
            <a:ext cx="562356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600"/>
              <a:buFont typeface="Calibri"/>
              <a:buNone/>
            </a:pPr>
            <a:r>
              <a:rPr b="0" i="0" lang="en-US" sz="1600" u="none" cap="none" strike="noStrike">
                <a:solidFill>
                  <a:srgbClr val="0D0D0D"/>
                </a:solidFill>
                <a:latin typeface="Calibri"/>
                <a:ea typeface="Calibri"/>
                <a:cs typeface="Calibri"/>
                <a:sym typeface="Calibri"/>
              </a:rPr>
              <a:t>1 □  2 □  3 □  4 □  5 □</a:t>
            </a:r>
            <a:endParaRPr b="0" i="0" sz="1600" u="none" cap="none" strike="noStrike">
              <a:solidFill>
                <a:schemeClr val="dk1"/>
              </a:solidFill>
              <a:latin typeface="Calibri"/>
              <a:ea typeface="Calibri"/>
              <a:cs typeface="Calibri"/>
              <a:sym typeface="Calibri"/>
            </a:endParaRPr>
          </a:p>
        </p:txBody>
      </p:sp>
      <p:sp>
        <p:nvSpPr>
          <p:cNvPr id="706" name="Google Shape;706;p20"/>
          <p:cNvSpPr/>
          <p:nvPr/>
        </p:nvSpPr>
        <p:spPr>
          <a:xfrm>
            <a:off x="6217920" y="4956048"/>
            <a:ext cx="56235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250"/>
              <a:buFont typeface="Calibri"/>
              <a:buNone/>
            </a:pPr>
            <a:r>
              <a:rPr b="1" i="0" lang="en-US" sz="1250" u="none" cap="none" strike="noStrike">
                <a:solidFill>
                  <a:srgbClr val="0D0D0D"/>
                </a:solidFill>
                <a:latin typeface="Calibri"/>
                <a:ea typeface="Calibri"/>
                <a:cs typeface="Calibri"/>
                <a:sym typeface="Calibri"/>
              </a:rPr>
              <a:t>Choosing the right database for a scenario:</a:t>
            </a:r>
            <a:endParaRPr b="0" i="0" sz="1250" u="none" cap="none" strike="noStrike">
              <a:solidFill>
                <a:schemeClr val="dk1"/>
              </a:solidFill>
              <a:latin typeface="Calibri"/>
              <a:ea typeface="Calibri"/>
              <a:cs typeface="Calibri"/>
              <a:sym typeface="Calibri"/>
            </a:endParaRPr>
          </a:p>
        </p:txBody>
      </p:sp>
      <p:sp>
        <p:nvSpPr>
          <p:cNvPr id="707" name="Google Shape;707;p20"/>
          <p:cNvSpPr/>
          <p:nvPr/>
        </p:nvSpPr>
        <p:spPr>
          <a:xfrm>
            <a:off x="6217920" y="5285232"/>
            <a:ext cx="562356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600"/>
              <a:buFont typeface="Calibri"/>
              <a:buNone/>
            </a:pPr>
            <a:r>
              <a:rPr b="0" i="0" lang="en-US" sz="1600" u="none" cap="none" strike="noStrike">
                <a:solidFill>
                  <a:srgbClr val="0D0D0D"/>
                </a:solidFill>
                <a:latin typeface="Calibri"/>
                <a:ea typeface="Calibri"/>
                <a:cs typeface="Calibri"/>
                <a:sym typeface="Calibri"/>
              </a:rPr>
              <a:t>1 □  2 □  3 □  4 □  5 □</a:t>
            </a:r>
            <a:endParaRPr b="0" i="0" sz="1600" u="none" cap="none" strike="noStrike">
              <a:solidFill>
                <a:schemeClr val="dk1"/>
              </a:solidFill>
              <a:latin typeface="Calibri"/>
              <a:ea typeface="Calibri"/>
              <a:cs typeface="Calibri"/>
              <a:sym typeface="Calibri"/>
            </a:endParaRPr>
          </a:p>
        </p:txBody>
      </p:sp>
      <p:sp>
        <p:nvSpPr>
          <p:cNvPr id="708" name="Google Shape;708;p20"/>
          <p:cNvSpPr/>
          <p:nvPr/>
        </p:nvSpPr>
        <p:spPr>
          <a:xfrm>
            <a:off x="6217920" y="6035040"/>
            <a:ext cx="56235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0D0D"/>
              </a:buClr>
              <a:buSzPts val="1300"/>
              <a:buFont typeface="Trebuchet MS"/>
              <a:buNone/>
            </a:pPr>
            <a:r>
              <a:rPr b="1" i="0" lang="en-US" sz="1300" u="none" cap="none" strike="noStrike">
                <a:solidFill>
                  <a:srgbClr val="0D0D0D"/>
                </a:solidFill>
                <a:latin typeface="Trebuchet MS"/>
                <a:ea typeface="Trebuchet MS"/>
                <a:cs typeface="Trebuchet MS"/>
                <a:sym typeface="Trebuchet MS"/>
              </a:rPr>
              <a:t>Share your one-word answers on the board!</a:t>
            </a:r>
            <a:endParaRPr b="0" i="0" sz="1300" u="none" cap="none" strike="noStrike">
              <a:solidFill>
                <a:schemeClr val="dk1"/>
              </a:solidFill>
              <a:latin typeface="Calibri"/>
              <a:ea typeface="Calibri"/>
              <a:cs typeface="Calibri"/>
              <a:sym typeface="Calibri"/>
            </a:endParaRPr>
          </a:p>
        </p:txBody>
      </p:sp>
      <p:sp>
        <p:nvSpPr>
          <p:cNvPr id="709" name="Google Shape;709;p20"/>
          <p:cNvSpPr/>
          <p:nvPr/>
        </p:nvSpPr>
        <p:spPr>
          <a:xfrm>
            <a:off x="0" y="6492240"/>
            <a:ext cx="12188952" cy="36576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0"/>
          <p:cNvSpPr/>
          <p:nvPr/>
        </p:nvSpPr>
        <p:spPr>
          <a:xfrm>
            <a:off x="182880" y="6492240"/>
            <a:ext cx="1188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A3.1.1  Explain the features, benefits and limitations of a relational database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