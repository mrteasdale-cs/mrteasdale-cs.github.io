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797675" cy="9929800"/>
  <p:embeddedFontLst>
    <p:embeddedFont>
      <p:font typeface="Playfair Display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Oswald"/>
      <p:regular r:id="rId44"/>
      <p:bold r:id="rId45"/>
    </p:embeddedFont>
    <p:embeddedFont>
      <p:font typeface="Questrial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87DC5B-7B9B-4080-99EC-D74DFB4A91D0}">
  <a:tblStyle styleId="{5C87DC5B-7B9B-4080-99EC-D74DFB4A91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20" Type="http://schemas.openxmlformats.org/officeDocument/2006/relationships/slide" Target="slides/slide15.xml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Oswald-regular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Italic.fntdata"/><Relationship Id="rId24" Type="http://schemas.openxmlformats.org/officeDocument/2006/relationships/slide" Target="slides/slide19.xml"/><Relationship Id="rId46" Type="http://schemas.openxmlformats.org/officeDocument/2006/relationships/font" Target="fonts/Questrial-regular.fntdata"/><Relationship Id="rId23" Type="http://schemas.openxmlformats.org/officeDocument/2006/relationships/slide" Target="slides/slide18.xml"/><Relationship Id="rId45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fairDisplay-bold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regular.fntdata"/><Relationship Id="rId17" Type="http://schemas.openxmlformats.org/officeDocument/2006/relationships/slide" Target="slides/slide12.xml"/><Relationship Id="rId39" Type="http://schemas.openxmlformats.org/officeDocument/2006/relationships/font" Target="fonts/PlayfairDisplay-boldItalic.fntdata"/><Relationship Id="rId16" Type="http://schemas.openxmlformats.org/officeDocument/2006/relationships/slide" Target="slides/slide11.xml"/><Relationship Id="rId38" Type="http://schemas.openxmlformats.org/officeDocument/2006/relationships/font" Target="fonts/PlayfairDispl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535ad6ed2_0_16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c535ad6ed2_0_16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5313b79cf_0_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c5313b79cf_0_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5313b79cf_2_73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c5313b79cf_2_73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6771bbf57_0_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6771bbf57_0_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96e9673fc_0_2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96e9673fc_0_2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96e9673fc_0_9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96e9673fc_0_9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96e9673fc_0_1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96e9673fc_0_1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96e9673fc_0_23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96e9673fc_0_23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96e9673fc_0_2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96e9673fc_0_2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96e9673fc_0_54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96e9673fc_0_54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96e9673fc_0_6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96e9673fc_0_6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96e9673fc_0_65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96e9673fc_0_65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96e9673fc_0_7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96e9673fc_0_7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35ad6ed2_0_138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35ad6ed2_0_138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96e9673fc_0_87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96e9673fc_0_87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96e9673fc_0_92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96e9673fc_0_92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96e9673fc_0_97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e96e9673fc_0_97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96e9673fc_0_109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96e9673fc_0_109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96e9673fc_0_114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96e9673fc_0_114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96e9673fc_0_12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96e9673fc_0_12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96e9673fc_0_129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96e9673fc_0_129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96e9673fc_0_135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96e9673fc_0_135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96e9673fc_0_14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96e9673fc_0_14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96e9673fc_0_145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96e9673fc_0_145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96e9673fc_0_161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96e9673fc_0_161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96e9673fc_0_167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96e9673fc_0_167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96e9673fc_0_174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96e9673fc_0_174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96e9673fc_0_180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96e9673fc_0_180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96e9673fc_0_186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96e9673fc_0_186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96e9673fc_0_192:notes"/>
          <p:cNvSpPr/>
          <p:nvPr>
            <p:ph idx="2" type="sldImg"/>
          </p:nvPr>
        </p:nvSpPr>
        <p:spPr>
          <a:xfrm>
            <a:off x="88900" y="744538"/>
            <a:ext cx="66198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96e9673fc_0_192:notes"/>
          <p:cNvSpPr txBox="1"/>
          <p:nvPr>
            <p:ph idx="1" type="body"/>
          </p:nvPr>
        </p:nvSpPr>
        <p:spPr>
          <a:xfrm>
            <a:off x="679768" y="4716661"/>
            <a:ext cx="5438100" cy="44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Questrial"/>
              <a:buNone/>
              <a:defRPr b="1" sz="68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216950" y="-75"/>
            <a:ext cx="4927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265500" y="802791"/>
            <a:ext cx="37485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65500" y="2717925"/>
            <a:ext cx="38079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4310700" y="724200"/>
            <a:ext cx="46221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746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04800" y="4611905"/>
            <a:ext cx="85206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Questrial"/>
              <a:buAutoNum type="arabicPeriod"/>
            </a:pPr>
            <a:r>
              <a:rPr lang="en" sz="8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Define the key terms of normalisation, including atomicity, unique identification, functional, partial-key and explain how they relate to data integrity. </a:t>
            </a:r>
            <a:endParaRPr sz="8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Questrial"/>
              <a:buAutoNum type="arabicPeriod"/>
            </a:pPr>
            <a:r>
              <a:rPr lang="en" sz="8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Apply the rules of 1NF, 2NF, and 3NF to identify and resolve normalisation issues such as data duplication</a:t>
            </a:r>
            <a:endParaRPr sz="8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Questrial"/>
              <a:buAutoNum type="arabicPeriod"/>
            </a:pPr>
            <a:r>
              <a:rPr lang="en" sz="800">
                <a:solidFill>
                  <a:schemeClr val="lt1"/>
                </a:solidFill>
                <a:highlight>
                  <a:schemeClr val="dk2"/>
                </a:highlight>
                <a:latin typeface="Questrial"/>
                <a:ea typeface="Questrial"/>
                <a:cs typeface="Questrial"/>
                <a:sym typeface="Questrial"/>
              </a:rPr>
              <a:t>Evaluate the trade-offs between normalisation and denormalisation</a:t>
            </a:r>
            <a:endParaRPr sz="800">
              <a:solidFill>
                <a:schemeClr val="lt1"/>
              </a:solidFill>
              <a:highlight>
                <a:schemeClr val="dk2"/>
              </a:highlight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Questrial"/>
              <a:buNone/>
              <a:defRPr b="1" sz="4800">
                <a:latin typeface="Questrial"/>
                <a:ea typeface="Questrial"/>
                <a:cs typeface="Questrial"/>
                <a:sym typeface="Quest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estrial"/>
              <a:buChar char="●"/>
              <a:defRPr b="0" i="0" sz="18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○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■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○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■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●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Questrial"/>
              <a:buChar char="○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Questrial"/>
              <a:buChar char="■"/>
              <a:defRPr b="0" i="0" sz="1400" u="none" cap="none" strike="noStrik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9 Aggregate Functions</a:t>
            </a:r>
            <a:endParaRPr/>
          </a:p>
        </p:txBody>
      </p:sp>
      <p:sp>
        <p:nvSpPr>
          <p:cNvPr id="44" name="Google Shape;44;p8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A3.3 Database Programming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L6 - </a:t>
            </a:r>
            <a:r>
              <a:rPr lang="en" sz="2800"/>
              <a:t>Syllabus Links</a:t>
            </a:r>
            <a:endParaRPr sz="2800"/>
          </a:p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100"/>
              <a:t>A3.3.2 Construct queries between two tables in SQL.</a:t>
            </a:r>
            <a:endParaRPr b="1"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Questrial"/>
              <a:buChar char="●"/>
            </a:pPr>
            <a:r>
              <a:rPr lang="en" sz="2100"/>
              <a:t>Queries must include joins, relational operators, filtering, pattern matching, and ordering data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Questrial"/>
              <a:buChar char="●"/>
            </a:pPr>
            <a:r>
              <a:rPr lang="en" sz="2100"/>
              <a:t>SQL commands: SELECT, DISTINCT, FROM, WHERE, BETWEEN, ORDER BY, GROUP BY, HAVING, ASC, DESC, JOIN, LIKE with % wildcard, AND, OR, NOT (note: Syntax may vary in different database systems)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5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310700" y="426100"/>
            <a:ext cx="46221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By the end of this lesson you will be able to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Identify and apply COUNT, SUM, AVG, MIN and MAX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Use aggregate functions with GROUP BY to produce grouped summaries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Apply HAVING to filter grouped results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Combine aggregate functions with JOIN across multiple tables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Interpret and predict the output of aggregate queries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56" name="Google Shape;56;p10"/>
          <p:cNvSpPr txBox="1"/>
          <p:nvPr>
            <p:ph type="title"/>
          </p:nvPr>
        </p:nvSpPr>
        <p:spPr>
          <a:xfrm>
            <a:off x="265500" y="802800"/>
            <a:ext cx="37485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000"/>
              <a:t>Lesson 9</a:t>
            </a:r>
            <a:endParaRPr sz="4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000"/>
              <a:t>SQL Aggregate Functions (HL)</a:t>
            </a:r>
            <a:endParaRPr sz="4000"/>
          </a:p>
        </p:txBody>
      </p:sp>
      <p:pic>
        <p:nvPicPr>
          <p:cNvPr id="57" name="Google Shape;5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00" y="80175"/>
            <a:ext cx="4063850" cy="12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Quick Questions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527675" y="1310600"/>
            <a:ext cx="796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Questrial"/>
              <a:buAutoNum type="arabicPeriod"/>
            </a:pPr>
            <a:r>
              <a:rPr lang="en" sz="2400">
                <a:latin typeface="Questrial"/>
                <a:ea typeface="Questrial"/>
                <a:cs typeface="Questrial"/>
                <a:sym typeface="Questrial"/>
              </a:rPr>
              <a:t>Write a SELECT + JOIN query to retrieve open incidents with officer names</a:t>
            </a:r>
            <a:endParaRPr sz="2400"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Questrial"/>
              <a:buAutoNum type="arabicPeriod"/>
            </a:pPr>
            <a:r>
              <a:rPr lang="en" sz="2400">
                <a:latin typeface="Questrial"/>
                <a:ea typeface="Questrial"/>
                <a:cs typeface="Questrial"/>
                <a:sym typeface="Questrial"/>
              </a:rPr>
              <a:t>Explain the difference between WHERE and HAVING</a:t>
            </a:r>
            <a:endParaRPr sz="2400"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Questrial"/>
              <a:buAutoNum type="arabicPeriod"/>
            </a:pPr>
            <a:r>
              <a:rPr lang="en" sz="2400">
                <a:latin typeface="Questrial"/>
                <a:ea typeface="Questrial"/>
                <a:cs typeface="Questrial"/>
                <a:sym typeface="Questrial"/>
              </a:rPr>
              <a:t>Write the UPDATE statement to close Incident 203</a:t>
            </a:r>
            <a:endParaRPr sz="2400">
              <a:latin typeface="Questrial"/>
              <a:ea typeface="Questrial"/>
              <a:cs typeface="Questrial"/>
              <a:sym typeface="Quest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Questrial"/>
              <a:buAutoNum type="arabicPeriod"/>
            </a:pPr>
            <a:r>
              <a:rPr lang="en" sz="2400">
                <a:latin typeface="Questrial"/>
                <a:ea typeface="Questrial"/>
                <a:cs typeface="Questrial"/>
                <a:sym typeface="Questrial"/>
              </a:rPr>
              <a:t>Write the DELETE to remove all closed incidents</a:t>
            </a:r>
            <a:endParaRPr sz="2400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Aggregate Function?</a:t>
            </a:r>
            <a:endParaRPr/>
          </a:p>
        </p:txBody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Aggregate functions perform a calculation across multiple rows and return a single value.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2"/>
          <p:cNvGraphicFramePr/>
          <p:nvPr/>
        </p:nvGraphicFramePr>
        <p:xfrm>
          <a:off x="407937" y="1718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{5C87DC5B-7B9B-4080-99EC-D74DFB4A91D0}</a:tableStyleId>
              </a:tblPr>
              <a:tblGrid>
                <a:gridCol w="2148525"/>
                <a:gridCol w="61770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Function</a:t>
                      </a:r>
                      <a:endParaRPr b="1" sz="1500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Returns</a:t>
                      </a:r>
                      <a:endParaRPr b="1" sz="1500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COUNT(*)</a:t>
                      </a:r>
                      <a:endParaRPr sz="150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Number of rows matching a condition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COUNT(field)</a:t>
                      </a:r>
                      <a:endParaRPr sz="150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Number of non-NULL values in a field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SUM(field)</a:t>
                      </a:r>
                      <a:endParaRPr sz="150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Total of all values in a numerical field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AVG(field)</a:t>
                      </a:r>
                      <a:endParaRPr sz="150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Mean average of all values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MIN(field)</a:t>
                      </a:r>
                      <a:endParaRPr sz="150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Smallest value in a field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MAX(field)</a:t>
                      </a:r>
                      <a:endParaRPr sz="1500">
                        <a:solidFill>
                          <a:srgbClr val="0000FF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Largest value in a field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1: Simple COUNT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183775" y="776275"/>
            <a:ext cx="85206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many incidents are recorded in total?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725350" y="1747450"/>
            <a:ext cx="777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SELECT COUNT(*) AS TotalIncidents</a:t>
            </a:r>
            <a:endParaRPr sz="2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FROM INCIDENT;</a:t>
            </a:r>
            <a:endParaRPr sz="25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955803" y="3259922"/>
            <a:ext cx="7773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lt1"/>
                </a:solidFill>
                <a:highlight>
                  <a:srgbClr val="FF0000"/>
                </a:highlight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1" sz="3300">
              <a:solidFill>
                <a:schemeClr val="lt1"/>
              </a:solidFill>
              <a:highlight>
                <a:srgbClr val="FF0000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6 — Worked Example 2: COUNT with GROUP BY</a:t>
            </a:r>
            <a:endParaRPr/>
          </a:p>
        </p:txBody>
      </p:sp>
      <p:graphicFrame>
        <p:nvGraphicFramePr>
          <p:cNvPr id="84" name="Google Shape;84;p14"/>
          <p:cNvGraphicFramePr/>
          <p:nvPr/>
        </p:nvGraphicFramePr>
        <p:xfrm>
          <a:off x="4834300" y="98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{5C87DC5B-7B9B-4080-99EC-D74DFB4A91D0}</a:tableStyleId>
              </a:tblPr>
              <a:tblGrid>
                <a:gridCol w="1407325"/>
                <a:gridCol w="2100800"/>
              </a:tblGrid>
              <a:tr h="460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OfficerID</a:t>
                      </a:r>
                      <a:endParaRPr b="1" sz="1600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IncidentCount</a:t>
                      </a:r>
                      <a:endParaRPr b="1" sz="1600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PC0042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PC0091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PS0017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PC0055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PC0078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PS0024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5" name="Google Shape;85;p14"/>
          <p:cNvSpPr txBox="1"/>
          <p:nvPr/>
        </p:nvSpPr>
        <p:spPr>
          <a:xfrm>
            <a:off x="330050" y="899100"/>
            <a:ext cx="3569100" cy="294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latin typeface="Questrial"/>
                <a:ea typeface="Questrial"/>
                <a:cs typeface="Questrial"/>
                <a:sym typeface="Questrial"/>
              </a:rPr>
              <a:t>How many incidents has each officer been assigned?</a:t>
            </a:r>
            <a:endParaRPr b="1" sz="1800"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OfficerID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0051C2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IncidentCount</a:t>
            </a:r>
            <a:endParaRPr sz="18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</a:t>
            </a:r>
            <a:endParaRPr sz="18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OfficerID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rgbClr val="2B303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3: HAVING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365700" y="759300"/>
            <a:ext cx="7954800" cy="25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Which officers have more than one incident?</a:t>
            </a:r>
            <a:endParaRPr b="1" sz="18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OfficerID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0051C2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IncidentCount</a:t>
            </a:r>
            <a:endParaRPr sz="18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</a:t>
            </a:r>
            <a:endParaRPr sz="18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OfficerID</a:t>
            </a:r>
            <a:endParaRPr sz="18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HAVING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800">
                <a:solidFill>
                  <a:srgbClr val="0051C2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8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lang="en" sz="1800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800">
              <a:solidFill>
                <a:srgbClr val="2B30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Result: PC0042 = 2, PC0091 = 2</a:t>
            </a:r>
            <a:endParaRPr sz="18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4402000" y="3109650"/>
            <a:ext cx="4306500" cy="1280700"/>
          </a:xfrm>
          <a:prstGeom prst="rect">
            <a:avLst/>
          </a:prstGeom>
          <a:solidFill>
            <a:srgbClr val="FFF2CC"/>
          </a:solidFill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W</a:t>
            </a: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hy can't we use WHERE here? WHERE runs before GROUP BY, so the group totals don't exist yet. HAVING runs after GROUP BY.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739950" y="3495575"/>
            <a:ext cx="3536100" cy="816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4: Aggregate + JOIN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511050" y="906725"/>
            <a:ext cx="74190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Officer names alongside their incident count:</a:t>
            </a:r>
            <a:endParaRPr b="1" sz="17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      OFFICER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LastName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7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700">
                <a:solidFill>
                  <a:srgbClr val="0051C2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IncidentCount</a:t>
            </a:r>
            <a:endParaRPr sz="17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</a:t>
            </a:r>
            <a:endParaRPr sz="17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JOIN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 </a:t>
            </a: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ON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INCIDENT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OfficerID = OFFICER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OfficerID</a:t>
            </a:r>
            <a:endParaRPr sz="17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100C2"/>
                </a:solidFill>
                <a:latin typeface="Courier New"/>
                <a:ea typeface="Courier New"/>
                <a:cs typeface="Courier New"/>
                <a:sym typeface="Courier New"/>
              </a:rPr>
              <a:t>BY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 OFFICER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7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LastName</a:t>
            </a:r>
            <a:r>
              <a:rPr lang="en" sz="1700">
                <a:solidFill>
                  <a:srgbClr val="2B303B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>
              <a:solidFill>
                <a:srgbClr val="2B303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chemeClr val="dk2"/>
                </a:solidFill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NOTE</a:t>
            </a:r>
            <a:r>
              <a:rPr lang="en" sz="1700">
                <a:solidFill>
                  <a:schemeClr val="dk2"/>
                </a:solidFill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:</a:t>
            </a:r>
            <a:r>
              <a:rPr lang="en" sz="1700">
                <a:solidFill>
                  <a:schemeClr val="dk2"/>
                </a:solidFill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 all non-aggregate columns in </a:t>
            </a:r>
            <a:r>
              <a:rPr b="1" lang="en" sz="1700">
                <a:solidFill>
                  <a:schemeClr val="dk2"/>
                </a:solidFill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SELECT </a:t>
            </a:r>
            <a:r>
              <a:rPr lang="en" sz="1700">
                <a:solidFill>
                  <a:schemeClr val="dk2"/>
                </a:solidFill>
                <a:highlight>
                  <a:srgbClr val="FFFF00"/>
                </a:highlight>
                <a:latin typeface="Questrial"/>
                <a:ea typeface="Questrial"/>
                <a:cs typeface="Questrial"/>
                <a:sym typeface="Questrial"/>
              </a:rPr>
              <a:t>must appear in GROUP BY, this is the most common error with aggregates.</a:t>
            </a:r>
            <a:endParaRPr sz="1700">
              <a:solidFill>
                <a:schemeClr val="dk2"/>
              </a:solidFill>
              <a:highlight>
                <a:srgbClr val="FFFF00"/>
              </a:highlight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- Worksheet Section 4</a:t>
            </a:r>
            <a:endParaRPr/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/>
              <a:t>Task 3</a:t>
            </a:r>
            <a:r>
              <a:rPr lang="en" sz="2000"/>
              <a:t>: Annotate a GROUP BY + HAVING + MIN query line by line, then predict the output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/>
              <a:t>Task 4</a:t>
            </a:r>
            <a:r>
              <a:rPr lang="en" sz="2000"/>
              <a:t>: Write five aggregate queries: COUNT, GROUP BY, MIN/MAX, HAVING, Rank counts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/>
              <a:t>Task 5</a:t>
            </a:r>
            <a:r>
              <a:rPr lang="en" sz="2000"/>
              <a:t>: Aggregate with JOIN: officer incident counts, vehicle counts per station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en" sz="2000"/>
              <a:t>15 minutes. Predict results before running.</a:t>
            </a:r>
            <a:endParaRPr i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 10 — Common Mistakes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1" name="Google Shape;111;p18"/>
          <p:cNvGraphicFramePr/>
          <p:nvPr/>
        </p:nvGraphicFramePr>
        <p:xfrm>
          <a:off x="441757" y="1451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{5C87DC5B-7B9B-4080-99EC-D74DFB4A91D0}</a:tableStyleId>
              </a:tblPr>
              <a:tblGrid>
                <a:gridCol w="3676650"/>
                <a:gridCol w="44767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Mistake</a:t>
                      </a:r>
                      <a:endParaRPr b="1" sz="2000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Correction</a:t>
                      </a:r>
                      <a:endParaRPr b="1" sz="2000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Using WHERE to filter on COUNT/SUM/AVG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Use HAVING after GROUP BY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Forgetting to GROUP BY all non-aggregate SELECT fields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Every non-aggregate column in SELECT must be in GROUP BY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COUNT(*) vs COUNT(field)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COUNT(field) skips NULL values — know the difference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Using an alias (e.g. AS Total) in HAVING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Repeat the expression: HAVING COUNT(*) &gt; 1, not HAVING Total &gt; 1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18"/>
          <p:cNvSpPr txBox="1"/>
          <p:nvPr/>
        </p:nvSpPr>
        <p:spPr>
          <a:xfrm>
            <a:off x="441750" y="824100"/>
            <a:ext cx="30000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latin typeface="Questrial"/>
                <a:ea typeface="Questrial"/>
                <a:cs typeface="Questrial"/>
                <a:sym typeface="Questrial"/>
              </a:rPr>
              <a:t>Watch out for these:</a:t>
            </a:r>
            <a:endParaRPr b="1" sz="1700"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Tasks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" sz="2100"/>
              <a:t>Fix the broken query</a:t>
            </a:r>
            <a:r>
              <a:rPr lang="en" sz="2100"/>
              <a:t> — three deliberate errors to find and correct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b="1" lang="en" sz="2100"/>
              <a:t>Senior Officer Incident Report</a:t>
            </a:r>
            <a:r>
              <a:rPr lang="en" sz="2100"/>
              <a:t> — a single query combining JOIN, WHERE, GROUP BY, HAVING and ORDER BY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2100"/>
              <a:t>Work independently. Check your predicted output against the data tables.</a:t>
            </a:r>
            <a:endParaRPr sz="3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 Tips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600"/>
              <a:t>Each clause earns marks independently.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Write every clause on a new line: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SELECT ...</a:t>
            </a:r>
            <a:endParaRPr sz="16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FROM ...</a:t>
            </a:r>
            <a:endParaRPr sz="16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JOIN ... ON ...</a:t>
            </a:r>
            <a:endParaRPr sz="16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GROUP BY ...</a:t>
            </a:r>
            <a:endParaRPr sz="16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HAVING ...</a:t>
            </a:r>
            <a:endParaRPr sz="16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4181F"/>
                </a:solidFill>
                <a:latin typeface="Courier New"/>
                <a:ea typeface="Courier New"/>
                <a:cs typeface="Courier New"/>
                <a:sym typeface="Courier New"/>
              </a:rPr>
              <a:t>ORDER BY ...</a:t>
            </a:r>
            <a:endParaRPr sz="1600">
              <a:solidFill>
                <a:srgbClr val="14181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/>
              <a:t>A correct GROUP BY on the wrong column still loses the mark — use the field name exactly as it appears in the table.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Plenary: 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183775" y="776275"/>
            <a:ext cx="84195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500"/>
              <a:t>Before you leave:</a:t>
            </a:r>
            <a:endParaRPr b="1" sz="2500"/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SzPts val="2500"/>
              <a:buFont typeface="Questrial"/>
              <a:buAutoNum type="arabicPeriod"/>
            </a:pPr>
            <a:r>
              <a:rPr lang="en" sz="2500"/>
              <a:t>Name the five aggregate functions and what each does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Questrial"/>
              <a:buAutoNum type="arabicPeriod"/>
            </a:pPr>
            <a:r>
              <a:rPr lang="en" sz="2500"/>
              <a:t>Write a query to count incidents by type from the INCIDENT table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Questrial"/>
              <a:buAutoNum type="arabicPeriod"/>
            </a:pPr>
            <a:r>
              <a:rPr lang="en" sz="2500"/>
              <a:t>Why would COUNT(*) and COUNT(OfficerID) give different results if some OfficerID values were NULL?</a:t>
            </a:r>
            <a:endParaRPr sz="3500"/>
          </a:p>
        </p:txBody>
      </p:sp>
      <p:sp>
        <p:nvSpPr>
          <p:cNvPr id="131" name="Google Shape;131;p21"/>
          <p:cNvSpPr txBox="1"/>
          <p:nvPr/>
        </p:nvSpPr>
        <p:spPr>
          <a:xfrm>
            <a:off x="6891004" y="186131"/>
            <a:ext cx="2253000" cy="12807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⭐ Exit Ticket: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On a scale of 1-5, how confident are you?</a:t>
            </a:r>
            <a:endParaRPr sz="16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1 □  2 □  3 □  4 □  5 □</a:t>
            </a:r>
            <a:endParaRPr sz="190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Lesson 10</a:t>
            </a:r>
            <a:r>
              <a:rPr lang="en" sz="5200"/>
              <a:t> Database Views</a:t>
            </a:r>
            <a:endParaRPr sz="5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A3.3.5 (HL Only)</a:t>
            </a:r>
            <a:endParaRPr sz="5200"/>
          </a:p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A3.3 Database Programming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L10 - Syllabus Links</a:t>
            </a:r>
            <a:endParaRPr sz="2800"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100"/>
              <a:t>A3.3.5 Describe different database views. (HL only)</a:t>
            </a:r>
            <a:endParaRPr b="1" sz="2100"/>
          </a:p>
          <a:p>
            <a:pPr indent="-361950" lvl="0" marL="457200" rtl="0" algn="l">
              <a:spcBef>
                <a:spcPts val="15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Virtual views and materialized (snapshot) views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Hiding data complexity, data consistency, independence, performance, query simplification, read-only data or updatable data, security</a:t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idx="2" type="body"/>
          </p:nvPr>
        </p:nvSpPr>
        <p:spPr>
          <a:xfrm>
            <a:off x="4310700" y="426100"/>
            <a:ext cx="4622100" cy="42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By the end of this lesson you will be able to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Define a view and explain why it is virtual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Distinguish between simple, complex and materialised views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Describe six advantages of using views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Identify whether a view is read-only or updatable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AutoNum type="arabicPeriod"/>
            </a:pPr>
            <a:r>
              <a:rPr lang="en" sz="1700">
                <a:solidFill>
                  <a:srgbClr val="FFFFFF"/>
                </a:solidFill>
                <a:highlight>
                  <a:srgbClr val="000000"/>
                </a:highlight>
              </a:rPr>
              <a:t>Construct SQL to create all three view type</a:t>
            </a:r>
            <a:endParaRPr sz="17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49" name="Google Shape;149;p24"/>
          <p:cNvSpPr txBox="1"/>
          <p:nvPr>
            <p:ph type="title"/>
          </p:nvPr>
        </p:nvSpPr>
        <p:spPr>
          <a:xfrm>
            <a:off x="265500" y="802800"/>
            <a:ext cx="3748500" cy="35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000"/>
              <a:t>Lesson 10 Views</a:t>
            </a:r>
            <a:endParaRPr sz="4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4000"/>
              <a:t>(HL)</a:t>
            </a:r>
            <a:endParaRPr sz="4000"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00" y="80175"/>
            <a:ext cx="4063850" cy="12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/>
              <a:t>Name the five aggregate functions and what each does</a:t>
            </a:r>
            <a:endParaRPr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/>
              <a:t>Write a query: count incidents per officer, show only those with more than one</a:t>
            </a:r>
            <a:endParaRPr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/>
              <a:t>Write a SELECT + JOIN to retrieve open incidents with officer name and rank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have 3 minutes to think, then you will be called upon randomly…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View?</a:t>
            </a:r>
            <a:endParaRPr/>
          </a:p>
        </p:txBody>
      </p:sp>
      <p:sp>
        <p:nvSpPr>
          <p:cNvPr id="162" name="Google Shape;162;p26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900"/>
              <a:t>A view is a virtual table based on the result set of a stored SELECT query.</a:t>
            </a:r>
            <a:endParaRPr b="1" sz="1900"/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/>
              <a:t>It does </a:t>
            </a:r>
            <a:r>
              <a:rPr b="1" lang="en" sz="1900"/>
              <a:t>not</a:t>
            </a:r>
            <a:r>
              <a:rPr lang="en" sz="1900"/>
              <a:t> store data itself, it stores the query definition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Questrial"/>
              <a:buChar char="●"/>
            </a:pPr>
            <a:r>
              <a:rPr lang="en" sz="1900"/>
              <a:t>Every time the view is queried, the SELECT runs against the underlying tables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●"/>
            </a:pPr>
            <a:r>
              <a:rPr lang="en" sz="1900"/>
              <a:t>The result always reflects the </a:t>
            </a:r>
            <a:r>
              <a:rPr b="1" lang="en" sz="1900"/>
              <a:t>current state</a:t>
            </a:r>
            <a:r>
              <a:rPr lang="en" sz="1900"/>
              <a:t> of the underlying data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900">
                <a:highlight>
                  <a:srgbClr val="C9DAF8"/>
                </a:highlight>
              </a:rPr>
              <a:t>Think of a view like a window into the data, you can look through it and see what is there, but you are not touching the data directly.</a:t>
            </a:r>
            <a:endParaRPr sz="1900">
              <a:highlight>
                <a:srgbClr val="C9DAF8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Views?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8" name="Google Shape;168;p27"/>
          <p:cNvGraphicFramePr/>
          <p:nvPr/>
        </p:nvGraphicFramePr>
        <p:xfrm>
          <a:off x="113575" y="87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{5C87DC5B-7B9B-4080-99EC-D74DFB4A91D0}</a:tableStyleId>
              </a:tblPr>
              <a:tblGrid>
                <a:gridCol w="1637775"/>
                <a:gridCol w="7279075"/>
              </a:tblGrid>
              <a:tr h="309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Advantage</a:t>
                      </a:r>
                      <a:endParaRPr b="1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What it means in practice</a:t>
                      </a:r>
                      <a:endParaRPr b="1"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Complexity hiding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Users query the view, not a complex JOIN they need to write themselves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Data consistency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Schema changes behind the view do not break the user's query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63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Data independence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Applications query the view — changing a table does not break the app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6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Performance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Complex queries are stored once and reused; materialised views pre-compute results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Query simplification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 multi-line JOIN becomes </a:t>
                      </a:r>
                      <a:r>
                        <a:rPr lang="en" sz="1100">
                          <a:solidFill>
                            <a:srgbClr val="188038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SELECT * FROM OpenIncidentsView</a:t>
                      </a:r>
                      <a:endParaRPr sz="1100">
                        <a:solidFill>
                          <a:srgbClr val="188038"/>
                        </a:solidFill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  <a:tr h="49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Security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Only expose the fields and rows a user needs — hide officer badge numbers from dispatchers</a:t>
                      </a:r>
                      <a:endParaRPr>
                        <a:latin typeface="Questrial"/>
                        <a:ea typeface="Questrial"/>
                        <a:cs typeface="Questrial"/>
                        <a:sym typeface="Questrial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Types of View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Simple view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Questrial"/>
              <a:buChar char="●"/>
            </a:pPr>
            <a:r>
              <a:rPr lang="en" sz="1200"/>
              <a:t>Single table, no JOIN, no aggregate, no DISTINCT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Questrial"/>
              <a:buChar char="●"/>
            </a:pPr>
            <a:r>
              <a:rPr lang="en" sz="1200"/>
              <a:t>May be updatable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●"/>
            </a:pPr>
            <a:r>
              <a:rPr lang="en" sz="12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EF01Officers AS SELECT ... FROM OFFICER WHERE StationCode = 'EF01'</a:t>
            </a:r>
            <a:endParaRPr sz="12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Complex view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Questrial"/>
              <a:buChar char="●"/>
            </a:pPr>
            <a:r>
              <a:rPr lang="en" sz="1200"/>
              <a:t>Multiple tables, JOINs, aggregates or DISTINCT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Questrial"/>
              <a:buChar char="●"/>
            </a:pPr>
            <a:r>
              <a:rPr lang="en" sz="1200"/>
              <a:t>Usually read-only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●"/>
            </a:pPr>
            <a:r>
              <a:rPr lang="en" sz="12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CREATE VIEW OpenIncidentDetails AS SELECT ... FROM INCIDENT JOIN OFFICER ON ...</a:t>
            </a:r>
            <a:endParaRPr sz="12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/>
              <a:t>Materialised (snapshot) view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Questrial"/>
              <a:buChar char="●"/>
            </a:pPr>
            <a:r>
              <a:rPr lang="en" sz="1200"/>
              <a:t>Physically stores the query result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1200"/>
              <a:t>Must be refreshed with </a:t>
            </a:r>
            <a:r>
              <a:rPr lang="en" sz="12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REFRESH MATERIALIZED VIEW</a:t>
            </a:r>
            <a:endParaRPr sz="1200">
              <a:solidFill>
                <a:srgbClr val="18803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Questrial"/>
              <a:buChar char="●"/>
            </a:pPr>
            <a:r>
              <a:rPr lang="en" sz="1200"/>
              <a:t>Faster reads, but can become stale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Updatable 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When is a view updatable?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All three conditions must be met: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Based on a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single table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(or another updatable view)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All excluded base table fields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allow NULL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values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SELECT contains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no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DISTINCT, HAVING, aggregates, JOINs or sub-queries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 — updatable: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EF01Officers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OfficerID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FirstName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LastName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Rank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StationCode = </a:t>
            </a:r>
            <a:r>
              <a:rPr lang="en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'EF01'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2B3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Updates to this view pass through directly to OFFICER.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Note: The IncidentOfficerView from Lesson 6 is NOT updatable, it contains a JOIN.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1: Simple View</a:t>
            </a:r>
            <a:endParaRPr/>
          </a:p>
        </p:txBody>
      </p:sp>
      <p:sp>
        <p:nvSpPr>
          <p:cNvPr id="186" name="Google Shape;186;p30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Officers at Eastfield Central (EF01):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EF01Officers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OfficerID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FirstName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LastName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Rank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StationCode = </a:t>
            </a:r>
            <a:r>
              <a:rPr lang="en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'EF01'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2B3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Query it exactly like a table: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*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EF01Officers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2B3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2: Complex View</a:t>
            </a:r>
            <a:endParaRPr/>
          </a:p>
        </p:txBody>
      </p:sp>
      <p:sp>
        <p:nvSpPr>
          <p:cNvPr id="192" name="Google Shape;192;p31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Open incidents with officer names: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OpenIncidentDetails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IncidentID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IncidentType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IncidentDate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Rank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OfficerID =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OfficerID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Status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en" sz="11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'Open'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2B3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Teacher note: Ask — if Sandra Okafor's rank is updated in OFFICER, what happens when we query this view? Answer: it reflects immediately because a regular view reruns the SELECT each time.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Worked Example 3: Materialised View</a:t>
            </a:r>
            <a:endParaRPr/>
          </a:p>
        </p:txBody>
      </p:sp>
      <p:sp>
        <p:nvSpPr>
          <p:cNvPr id="198" name="Google Shape;198;p32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Monthly incident count snapshot: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MATERIALIZED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OfficerIncidentSummary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OfficerID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lang="en" sz="1100">
                <a:solidFill>
                  <a:srgbClr val="0051C2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IncidentCount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INCIDENT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OfficerID =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OfficerID</a:t>
            </a:r>
            <a:endParaRPr sz="1100">
              <a:solidFill>
                <a:srgbClr val="1418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OfficerID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2B3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Refresh at end of month: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sql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REFRESH MATERIALIZED </a:t>
            </a:r>
            <a:r>
              <a:rPr lang="en" sz="1100">
                <a:solidFill>
                  <a:srgbClr val="8100C2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r>
              <a:rPr lang="en" sz="1100">
                <a:solidFill>
                  <a:srgbClr val="14181F"/>
                </a:solidFill>
                <a:latin typeface="Arial"/>
                <a:ea typeface="Arial"/>
                <a:cs typeface="Arial"/>
                <a:sym typeface="Arial"/>
              </a:rPr>
              <a:t> OfficerIncidentSummary</a:t>
            </a:r>
            <a:r>
              <a:rPr lang="en" sz="1100">
                <a:solidFill>
                  <a:srgbClr val="2B303B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>
              <a:solidFill>
                <a:srgbClr val="2B30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Teacher note: Link to A3.4 data warehouses — materialised views are a similar concept to the snapshot/non-volatile characteristic of data warehouses.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vs Materialised</a:t>
            </a:r>
            <a:endParaRPr/>
          </a:p>
        </p:txBody>
      </p:sp>
      <p:graphicFrame>
        <p:nvGraphicFramePr>
          <p:cNvPr id="204" name="Google Shape;204;p33"/>
          <p:cNvGraphicFramePr/>
          <p:nvPr/>
        </p:nvGraphicFramePr>
        <p:xfrm>
          <a:off x="160625" y="96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{5C87DC5B-7B9B-4080-99EC-D74DFB4A91D0}</a:tableStyleId>
              </a:tblPr>
              <a:tblGrid>
                <a:gridCol w="1749400"/>
                <a:gridCol w="3225450"/>
                <a:gridCol w="39361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Regular View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Materialised View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Query definition only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Query result (pre-computed data)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Data freshness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Always live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Snapshot, must be refreshed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Query speed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Slower, reruns each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Faster, reads stored results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extra storage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Requires additional storage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 go stale?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Best used for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Live operational queries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Reporting, analytics, dashboards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Instructions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Task 3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Annotate a 9-line view line by line; classify it; determine if updatable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Task 4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Classify five view definitions as Simple / Complex / Materialised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Task 5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Write five views: simple, complex, materialised, query a view, security view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AutoNum type="arabicPeriod"/>
            </a:pPr>
            <a:r>
              <a:rPr b="1" lang="en" sz="1900">
                <a:latin typeface="Arial"/>
                <a:ea typeface="Arial"/>
                <a:cs typeface="Arial"/>
                <a:sym typeface="Arial"/>
              </a:rPr>
              <a:t>Task 6</a:t>
            </a:r>
            <a:r>
              <a:rPr lang="en" sz="1900">
                <a:latin typeface="Arial"/>
                <a:ea typeface="Arial"/>
                <a:cs typeface="Arial"/>
                <a:sym typeface="Arial"/>
              </a:rPr>
              <a:t>: Complete the Regular vs Materialised comparison table</a:t>
            </a:r>
            <a:endParaRPr sz="3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Tasks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Debug: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fix three errors in a broken CREATE VIEW statement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Command Dashboard: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design three views for Chief Supt. Harris — live open incidents, monthly snapshot, civilian-restricted access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i="1" lang="en" sz="2000">
                <a:latin typeface="Arial"/>
                <a:ea typeface="Arial"/>
                <a:cs typeface="Arial"/>
                <a:sym typeface="Arial"/>
              </a:rPr>
              <a:t>Extension: explain your design decisions and justify which views are updatabl</a:t>
            </a:r>
            <a:endParaRPr i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 Tip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When describing a view type, cover three things: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What it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stores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How it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gets its data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When it is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most useful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Example Q: Describe a materialised view. [2]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 materialised view physically stores the pre-computed result of a SELECT query. Unlike a regular view, it does not rerun the query each time it is accessed — instead, it must be manually refreshed to reflect changes to the underlying data. It is most useful for read-heavy reporting where query speed is more important than having the most recent data.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82800" y="74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Plenary</a:t>
            </a:r>
            <a:endParaRPr/>
          </a:p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>
            <a:off x="183775" y="7762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Before you leave: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What is the difference between a regular view and a materialised view?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Write the SQL to create a simple view called SergeantList showing OfficerID, FirstName and LastName for all Sergeants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Give one reason why views improve security — use the police station as your example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