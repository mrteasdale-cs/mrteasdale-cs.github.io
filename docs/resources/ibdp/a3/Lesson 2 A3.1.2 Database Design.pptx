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5143500" cx="9144000"/>
  <p:notesSz cx="6797675" cy="9929800"/>
  <p:embeddedFontLst>
    <p:embeddedFont>
      <p:font typeface="Playfair Display"/>
      <p:regular r:id="rId32"/>
      <p:bold r:id="rId33"/>
      <p:italic r:id="rId34"/>
      <p:boldItalic r:id="rId35"/>
    </p:embeddedFont>
    <p:embeddedFont>
      <p:font typeface="Montserrat"/>
      <p:regular r:id="rId36"/>
      <p:bold r:id="rId37"/>
      <p:italic r:id="rId38"/>
      <p:boldItalic r:id="rId39"/>
    </p:embeddedFont>
    <p:embeddedFont>
      <p:font typeface="Oswald"/>
      <p:regular r:id="rId40"/>
      <p:bold r:id="rId41"/>
    </p:embeddedFont>
    <p:embeddedFont>
      <p:font typeface="Questrial"/>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swald-regular.fntdata"/><Relationship Id="rId20" Type="http://schemas.openxmlformats.org/officeDocument/2006/relationships/slide" Target="slides/slide16.xml"/><Relationship Id="rId42" Type="http://schemas.openxmlformats.org/officeDocument/2006/relationships/font" Target="fonts/Questrial-regular.fntdata"/><Relationship Id="rId41" Type="http://schemas.openxmlformats.org/officeDocument/2006/relationships/font" Target="fonts/Oswald-bold.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PlayfairDisplay-bold.fntdata"/><Relationship Id="rId10" Type="http://schemas.openxmlformats.org/officeDocument/2006/relationships/slide" Target="slides/slide6.xml"/><Relationship Id="rId32" Type="http://schemas.openxmlformats.org/officeDocument/2006/relationships/font" Target="fonts/PlayfairDisplay-regular.fntdata"/><Relationship Id="rId13" Type="http://schemas.openxmlformats.org/officeDocument/2006/relationships/slide" Target="slides/slide9.xml"/><Relationship Id="rId35" Type="http://schemas.openxmlformats.org/officeDocument/2006/relationships/font" Target="fonts/PlayfairDisplay-boldItalic.fntdata"/><Relationship Id="rId12" Type="http://schemas.openxmlformats.org/officeDocument/2006/relationships/slide" Target="slides/slide8.xml"/><Relationship Id="rId34" Type="http://schemas.openxmlformats.org/officeDocument/2006/relationships/font" Target="fonts/PlayfairDisplay-italic.fntdata"/><Relationship Id="rId15" Type="http://schemas.openxmlformats.org/officeDocument/2006/relationships/slide" Target="slides/slide11.xml"/><Relationship Id="rId37" Type="http://schemas.openxmlformats.org/officeDocument/2006/relationships/font" Target="fonts/Montserrat-bold.fntdata"/><Relationship Id="rId14" Type="http://schemas.openxmlformats.org/officeDocument/2006/relationships/slide" Target="slides/slide10.xml"/><Relationship Id="rId36" Type="http://schemas.openxmlformats.org/officeDocument/2006/relationships/font" Target="fonts/Montserrat-regular.fntdata"/><Relationship Id="rId17" Type="http://schemas.openxmlformats.org/officeDocument/2006/relationships/slide" Target="slides/slide13.xml"/><Relationship Id="rId39" Type="http://schemas.openxmlformats.org/officeDocument/2006/relationships/font" Target="fonts/Montserrat-boldItalic.fntdata"/><Relationship Id="rId16" Type="http://schemas.openxmlformats.org/officeDocument/2006/relationships/slide" Target="slides/slide12.xml"/><Relationship Id="rId38" Type="http://schemas.openxmlformats.org/officeDocument/2006/relationships/font" Target="fonts/Montserrat-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79768" y="4716661"/>
            <a:ext cx="5438140" cy="4468416"/>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g3c535ad6ed2_0_10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41" name="Google Shape;41;g3c535ad6ed2_0_10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1075700df_1_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1075700df_1_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535ad6ed2_0_16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535ad6ed2_0_16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5313b79cf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5313b79cf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5313b79cf_2_7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c5313b79cf_2_73:notes"/>
          <p:cNvSpPr txBox="1"/>
          <p:nvPr>
            <p:ph idx="1" type="body"/>
          </p:nvPr>
        </p:nvSpPr>
        <p:spPr>
          <a:xfrm>
            <a:off x="679768" y="4716661"/>
            <a:ext cx="5438100" cy="4468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d0c5ae07be_0_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d0c5ae07be_0_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d1418cae01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d1418cae01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1418cae01_0_1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d1418cae01_0_1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1418cae01_0_15: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1418cae01_0_15: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535ad6ed2_0_10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535ad6ed2_0_10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1075700df_1_29: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d1075700df_1_29: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1075700df_1_3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d1075700df_1_3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d1075700df_1_46: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d1075700df_1_46: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d1075700df_1_5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d1075700df_1_5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1075700df_1_4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d1075700df_1_4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294960f93_0_0: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294960f93_0_0: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d294960f93_0_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d294960f93_0_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d1418cae01_0_31: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d1418cae01_0_31: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d1418cae01_0_4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d1418cae01_0_4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d7e50f295e_0_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d7e50f295e_0_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d7e50f295e_0_1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d7e50f295e_0_1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d7e50f295e_0_1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d7e50f295e_0_1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d7e50f295e_0_23: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d7e50f295e_0_23: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d7e50f295e_0_2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d7e50f295e_0_2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1418cae01_0_24: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1418cae01_0_24: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7e50f295e_0_2: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7e50f295e_0_2: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c535ad6ed2_0_138:notes"/>
          <p:cNvSpPr/>
          <p:nvPr>
            <p:ph idx="2" type="sldImg"/>
          </p:nvPr>
        </p:nvSpPr>
        <p:spPr>
          <a:xfrm>
            <a:off x="88900" y="744538"/>
            <a:ext cx="6619800" cy="37242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c535ad6ed2_0_138:notes"/>
          <p:cNvSpPr txBox="1"/>
          <p:nvPr>
            <p:ph idx="1" type="body"/>
          </p:nvPr>
        </p:nvSpPr>
        <p:spPr>
          <a:xfrm>
            <a:off x="679768" y="4716661"/>
            <a:ext cx="5438100" cy="446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4358475" y="0"/>
            <a:ext cx="3853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ctr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6800"/>
              <a:buFont typeface="Questrial"/>
              <a:buNone/>
              <a:defRPr b="1" sz="6800">
                <a:latin typeface="Questrial"/>
                <a:ea typeface="Questrial"/>
                <a:cs typeface="Questrial"/>
                <a:sym typeface="Questrial"/>
              </a:defRPr>
            </a:lvl1pPr>
            <a:lvl2pPr lvl="1"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lnSpc>
                <a:spcPct val="100000"/>
              </a:lnSpc>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gn="l">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 name="Shape 15"/>
        <p:cNvGrpSpPr/>
        <p:nvPr/>
      </p:nvGrpSpPr>
      <p:grpSpPr>
        <a:xfrm>
          <a:off x="0" y="0"/>
          <a:ext cx="0" cy="0"/>
          <a:chOff x="0" y="0"/>
          <a:chExt cx="0" cy="0"/>
        </a:xfrm>
      </p:grpSpPr>
      <p:sp>
        <p:nvSpPr>
          <p:cNvPr id="16" name="Google Shape;16;p3"/>
          <p:cNvSpPr/>
          <p:nvPr/>
        </p:nvSpPr>
        <p:spPr>
          <a:xfrm>
            <a:off x="4216950" y="-75"/>
            <a:ext cx="49272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7" name="Google Shape;17;p3"/>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18" name="Google Shape;18;p3"/>
          <p:cNvSpPr txBox="1"/>
          <p:nvPr>
            <p:ph type="title"/>
          </p:nvPr>
        </p:nvSpPr>
        <p:spPr>
          <a:xfrm>
            <a:off x="265500" y="802791"/>
            <a:ext cx="3748500" cy="178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9" name="Google Shape;19;p3"/>
          <p:cNvSpPr txBox="1"/>
          <p:nvPr>
            <p:ph idx="1" type="subTitle"/>
          </p:nvPr>
        </p:nvSpPr>
        <p:spPr>
          <a:xfrm>
            <a:off x="265500" y="2717925"/>
            <a:ext cx="3807900" cy="1548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 name="Google Shape;20;p3"/>
          <p:cNvSpPr txBox="1"/>
          <p:nvPr>
            <p:ph idx="2" type="body"/>
          </p:nvPr>
        </p:nvSpPr>
        <p:spPr>
          <a:xfrm>
            <a:off x="4310700" y="724200"/>
            <a:ext cx="46221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highlight>
                  <a:schemeClr val="lt1"/>
                </a:highlight>
              </a:defRPr>
            </a:lvl1pPr>
            <a:lvl2pPr indent="-317500" lvl="1" marL="914400" algn="l">
              <a:lnSpc>
                <a:spcPct val="115000"/>
              </a:lnSpc>
              <a:spcBef>
                <a:spcPts val="1600"/>
              </a:spcBef>
              <a:spcAft>
                <a:spcPts val="0"/>
              </a:spcAft>
              <a:buSzPts val="1400"/>
              <a:buChar char="○"/>
              <a:defRPr>
                <a:highlight>
                  <a:schemeClr val="lt1"/>
                </a:highlight>
              </a:defRPr>
            </a:lvl2pPr>
            <a:lvl3pPr indent="-317500" lvl="2" marL="1371600" algn="l">
              <a:lnSpc>
                <a:spcPct val="115000"/>
              </a:lnSpc>
              <a:spcBef>
                <a:spcPts val="1600"/>
              </a:spcBef>
              <a:spcAft>
                <a:spcPts val="0"/>
              </a:spcAft>
              <a:buSzPts val="1400"/>
              <a:buChar char="■"/>
              <a:defRPr>
                <a:highlight>
                  <a:schemeClr val="lt1"/>
                </a:highlight>
              </a:defRPr>
            </a:lvl3pPr>
            <a:lvl4pPr indent="-317500" lvl="3" marL="1828800" algn="l">
              <a:lnSpc>
                <a:spcPct val="115000"/>
              </a:lnSpc>
              <a:spcBef>
                <a:spcPts val="1600"/>
              </a:spcBef>
              <a:spcAft>
                <a:spcPts val="0"/>
              </a:spcAft>
              <a:buSzPts val="1400"/>
              <a:buChar char="●"/>
              <a:defRPr>
                <a:highlight>
                  <a:schemeClr val="lt1"/>
                </a:highlight>
              </a:defRPr>
            </a:lvl4pPr>
            <a:lvl5pPr indent="-317500" lvl="4" marL="2286000" algn="l">
              <a:lnSpc>
                <a:spcPct val="115000"/>
              </a:lnSpc>
              <a:spcBef>
                <a:spcPts val="1600"/>
              </a:spcBef>
              <a:spcAft>
                <a:spcPts val="0"/>
              </a:spcAft>
              <a:buSzPts val="1400"/>
              <a:buChar char="○"/>
              <a:defRPr>
                <a:highlight>
                  <a:schemeClr val="lt1"/>
                </a:highlight>
              </a:defRPr>
            </a:lvl5pPr>
            <a:lvl6pPr indent="-317500" lvl="5" marL="2743200" algn="l">
              <a:lnSpc>
                <a:spcPct val="115000"/>
              </a:lnSpc>
              <a:spcBef>
                <a:spcPts val="1600"/>
              </a:spcBef>
              <a:spcAft>
                <a:spcPts val="0"/>
              </a:spcAft>
              <a:buSzPts val="1400"/>
              <a:buChar char="■"/>
              <a:defRPr>
                <a:highlight>
                  <a:schemeClr val="lt1"/>
                </a:highlight>
              </a:defRPr>
            </a:lvl6pPr>
            <a:lvl7pPr indent="-317500" lvl="6" marL="3200400" algn="l">
              <a:lnSpc>
                <a:spcPct val="115000"/>
              </a:lnSpc>
              <a:spcBef>
                <a:spcPts val="1600"/>
              </a:spcBef>
              <a:spcAft>
                <a:spcPts val="0"/>
              </a:spcAft>
              <a:buSzPts val="1400"/>
              <a:buChar char="●"/>
              <a:defRPr>
                <a:highlight>
                  <a:schemeClr val="lt1"/>
                </a:highlight>
              </a:defRPr>
            </a:lvl7pPr>
            <a:lvl8pPr indent="-317500" lvl="7" marL="3657600" algn="l">
              <a:lnSpc>
                <a:spcPct val="115000"/>
              </a:lnSpc>
              <a:spcBef>
                <a:spcPts val="1600"/>
              </a:spcBef>
              <a:spcAft>
                <a:spcPts val="0"/>
              </a:spcAft>
              <a:buSzPts val="1400"/>
              <a:buChar char="○"/>
              <a:defRPr>
                <a:highlight>
                  <a:schemeClr val="lt1"/>
                </a:highlight>
              </a:defRPr>
            </a:lvl8pPr>
            <a:lvl9pPr indent="-317500" lvl="8" marL="4114800" algn="l">
              <a:lnSpc>
                <a:spcPct val="115000"/>
              </a:lnSpc>
              <a:spcBef>
                <a:spcPts val="1600"/>
              </a:spcBef>
              <a:spcAft>
                <a:spcPts val="1600"/>
              </a:spcAft>
              <a:buSzPts val="1400"/>
              <a:buChar char="■"/>
              <a:defRPr>
                <a:highlight>
                  <a:schemeClr val="lt1"/>
                </a:highlight>
              </a:defRPr>
            </a:lvl9pPr>
          </a:lstStyle>
          <a:p/>
        </p:txBody>
      </p:sp>
      <p:sp>
        <p:nvSpPr>
          <p:cNvPr id="21" name="Google Shape;21;p3"/>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82800" y="74750"/>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24" name="Google Shape;24;p4"/>
          <p:cNvSpPr txBox="1"/>
          <p:nvPr>
            <p:ph idx="1" type="body"/>
          </p:nvPr>
        </p:nvSpPr>
        <p:spPr>
          <a:xfrm>
            <a:off x="183775" y="776275"/>
            <a:ext cx="8520600" cy="3334800"/>
          </a:xfrm>
          <a:prstGeom prst="rect">
            <a:avLst/>
          </a:prstGeom>
          <a:noFill/>
          <a:ln>
            <a:noFill/>
          </a:ln>
        </p:spPr>
        <p:txBody>
          <a:bodyPr anchorCtr="0" anchor="t" bIns="91425" lIns="91425" spcFirstLastPara="1" rIns="91425" wrap="square" tIns="91425">
            <a:noAutofit/>
          </a:bodyPr>
          <a:lstStyle>
            <a:lvl1pPr indent="-374650" lvl="0" marL="457200" algn="l">
              <a:lnSpc>
                <a:spcPct val="115000"/>
              </a:lnSpc>
              <a:spcBef>
                <a:spcPts val="0"/>
              </a:spcBef>
              <a:spcAft>
                <a:spcPts val="0"/>
              </a:spcAft>
              <a:buSzPts val="2300"/>
              <a:buChar char="●"/>
              <a:defRPr sz="2300"/>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4"/>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04800" y="4419600"/>
            <a:ext cx="8520600" cy="692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1600"/>
              </a:spcBef>
              <a:spcAft>
                <a:spcPts val="0"/>
              </a:spcAft>
              <a:buClr>
                <a:schemeClr val="lt1"/>
              </a:buClr>
              <a:buSzPts val="1000"/>
              <a:buFont typeface="Questrial"/>
              <a:buChar char="●"/>
            </a:pPr>
            <a:r>
              <a:rPr lang="en" sz="1000">
                <a:solidFill>
                  <a:schemeClr val="lt1"/>
                </a:solidFill>
                <a:highlight>
                  <a:schemeClr val="dk2"/>
                </a:highlight>
                <a:latin typeface="Questrial"/>
                <a:ea typeface="Questrial"/>
                <a:cs typeface="Questrial"/>
                <a:sym typeface="Questrial"/>
              </a:rPr>
              <a:t>Describe different database schemas</a:t>
            </a:r>
            <a:endParaRPr sz="1000">
              <a:solidFill>
                <a:schemeClr val="lt1"/>
              </a:solidFill>
              <a:highlight>
                <a:schemeClr val="dk2"/>
              </a:highlight>
              <a:latin typeface="Questrial"/>
              <a:ea typeface="Questrial"/>
              <a:cs typeface="Questrial"/>
              <a:sym typeface="Questrial"/>
            </a:endParaRPr>
          </a:p>
          <a:p>
            <a:pPr indent="-292100" lvl="0" marL="457200" rtl="0" algn="l">
              <a:lnSpc>
                <a:spcPct val="115000"/>
              </a:lnSpc>
              <a:spcBef>
                <a:spcPts val="0"/>
              </a:spcBef>
              <a:spcAft>
                <a:spcPts val="0"/>
              </a:spcAft>
              <a:buClr>
                <a:schemeClr val="lt1"/>
              </a:buClr>
              <a:buSzPts val="1000"/>
              <a:buFont typeface="Questrial"/>
              <a:buChar char="●"/>
            </a:pPr>
            <a:r>
              <a:rPr lang="en" sz="1000">
                <a:solidFill>
                  <a:schemeClr val="lt1"/>
                </a:solidFill>
                <a:highlight>
                  <a:schemeClr val="dk2"/>
                </a:highlight>
                <a:latin typeface="Questrial"/>
                <a:ea typeface="Questrial"/>
                <a:cs typeface="Questrial"/>
                <a:sym typeface="Questrial"/>
              </a:rPr>
              <a:t>Identify several data types used in database</a:t>
            </a:r>
            <a:endParaRPr sz="1000">
              <a:solidFill>
                <a:schemeClr val="lt1"/>
              </a:solidFill>
              <a:highlight>
                <a:schemeClr val="dk2"/>
              </a:highlight>
              <a:latin typeface="Questrial"/>
              <a:ea typeface="Questrial"/>
              <a:cs typeface="Questrial"/>
              <a:sym typeface="Questrial"/>
            </a:endParaRPr>
          </a:p>
          <a:p>
            <a:pPr indent="-292100" lvl="0" marL="457200" rtl="0" algn="l">
              <a:lnSpc>
                <a:spcPct val="115000"/>
              </a:lnSpc>
              <a:spcBef>
                <a:spcPts val="0"/>
              </a:spcBef>
              <a:spcAft>
                <a:spcPts val="0"/>
              </a:spcAft>
              <a:buClr>
                <a:schemeClr val="lt1"/>
              </a:buClr>
              <a:buSzPts val="1000"/>
              <a:buFont typeface="Questrial"/>
              <a:buChar char="●"/>
            </a:pPr>
            <a:r>
              <a:rPr lang="en" sz="1000">
                <a:solidFill>
                  <a:schemeClr val="lt1"/>
                </a:solidFill>
                <a:highlight>
                  <a:schemeClr val="dk2"/>
                </a:highlight>
                <a:latin typeface="Questrial"/>
                <a:ea typeface="Questrial"/>
                <a:cs typeface="Questrial"/>
                <a:sym typeface="Questrial"/>
              </a:rPr>
              <a:t>Evaluate the benefits and drawbacks of different database schemas</a:t>
            </a:r>
            <a:endParaRPr sz="1000">
              <a:solidFill>
                <a:schemeClr val="lt1"/>
              </a:solidFill>
              <a:highlight>
                <a:schemeClr val="dk2"/>
              </a:highlight>
              <a:latin typeface="Questrial"/>
              <a:ea typeface="Questrial"/>
              <a:cs typeface="Questrial"/>
              <a:sym typeface="Quest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5"/>
        </a:solidFill>
      </p:bgPr>
    </p:bg>
    <p:spTree>
      <p:nvGrpSpPr>
        <p:cNvPr id="27" name="Shape 27"/>
        <p:cNvGrpSpPr/>
        <p:nvPr/>
      </p:nvGrpSpPr>
      <p:grpSpPr>
        <a:xfrm>
          <a:off x="0" y="0"/>
          <a:ext cx="0" cy="0"/>
          <a:chOff x="0" y="0"/>
          <a:chExt cx="0" cy="0"/>
        </a:xfrm>
      </p:grpSpPr>
      <p:sp>
        <p:nvSpPr>
          <p:cNvPr id="28" name="Google Shape;28;p5"/>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5"/>
          <p:cNvSpPr txBox="1"/>
          <p:nvPr>
            <p:ph type="title"/>
          </p:nvPr>
        </p:nvSpPr>
        <p:spPr>
          <a:xfrm>
            <a:off x="344250" y="1403850"/>
            <a:ext cx="8455500" cy="2146800"/>
          </a:xfrm>
          <a:prstGeom prst="rect">
            <a:avLst/>
          </a:prstGeom>
          <a:solidFill>
            <a:srgbClr val="FFFFFF"/>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Font typeface="Questrial"/>
              <a:buNone/>
              <a:defRPr b="1" sz="4800">
                <a:latin typeface="Questrial"/>
                <a:ea typeface="Questrial"/>
                <a:cs typeface="Questrial"/>
                <a:sym typeface="Questrial"/>
              </a:defRPr>
            </a:lvl1pPr>
            <a:lvl2pPr lvl="1"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lnSpc>
                <a:spcPct val="100000"/>
              </a:lnSpc>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30" name="Google Shape;30;p5"/>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6"/>
          <p:cNvSpPr txBox="1"/>
          <p:nvPr>
            <p:ph idx="1" type="body"/>
          </p:nvPr>
        </p:nvSpPr>
        <p:spPr>
          <a:xfrm>
            <a:off x="3117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4" name="Google Shape;34;p6"/>
          <p:cNvSpPr txBox="1"/>
          <p:nvPr>
            <p:ph idx="2" type="body"/>
          </p:nvPr>
        </p:nvSpPr>
        <p:spPr>
          <a:xfrm>
            <a:off x="4832400" y="1234050"/>
            <a:ext cx="3999900" cy="3334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6"/>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8" name="Google Shape;38;p7"/>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Questrial"/>
              <a:buChar char="●"/>
              <a:defRPr b="0" i="0" sz="1800" u="none" cap="none" strike="noStrike">
                <a:solidFill>
                  <a:schemeClr val="dk2"/>
                </a:solidFill>
                <a:latin typeface="Questrial"/>
                <a:ea typeface="Questrial"/>
                <a:cs typeface="Questrial"/>
                <a:sym typeface="Questrial"/>
              </a:defRPr>
            </a:lvl1pPr>
            <a:lvl2pPr indent="-317500" lvl="1" marL="914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2pPr>
            <a:lvl3pPr indent="-317500" lvl="2" marL="1371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3pPr>
            <a:lvl4pPr indent="-317500" lvl="3" marL="18288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4pPr>
            <a:lvl5pPr indent="-317500" lvl="4" marL="22860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5pPr>
            <a:lvl6pPr indent="-317500" lvl="5" marL="27432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6pPr>
            <a:lvl7pPr indent="-317500" lvl="6" marL="32004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7pPr>
            <a:lvl8pPr indent="-317500" lvl="7" marL="3657600" marR="0" rtl="0" algn="l">
              <a:lnSpc>
                <a:spcPct val="115000"/>
              </a:lnSpc>
              <a:spcBef>
                <a:spcPts val="1600"/>
              </a:spcBef>
              <a:spcAft>
                <a:spcPts val="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8pPr>
            <a:lvl9pPr indent="-317500" lvl="8" marL="4114800" marR="0" rtl="0" algn="l">
              <a:lnSpc>
                <a:spcPct val="115000"/>
              </a:lnSpc>
              <a:spcBef>
                <a:spcPts val="1600"/>
              </a:spcBef>
              <a:spcAft>
                <a:spcPts val="1600"/>
              </a:spcAft>
              <a:buClr>
                <a:schemeClr val="dk2"/>
              </a:buClr>
              <a:buSzPts val="1400"/>
              <a:buFont typeface="Questrial"/>
              <a:buChar char="■"/>
              <a:defRPr b="0" i="0" sz="1400" u="none" cap="none" strike="noStrike">
                <a:solidFill>
                  <a:schemeClr val="dk2"/>
                </a:solidFill>
                <a:latin typeface="Questrial"/>
                <a:ea typeface="Questrial"/>
                <a:cs typeface="Questrial"/>
                <a:sym typeface="Questrial"/>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Now - Matching</a:t>
            </a:r>
            <a:endParaRPr/>
          </a:p>
        </p:txBody>
      </p:sp>
      <p:sp>
        <p:nvSpPr>
          <p:cNvPr id="44" name="Google Shape;44;p8"/>
          <p:cNvSpPr/>
          <p:nvPr/>
        </p:nvSpPr>
        <p:spPr>
          <a:xfrm>
            <a:off x="136975" y="736806"/>
            <a:ext cx="2540100" cy="444600"/>
          </a:xfrm>
          <a:prstGeom prst="rect">
            <a:avLst/>
          </a:prstGeom>
          <a:solidFill>
            <a:srgbClr val="1A1A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Questrial"/>
                <a:ea typeface="Questrial"/>
                <a:cs typeface="Questrial"/>
                <a:sym typeface="Questrial"/>
              </a:rPr>
              <a:t>TERMS</a:t>
            </a:r>
            <a:endParaRPr b="1" sz="1300">
              <a:solidFill>
                <a:srgbClr val="FFFFFF"/>
              </a:solidFill>
              <a:latin typeface="Questrial"/>
              <a:ea typeface="Questrial"/>
              <a:cs typeface="Questrial"/>
              <a:sym typeface="Questrial"/>
            </a:endParaRPr>
          </a:p>
        </p:txBody>
      </p:sp>
      <p:sp>
        <p:nvSpPr>
          <p:cNvPr id="45" name="Google Shape;45;p8"/>
          <p:cNvSpPr/>
          <p:nvPr/>
        </p:nvSpPr>
        <p:spPr>
          <a:xfrm>
            <a:off x="136975" y="1214356"/>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A.  Database Schema</a:t>
            </a:r>
            <a:endParaRPr b="1" sz="1200">
              <a:solidFill>
                <a:srgbClr val="1A1A1A"/>
              </a:solidFill>
              <a:latin typeface="Questrial"/>
              <a:ea typeface="Questrial"/>
              <a:cs typeface="Questrial"/>
              <a:sym typeface="Questrial"/>
            </a:endParaRPr>
          </a:p>
        </p:txBody>
      </p:sp>
      <p:sp>
        <p:nvSpPr>
          <p:cNvPr id="46" name="Google Shape;46;p8"/>
          <p:cNvSpPr/>
          <p:nvPr/>
        </p:nvSpPr>
        <p:spPr>
          <a:xfrm>
            <a:off x="2837050" y="1217500"/>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CCCCCC"/>
                </a:solidFill>
                <a:latin typeface="Questrial"/>
                <a:ea typeface="Questrial"/>
                <a:cs typeface="Questrial"/>
                <a:sym typeface="Questrial"/>
              </a:rPr>
              <a:t>?</a:t>
            </a:r>
            <a:endParaRPr b="1" sz="1600">
              <a:solidFill>
                <a:srgbClr val="CCCCCC"/>
              </a:solidFill>
              <a:latin typeface="Questrial"/>
              <a:ea typeface="Questrial"/>
              <a:cs typeface="Questrial"/>
              <a:sym typeface="Questrial"/>
            </a:endParaRPr>
          </a:p>
        </p:txBody>
      </p:sp>
      <p:sp>
        <p:nvSpPr>
          <p:cNvPr id="47" name="Google Shape;47;p8"/>
          <p:cNvSpPr/>
          <p:nvPr/>
        </p:nvSpPr>
        <p:spPr>
          <a:xfrm>
            <a:off x="2837050" y="1884200"/>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CCCCCC"/>
                </a:solidFill>
                <a:latin typeface="Questrial"/>
                <a:ea typeface="Questrial"/>
                <a:cs typeface="Questrial"/>
                <a:sym typeface="Questrial"/>
              </a:rPr>
              <a:t>?</a:t>
            </a:r>
            <a:endParaRPr b="1" sz="1600">
              <a:solidFill>
                <a:srgbClr val="CCCCCC"/>
              </a:solidFill>
              <a:latin typeface="Questrial"/>
              <a:ea typeface="Questrial"/>
              <a:cs typeface="Questrial"/>
              <a:sym typeface="Questrial"/>
            </a:endParaRPr>
          </a:p>
        </p:txBody>
      </p:sp>
      <p:sp>
        <p:nvSpPr>
          <p:cNvPr id="48" name="Google Shape;48;p8"/>
          <p:cNvSpPr/>
          <p:nvPr/>
        </p:nvSpPr>
        <p:spPr>
          <a:xfrm>
            <a:off x="2781925" y="2623788"/>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CCCCCC"/>
                </a:solidFill>
                <a:latin typeface="Questrial"/>
                <a:ea typeface="Questrial"/>
                <a:cs typeface="Questrial"/>
                <a:sym typeface="Questrial"/>
              </a:rPr>
              <a:t>?</a:t>
            </a:r>
            <a:endParaRPr b="1" sz="1600">
              <a:solidFill>
                <a:srgbClr val="CCCCCC"/>
              </a:solidFill>
              <a:latin typeface="Questrial"/>
              <a:ea typeface="Questrial"/>
              <a:cs typeface="Questrial"/>
              <a:sym typeface="Questrial"/>
            </a:endParaRPr>
          </a:p>
        </p:txBody>
      </p:sp>
      <p:sp>
        <p:nvSpPr>
          <p:cNvPr id="49" name="Google Shape;49;p8"/>
          <p:cNvSpPr/>
          <p:nvPr/>
        </p:nvSpPr>
        <p:spPr>
          <a:xfrm>
            <a:off x="2781925" y="3306600"/>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CCCCCC"/>
                </a:solidFill>
                <a:latin typeface="Questrial"/>
                <a:ea typeface="Questrial"/>
                <a:cs typeface="Questrial"/>
                <a:sym typeface="Questrial"/>
              </a:rPr>
              <a:t>?</a:t>
            </a:r>
            <a:endParaRPr b="1" sz="1600">
              <a:solidFill>
                <a:srgbClr val="CCCCCC"/>
              </a:solidFill>
              <a:latin typeface="Questrial"/>
              <a:ea typeface="Questrial"/>
              <a:cs typeface="Questrial"/>
              <a:sym typeface="Questrial"/>
            </a:endParaRPr>
          </a:p>
        </p:txBody>
      </p:sp>
      <p:sp>
        <p:nvSpPr>
          <p:cNvPr id="50" name="Google Shape;50;p8"/>
          <p:cNvSpPr txBox="1"/>
          <p:nvPr/>
        </p:nvSpPr>
        <p:spPr>
          <a:xfrm>
            <a:off x="3238500" y="138800"/>
            <a:ext cx="1104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222222"/>
                </a:solidFill>
                <a:latin typeface="Questrial"/>
                <a:ea typeface="Questrial"/>
                <a:cs typeface="Questrial"/>
                <a:sym typeface="Questrial"/>
              </a:rPr>
              <a:t>Match each term (A-D) with the correct definition (1-4):</a:t>
            </a:r>
            <a:endParaRPr b="1">
              <a:solidFill>
                <a:srgbClr val="222222"/>
              </a:solidFill>
              <a:latin typeface="Questrial"/>
              <a:ea typeface="Questrial"/>
              <a:cs typeface="Questrial"/>
              <a:sym typeface="Questrial"/>
            </a:endParaRPr>
          </a:p>
        </p:txBody>
      </p:sp>
      <p:sp>
        <p:nvSpPr>
          <p:cNvPr id="51" name="Google Shape;51;p8"/>
          <p:cNvSpPr txBox="1"/>
          <p:nvPr/>
        </p:nvSpPr>
        <p:spPr>
          <a:xfrm>
            <a:off x="2905575" y="5171625"/>
            <a:ext cx="1524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999999"/>
                </a:solidFill>
                <a:latin typeface="Questrial"/>
                <a:ea typeface="Questrial"/>
                <a:cs typeface="Questrial"/>
                <a:sym typeface="Questrial"/>
              </a:rPr>
              <a:t>Write number here</a:t>
            </a:r>
            <a:endParaRPr sz="800">
              <a:solidFill>
                <a:srgbClr val="999999"/>
              </a:solidFill>
              <a:latin typeface="Questrial"/>
              <a:ea typeface="Questrial"/>
              <a:cs typeface="Questrial"/>
              <a:sym typeface="Questrial"/>
            </a:endParaRPr>
          </a:p>
        </p:txBody>
      </p:sp>
      <p:sp>
        <p:nvSpPr>
          <p:cNvPr id="52" name="Google Shape;52;p8"/>
          <p:cNvSpPr/>
          <p:nvPr/>
        </p:nvSpPr>
        <p:spPr>
          <a:xfrm>
            <a:off x="3815750" y="921000"/>
            <a:ext cx="5197500" cy="6375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1.  A detailed design of table structure (fields &amp; data types), relationships and constraints.</a:t>
            </a:r>
            <a:endParaRPr sz="1100">
              <a:solidFill>
                <a:srgbClr val="1A1A1A"/>
              </a:solidFill>
              <a:latin typeface="Questrial"/>
              <a:ea typeface="Questrial"/>
              <a:cs typeface="Questrial"/>
              <a:sym typeface="Questrial"/>
            </a:endParaRPr>
          </a:p>
        </p:txBody>
      </p:sp>
      <p:sp>
        <p:nvSpPr>
          <p:cNvPr id="53" name="Google Shape;53;p8"/>
          <p:cNvSpPr/>
          <p:nvPr/>
        </p:nvSpPr>
        <p:spPr>
          <a:xfrm>
            <a:off x="3815750" y="1692501"/>
            <a:ext cx="5197500" cy="6375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2.  Represents the implementation of the logical schema in a specific DBMS, showing how data is stored, indexed or accessed.</a:t>
            </a:r>
            <a:endParaRPr sz="1100">
              <a:solidFill>
                <a:srgbClr val="1A1A1A"/>
              </a:solidFill>
              <a:latin typeface="Questrial"/>
              <a:ea typeface="Questrial"/>
              <a:cs typeface="Questrial"/>
              <a:sym typeface="Questrial"/>
            </a:endParaRPr>
          </a:p>
        </p:txBody>
      </p:sp>
      <p:sp>
        <p:nvSpPr>
          <p:cNvPr id="54" name="Google Shape;54;p8"/>
          <p:cNvSpPr/>
          <p:nvPr/>
        </p:nvSpPr>
        <p:spPr>
          <a:xfrm>
            <a:off x="3815750" y="2464001"/>
            <a:ext cx="5197500" cy="6375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3.  An abstract model describing the structure of data without considering physical implementation.</a:t>
            </a:r>
            <a:endParaRPr sz="1100">
              <a:solidFill>
                <a:srgbClr val="1A1A1A"/>
              </a:solidFill>
              <a:latin typeface="Questrial"/>
              <a:ea typeface="Questrial"/>
              <a:cs typeface="Questrial"/>
              <a:sym typeface="Questrial"/>
            </a:endParaRPr>
          </a:p>
        </p:txBody>
      </p:sp>
      <p:sp>
        <p:nvSpPr>
          <p:cNvPr id="55" name="Google Shape;55;p8"/>
          <p:cNvSpPr/>
          <p:nvPr/>
        </p:nvSpPr>
        <p:spPr>
          <a:xfrm>
            <a:off x="3815750" y="4007002"/>
            <a:ext cx="5197500" cy="6375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5</a:t>
            </a:r>
            <a:r>
              <a:rPr lang="en" sz="1100">
                <a:solidFill>
                  <a:srgbClr val="1A1A1A"/>
                </a:solidFill>
                <a:latin typeface="Questrial"/>
                <a:ea typeface="Questrial"/>
                <a:cs typeface="Questrial"/>
                <a:sym typeface="Questrial"/>
              </a:rPr>
              <a:t>.  An architecture showing how data is organised and how relationships between data are managed.</a:t>
            </a:r>
            <a:endParaRPr sz="1100">
              <a:solidFill>
                <a:srgbClr val="1A1A1A"/>
              </a:solidFill>
              <a:latin typeface="Questrial"/>
              <a:ea typeface="Questrial"/>
              <a:cs typeface="Questrial"/>
              <a:sym typeface="Questrial"/>
            </a:endParaRPr>
          </a:p>
        </p:txBody>
      </p:sp>
      <p:sp>
        <p:nvSpPr>
          <p:cNvPr id="56" name="Google Shape;56;p8"/>
          <p:cNvSpPr/>
          <p:nvPr/>
        </p:nvSpPr>
        <p:spPr>
          <a:xfrm>
            <a:off x="136975" y="1881062"/>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B.  Conceptual Schema</a:t>
            </a:r>
            <a:endParaRPr b="1" sz="1200">
              <a:solidFill>
                <a:srgbClr val="1A1A1A"/>
              </a:solidFill>
              <a:latin typeface="Questrial"/>
              <a:ea typeface="Questrial"/>
              <a:cs typeface="Questrial"/>
              <a:sym typeface="Questrial"/>
            </a:endParaRPr>
          </a:p>
        </p:txBody>
      </p:sp>
      <p:sp>
        <p:nvSpPr>
          <p:cNvPr id="57" name="Google Shape;57;p8"/>
          <p:cNvSpPr/>
          <p:nvPr/>
        </p:nvSpPr>
        <p:spPr>
          <a:xfrm>
            <a:off x="136975" y="2592253"/>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C.  Logical Schema</a:t>
            </a:r>
            <a:endParaRPr b="1" sz="1200">
              <a:solidFill>
                <a:srgbClr val="1A1A1A"/>
              </a:solidFill>
              <a:latin typeface="Questrial"/>
              <a:ea typeface="Questrial"/>
              <a:cs typeface="Questrial"/>
              <a:sym typeface="Questrial"/>
            </a:endParaRPr>
          </a:p>
        </p:txBody>
      </p:sp>
      <p:sp>
        <p:nvSpPr>
          <p:cNvPr id="58" name="Google Shape;58;p8"/>
          <p:cNvSpPr/>
          <p:nvPr/>
        </p:nvSpPr>
        <p:spPr>
          <a:xfrm>
            <a:off x="136975" y="3303444"/>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D.  Physical Schema</a:t>
            </a:r>
            <a:endParaRPr b="1" sz="1200">
              <a:solidFill>
                <a:srgbClr val="1A1A1A"/>
              </a:solidFill>
              <a:latin typeface="Questrial"/>
              <a:ea typeface="Questrial"/>
              <a:cs typeface="Questrial"/>
              <a:sym typeface="Questrial"/>
            </a:endParaRPr>
          </a:p>
        </p:txBody>
      </p:sp>
      <p:sp>
        <p:nvSpPr>
          <p:cNvPr id="59" name="Google Shape;59;p8"/>
          <p:cNvSpPr/>
          <p:nvPr/>
        </p:nvSpPr>
        <p:spPr>
          <a:xfrm>
            <a:off x="136975" y="4054119"/>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E</a:t>
            </a:r>
            <a:r>
              <a:rPr b="1" lang="en" sz="1200">
                <a:solidFill>
                  <a:srgbClr val="1A1A1A"/>
                </a:solidFill>
                <a:latin typeface="Questrial"/>
                <a:ea typeface="Questrial"/>
                <a:cs typeface="Questrial"/>
                <a:sym typeface="Questrial"/>
              </a:rPr>
              <a:t>.  Data Integrity</a:t>
            </a:r>
            <a:endParaRPr b="1" sz="1200">
              <a:solidFill>
                <a:srgbClr val="1A1A1A"/>
              </a:solidFill>
              <a:latin typeface="Questrial"/>
              <a:ea typeface="Questrial"/>
              <a:cs typeface="Questrial"/>
              <a:sym typeface="Questrial"/>
            </a:endParaRPr>
          </a:p>
        </p:txBody>
      </p:sp>
      <p:sp>
        <p:nvSpPr>
          <p:cNvPr id="60" name="Google Shape;60;p8"/>
          <p:cNvSpPr/>
          <p:nvPr/>
        </p:nvSpPr>
        <p:spPr>
          <a:xfrm>
            <a:off x="3779200" y="3235502"/>
            <a:ext cx="5197500" cy="6375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4. it uses rules and constraints to maintain data accuracy and consistency, showing how data is organised and how the relationship between data is managed.</a:t>
            </a:r>
            <a:endParaRPr sz="1100">
              <a:solidFill>
                <a:srgbClr val="1A1A1A"/>
              </a:solidFill>
              <a:latin typeface="Questrial"/>
              <a:ea typeface="Questrial"/>
              <a:cs typeface="Questrial"/>
              <a:sym typeface="Questrial"/>
            </a:endParaRPr>
          </a:p>
          <a:p>
            <a:pPr indent="0" lvl="0" marL="0" rtl="0" algn="ctr">
              <a:spcBef>
                <a:spcPts val="0"/>
              </a:spcBef>
              <a:spcAft>
                <a:spcPts val="0"/>
              </a:spcAft>
              <a:buNone/>
            </a:pPr>
            <a:r>
              <a:t/>
            </a:r>
            <a:endParaRPr sz="1100">
              <a:solidFill>
                <a:srgbClr val="1A1A1A"/>
              </a:solidFill>
              <a:latin typeface="Questrial"/>
              <a:ea typeface="Questrial"/>
              <a:cs typeface="Questrial"/>
              <a:sym typeface="Questrial"/>
            </a:endParaRPr>
          </a:p>
        </p:txBody>
      </p:sp>
      <p:sp>
        <p:nvSpPr>
          <p:cNvPr id="61" name="Google Shape;61;p8"/>
          <p:cNvSpPr/>
          <p:nvPr/>
        </p:nvSpPr>
        <p:spPr>
          <a:xfrm>
            <a:off x="2781925" y="4057275"/>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solidFill>
                  <a:srgbClr val="CCCCCC"/>
                </a:solidFill>
                <a:latin typeface="Questrial"/>
                <a:ea typeface="Questrial"/>
                <a:cs typeface="Questrial"/>
                <a:sym typeface="Questrial"/>
              </a:rPr>
              <a:t>?</a:t>
            </a:r>
            <a:endParaRPr b="1" sz="1600">
              <a:solidFill>
                <a:srgbClr val="CCCCCC"/>
              </a:solidFill>
              <a:latin typeface="Questrial"/>
              <a:ea typeface="Questrial"/>
              <a:cs typeface="Questrial"/>
              <a:sym typeface="Quest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Now - Matching</a:t>
            </a:r>
            <a:endParaRPr/>
          </a:p>
        </p:txBody>
      </p:sp>
      <p:sp>
        <p:nvSpPr>
          <p:cNvPr id="67" name="Google Shape;67;p9"/>
          <p:cNvSpPr/>
          <p:nvPr/>
        </p:nvSpPr>
        <p:spPr>
          <a:xfrm>
            <a:off x="136975" y="736806"/>
            <a:ext cx="2540100" cy="444600"/>
          </a:xfrm>
          <a:prstGeom prst="rect">
            <a:avLst/>
          </a:prstGeom>
          <a:solidFill>
            <a:srgbClr val="1A1A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Questrial"/>
                <a:ea typeface="Questrial"/>
                <a:cs typeface="Questrial"/>
                <a:sym typeface="Questrial"/>
              </a:rPr>
              <a:t>TERMS</a:t>
            </a:r>
            <a:endParaRPr b="1" sz="1300">
              <a:solidFill>
                <a:srgbClr val="FFFFFF"/>
              </a:solidFill>
              <a:latin typeface="Questrial"/>
              <a:ea typeface="Questrial"/>
              <a:cs typeface="Questrial"/>
              <a:sym typeface="Questrial"/>
            </a:endParaRPr>
          </a:p>
        </p:txBody>
      </p:sp>
      <p:sp>
        <p:nvSpPr>
          <p:cNvPr id="68" name="Google Shape;68;p9"/>
          <p:cNvSpPr/>
          <p:nvPr/>
        </p:nvSpPr>
        <p:spPr>
          <a:xfrm>
            <a:off x="136975" y="1214356"/>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A.  Database Schema</a:t>
            </a:r>
            <a:endParaRPr b="1" sz="1200">
              <a:solidFill>
                <a:srgbClr val="1A1A1A"/>
              </a:solidFill>
              <a:latin typeface="Questrial"/>
              <a:ea typeface="Questrial"/>
              <a:cs typeface="Questrial"/>
              <a:sym typeface="Questrial"/>
            </a:endParaRPr>
          </a:p>
        </p:txBody>
      </p:sp>
      <p:sp>
        <p:nvSpPr>
          <p:cNvPr id="69" name="Google Shape;69;p9"/>
          <p:cNvSpPr/>
          <p:nvPr/>
        </p:nvSpPr>
        <p:spPr>
          <a:xfrm>
            <a:off x="2837050" y="1217500"/>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0000"/>
                </a:solidFill>
                <a:latin typeface="Questrial"/>
                <a:ea typeface="Questrial"/>
                <a:cs typeface="Questrial"/>
                <a:sym typeface="Questrial"/>
              </a:rPr>
              <a:t>4</a:t>
            </a:r>
            <a:endParaRPr b="1" sz="1600">
              <a:solidFill>
                <a:srgbClr val="CCCCCC"/>
              </a:solidFill>
              <a:latin typeface="Questrial"/>
              <a:ea typeface="Questrial"/>
              <a:cs typeface="Questrial"/>
              <a:sym typeface="Questrial"/>
            </a:endParaRPr>
          </a:p>
        </p:txBody>
      </p:sp>
      <p:sp>
        <p:nvSpPr>
          <p:cNvPr id="70" name="Google Shape;70;p9"/>
          <p:cNvSpPr/>
          <p:nvPr/>
        </p:nvSpPr>
        <p:spPr>
          <a:xfrm>
            <a:off x="2837050" y="1884200"/>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0000"/>
                </a:solidFill>
                <a:latin typeface="Questrial"/>
                <a:ea typeface="Questrial"/>
                <a:cs typeface="Questrial"/>
                <a:sym typeface="Questrial"/>
              </a:rPr>
              <a:t>3</a:t>
            </a:r>
            <a:endParaRPr b="1" sz="1600">
              <a:solidFill>
                <a:srgbClr val="CCCCCC"/>
              </a:solidFill>
              <a:latin typeface="Questrial"/>
              <a:ea typeface="Questrial"/>
              <a:cs typeface="Questrial"/>
              <a:sym typeface="Questrial"/>
            </a:endParaRPr>
          </a:p>
        </p:txBody>
      </p:sp>
      <p:sp>
        <p:nvSpPr>
          <p:cNvPr id="71" name="Google Shape;71;p9"/>
          <p:cNvSpPr/>
          <p:nvPr/>
        </p:nvSpPr>
        <p:spPr>
          <a:xfrm>
            <a:off x="2781925" y="2623788"/>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0000"/>
                </a:solidFill>
                <a:latin typeface="Questrial"/>
                <a:ea typeface="Questrial"/>
                <a:cs typeface="Questrial"/>
                <a:sym typeface="Questrial"/>
              </a:rPr>
              <a:t>1</a:t>
            </a:r>
            <a:endParaRPr b="1" sz="1600">
              <a:solidFill>
                <a:srgbClr val="CCCCCC"/>
              </a:solidFill>
              <a:latin typeface="Questrial"/>
              <a:ea typeface="Questrial"/>
              <a:cs typeface="Questrial"/>
              <a:sym typeface="Questrial"/>
            </a:endParaRPr>
          </a:p>
        </p:txBody>
      </p:sp>
      <p:sp>
        <p:nvSpPr>
          <p:cNvPr id="72" name="Google Shape;72;p9"/>
          <p:cNvSpPr/>
          <p:nvPr/>
        </p:nvSpPr>
        <p:spPr>
          <a:xfrm>
            <a:off x="2781925" y="3306600"/>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0000"/>
                </a:solidFill>
                <a:latin typeface="Questrial"/>
                <a:ea typeface="Questrial"/>
                <a:cs typeface="Questrial"/>
                <a:sym typeface="Questrial"/>
              </a:rPr>
              <a:t>2</a:t>
            </a:r>
            <a:endParaRPr b="1" sz="1600">
              <a:solidFill>
                <a:srgbClr val="CCCCCC"/>
              </a:solidFill>
              <a:latin typeface="Questrial"/>
              <a:ea typeface="Questrial"/>
              <a:cs typeface="Questrial"/>
              <a:sym typeface="Questrial"/>
            </a:endParaRPr>
          </a:p>
        </p:txBody>
      </p:sp>
      <p:sp>
        <p:nvSpPr>
          <p:cNvPr id="73" name="Google Shape;73;p9"/>
          <p:cNvSpPr txBox="1"/>
          <p:nvPr/>
        </p:nvSpPr>
        <p:spPr>
          <a:xfrm>
            <a:off x="3238500" y="138800"/>
            <a:ext cx="11049000" cy="44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222222"/>
                </a:solidFill>
                <a:latin typeface="Questrial"/>
                <a:ea typeface="Questrial"/>
                <a:cs typeface="Questrial"/>
                <a:sym typeface="Questrial"/>
              </a:rPr>
              <a:t>Match each term (A-D) with the correct definition (1-4):</a:t>
            </a:r>
            <a:endParaRPr b="1">
              <a:solidFill>
                <a:srgbClr val="222222"/>
              </a:solidFill>
              <a:latin typeface="Questrial"/>
              <a:ea typeface="Questrial"/>
              <a:cs typeface="Questrial"/>
              <a:sym typeface="Questrial"/>
            </a:endParaRPr>
          </a:p>
        </p:txBody>
      </p:sp>
      <p:sp>
        <p:nvSpPr>
          <p:cNvPr id="74" name="Google Shape;74;p9"/>
          <p:cNvSpPr txBox="1"/>
          <p:nvPr/>
        </p:nvSpPr>
        <p:spPr>
          <a:xfrm>
            <a:off x="2905575" y="5171625"/>
            <a:ext cx="1524000" cy="25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00">
                <a:solidFill>
                  <a:srgbClr val="999999"/>
                </a:solidFill>
                <a:latin typeface="Questrial"/>
                <a:ea typeface="Questrial"/>
                <a:cs typeface="Questrial"/>
                <a:sym typeface="Questrial"/>
              </a:rPr>
              <a:t>Write number here</a:t>
            </a:r>
            <a:endParaRPr sz="800">
              <a:solidFill>
                <a:srgbClr val="999999"/>
              </a:solidFill>
              <a:latin typeface="Questrial"/>
              <a:ea typeface="Questrial"/>
              <a:cs typeface="Questrial"/>
              <a:sym typeface="Questrial"/>
            </a:endParaRPr>
          </a:p>
        </p:txBody>
      </p:sp>
      <p:sp>
        <p:nvSpPr>
          <p:cNvPr id="75" name="Google Shape;75;p9"/>
          <p:cNvSpPr/>
          <p:nvPr/>
        </p:nvSpPr>
        <p:spPr>
          <a:xfrm>
            <a:off x="3815750" y="913150"/>
            <a:ext cx="5197500" cy="6390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1.  A detailed design of table structure (fields &amp; data types), relationships and constraints.</a:t>
            </a:r>
            <a:endParaRPr sz="1100">
              <a:solidFill>
                <a:srgbClr val="1A1A1A"/>
              </a:solidFill>
              <a:latin typeface="Questrial"/>
              <a:ea typeface="Questrial"/>
              <a:cs typeface="Questrial"/>
              <a:sym typeface="Questrial"/>
            </a:endParaRPr>
          </a:p>
        </p:txBody>
      </p:sp>
      <p:sp>
        <p:nvSpPr>
          <p:cNvPr id="76" name="Google Shape;76;p9"/>
          <p:cNvSpPr/>
          <p:nvPr/>
        </p:nvSpPr>
        <p:spPr>
          <a:xfrm>
            <a:off x="3815750" y="1686277"/>
            <a:ext cx="5197500" cy="6390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2.  Represents the implementation of the logical schema in a specific DBMS, showing how data is stored, indexed or accessed.</a:t>
            </a:r>
            <a:endParaRPr sz="1100">
              <a:solidFill>
                <a:srgbClr val="1A1A1A"/>
              </a:solidFill>
              <a:latin typeface="Questrial"/>
              <a:ea typeface="Questrial"/>
              <a:cs typeface="Questrial"/>
              <a:sym typeface="Questrial"/>
            </a:endParaRPr>
          </a:p>
        </p:txBody>
      </p:sp>
      <p:sp>
        <p:nvSpPr>
          <p:cNvPr id="77" name="Google Shape;77;p9"/>
          <p:cNvSpPr/>
          <p:nvPr/>
        </p:nvSpPr>
        <p:spPr>
          <a:xfrm>
            <a:off x="3815750" y="2459404"/>
            <a:ext cx="5197500" cy="6390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3.  An abstract model describing the structure of data without considering physical implementation.</a:t>
            </a:r>
            <a:endParaRPr sz="1100">
              <a:solidFill>
                <a:srgbClr val="1A1A1A"/>
              </a:solidFill>
              <a:latin typeface="Questrial"/>
              <a:ea typeface="Questrial"/>
              <a:cs typeface="Questrial"/>
              <a:sym typeface="Questrial"/>
            </a:endParaRPr>
          </a:p>
        </p:txBody>
      </p:sp>
      <p:sp>
        <p:nvSpPr>
          <p:cNvPr id="78" name="Google Shape;78;p9"/>
          <p:cNvSpPr/>
          <p:nvPr/>
        </p:nvSpPr>
        <p:spPr>
          <a:xfrm>
            <a:off x="3815750" y="4005658"/>
            <a:ext cx="5197500" cy="6390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5.  An architecture showing how data is organised and how relationships between data are managed.</a:t>
            </a:r>
            <a:endParaRPr sz="1100">
              <a:solidFill>
                <a:srgbClr val="1A1A1A"/>
              </a:solidFill>
              <a:latin typeface="Questrial"/>
              <a:ea typeface="Questrial"/>
              <a:cs typeface="Questrial"/>
              <a:sym typeface="Questrial"/>
            </a:endParaRPr>
          </a:p>
        </p:txBody>
      </p:sp>
      <p:sp>
        <p:nvSpPr>
          <p:cNvPr id="79" name="Google Shape;79;p9"/>
          <p:cNvSpPr/>
          <p:nvPr/>
        </p:nvSpPr>
        <p:spPr>
          <a:xfrm>
            <a:off x="136975" y="1881062"/>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B.  Conceptual Schema</a:t>
            </a:r>
            <a:endParaRPr b="1" sz="1200">
              <a:solidFill>
                <a:srgbClr val="1A1A1A"/>
              </a:solidFill>
              <a:latin typeface="Questrial"/>
              <a:ea typeface="Questrial"/>
              <a:cs typeface="Questrial"/>
              <a:sym typeface="Questrial"/>
            </a:endParaRPr>
          </a:p>
        </p:txBody>
      </p:sp>
      <p:sp>
        <p:nvSpPr>
          <p:cNvPr id="80" name="Google Shape;80;p9"/>
          <p:cNvSpPr/>
          <p:nvPr/>
        </p:nvSpPr>
        <p:spPr>
          <a:xfrm>
            <a:off x="136975" y="2592253"/>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C.  Logical Schema</a:t>
            </a:r>
            <a:endParaRPr b="1" sz="1200">
              <a:solidFill>
                <a:srgbClr val="1A1A1A"/>
              </a:solidFill>
              <a:latin typeface="Questrial"/>
              <a:ea typeface="Questrial"/>
              <a:cs typeface="Questrial"/>
              <a:sym typeface="Questrial"/>
            </a:endParaRPr>
          </a:p>
        </p:txBody>
      </p:sp>
      <p:sp>
        <p:nvSpPr>
          <p:cNvPr id="81" name="Google Shape;81;p9"/>
          <p:cNvSpPr/>
          <p:nvPr/>
        </p:nvSpPr>
        <p:spPr>
          <a:xfrm>
            <a:off x="136975" y="3303444"/>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D.  Physical Schema</a:t>
            </a:r>
            <a:endParaRPr b="1" sz="1200">
              <a:solidFill>
                <a:srgbClr val="1A1A1A"/>
              </a:solidFill>
              <a:latin typeface="Questrial"/>
              <a:ea typeface="Questrial"/>
              <a:cs typeface="Questrial"/>
              <a:sym typeface="Questrial"/>
            </a:endParaRPr>
          </a:p>
        </p:txBody>
      </p:sp>
      <p:sp>
        <p:nvSpPr>
          <p:cNvPr id="82" name="Google Shape;82;p9"/>
          <p:cNvSpPr/>
          <p:nvPr/>
        </p:nvSpPr>
        <p:spPr>
          <a:xfrm>
            <a:off x="136975" y="4054119"/>
            <a:ext cx="2540100" cy="577800"/>
          </a:xfrm>
          <a:prstGeom prst="roundRect">
            <a:avLst>
              <a:gd fmla="val 16667" name="adj"/>
            </a:avLst>
          </a:prstGeom>
          <a:solidFill>
            <a:srgbClr val="FFD700"/>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1A1A1A"/>
                </a:solidFill>
                <a:latin typeface="Questrial"/>
                <a:ea typeface="Questrial"/>
                <a:cs typeface="Questrial"/>
                <a:sym typeface="Questrial"/>
              </a:rPr>
              <a:t>E.  Data Integrity</a:t>
            </a:r>
            <a:endParaRPr b="1" sz="1200">
              <a:solidFill>
                <a:srgbClr val="1A1A1A"/>
              </a:solidFill>
              <a:latin typeface="Questrial"/>
              <a:ea typeface="Questrial"/>
              <a:cs typeface="Questrial"/>
              <a:sym typeface="Questrial"/>
            </a:endParaRPr>
          </a:p>
        </p:txBody>
      </p:sp>
      <p:sp>
        <p:nvSpPr>
          <p:cNvPr id="83" name="Google Shape;83;p9"/>
          <p:cNvSpPr/>
          <p:nvPr/>
        </p:nvSpPr>
        <p:spPr>
          <a:xfrm>
            <a:off x="3779200" y="3232531"/>
            <a:ext cx="5197500" cy="639000"/>
          </a:xfrm>
          <a:prstGeom prst="roundRect">
            <a:avLst>
              <a:gd fmla="val 16667" name="adj"/>
            </a:avLst>
          </a:prstGeom>
          <a:solidFill>
            <a:srgbClr val="D6EAF8"/>
          </a:solidFill>
          <a:ln cap="flat" cmpd="sng" w="9525">
            <a:solidFill>
              <a:srgbClr val="2980B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1A1A1A"/>
                </a:solidFill>
                <a:latin typeface="Questrial"/>
                <a:ea typeface="Questrial"/>
                <a:cs typeface="Questrial"/>
                <a:sym typeface="Questrial"/>
              </a:rPr>
              <a:t>4. it uses rules and constraints to maintain data accuracy and consistency, showing how data is organised and how the relationship between data is managed.</a:t>
            </a:r>
            <a:endParaRPr sz="1100">
              <a:solidFill>
                <a:srgbClr val="1A1A1A"/>
              </a:solidFill>
              <a:latin typeface="Questrial"/>
              <a:ea typeface="Questrial"/>
              <a:cs typeface="Questrial"/>
              <a:sym typeface="Questrial"/>
            </a:endParaRPr>
          </a:p>
          <a:p>
            <a:pPr indent="0" lvl="0" marL="0" rtl="0" algn="ctr">
              <a:spcBef>
                <a:spcPts val="0"/>
              </a:spcBef>
              <a:spcAft>
                <a:spcPts val="0"/>
              </a:spcAft>
              <a:buNone/>
            </a:pPr>
            <a:r>
              <a:t/>
            </a:r>
            <a:endParaRPr sz="1100">
              <a:solidFill>
                <a:srgbClr val="1A1A1A"/>
              </a:solidFill>
              <a:latin typeface="Questrial"/>
              <a:ea typeface="Questrial"/>
              <a:cs typeface="Questrial"/>
              <a:sym typeface="Questrial"/>
            </a:endParaRPr>
          </a:p>
        </p:txBody>
      </p:sp>
      <p:sp>
        <p:nvSpPr>
          <p:cNvPr id="84" name="Google Shape;84;p9"/>
          <p:cNvSpPr/>
          <p:nvPr/>
        </p:nvSpPr>
        <p:spPr>
          <a:xfrm>
            <a:off x="2781925" y="4057275"/>
            <a:ext cx="635100" cy="571500"/>
          </a:xfrm>
          <a:prstGeom prst="rect">
            <a:avLst/>
          </a:prstGeom>
          <a:solidFill>
            <a:srgbClr val="FFFFFF"/>
          </a:solidFill>
          <a:ln cap="flat" cmpd="sng" w="952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100">
                <a:solidFill>
                  <a:srgbClr val="FF0000"/>
                </a:solidFill>
                <a:latin typeface="Questrial"/>
                <a:ea typeface="Questrial"/>
                <a:cs typeface="Questrial"/>
                <a:sym typeface="Questrial"/>
              </a:rPr>
              <a:t>4</a:t>
            </a:r>
            <a:endParaRPr b="1" sz="2100">
              <a:solidFill>
                <a:srgbClr val="FF0000"/>
              </a:solidFill>
              <a:latin typeface="Questrial"/>
              <a:ea typeface="Questrial"/>
              <a:cs typeface="Questrial"/>
              <a:sym typeface="Quest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0"/>
          <p:cNvSpPr txBox="1"/>
          <p:nvPr>
            <p:ph type="ctrTitle"/>
          </p:nvPr>
        </p:nvSpPr>
        <p:spPr>
          <a:xfrm>
            <a:off x="344250" y="1403850"/>
            <a:ext cx="8455500" cy="2146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Lesson 2 DB Design</a:t>
            </a:r>
            <a:endParaRPr/>
          </a:p>
        </p:txBody>
      </p:sp>
      <p:sp>
        <p:nvSpPr>
          <p:cNvPr id="90" name="Google Shape;90;p10"/>
          <p:cNvSpPr txBox="1"/>
          <p:nvPr>
            <p:ph idx="1" type="subTitle"/>
          </p:nvPr>
        </p:nvSpPr>
        <p:spPr>
          <a:xfrm>
            <a:off x="344250" y="3550650"/>
            <a:ext cx="4910100" cy="57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 Myran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800"/>
              <a:t>L2 - </a:t>
            </a:r>
            <a:r>
              <a:rPr lang="en" sz="2800"/>
              <a:t>Syllabus Links</a:t>
            </a:r>
            <a:endParaRPr sz="2800"/>
          </a:p>
        </p:txBody>
      </p:sp>
      <p:sp>
        <p:nvSpPr>
          <p:cNvPr id="96" name="Google Shape;96;p1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b="1" lang="en" sz="2400"/>
              <a:t>A3.2.1 Describe database schemas.</a:t>
            </a:r>
            <a:endParaRPr b="1" sz="2400"/>
          </a:p>
          <a:p>
            <a:pPr indent="-323850" lvl="1" marL="914400" rtl="0" algn="l">
              <a:spcBef>
                <a:spcPts val="0"/>
              </a:spcBef>
              <a:spcAft>
                <a:spcPts val="0"/>
              </a:spcAft>
              <a:buSzPts val="1500"/>
              <a:buChar char="○"/>
            </a:pPr>
            <a:r>
              <a:rPr lang="en" sz="2400"/>
              <a:t>Conceptual schema, logical schema, physical schema</a:t>
            </a:r>
            <a:endParaRPr sz="2400"/>
          </a:p>
          <a:p>
            <a:pPr indent="-323850" lvl="1" marL="914400" rtl="0" algn="l">
              <a:spcBef>
                <a:spcPts val="0"/>
              </a:spcBef>
              <a:spcAft>
                <a:spcPts val="0"/>
              </a:spcAft>
              <a:buSzPts val="1500"/>
              <a:buChar char="○"/>
            </a:pPr>
            <a:r>
              <a:rPr lang="en" sz="2400"/>
              <a:t>Abstract definitions of the data structure and organisation of the data at different levels</a:t>
            </a:r>
            <a:endParaRPr sz="2400"/>
          </a:p>
          <a:p>
            <a:pPr indent="-323850" lvl="0" marL="457200" rtl="0" algn="l">
              <a:spcBef>
                <a:spcPts val="0"/>
              </a:spcBef>
              <a:spcAft>
                <a:spcPts val="0"/>
              </a:spcAft>
              <a:buSzPts val="1500"/>
              <a:buChar char="●"/>
            </a:pPr>
            <a:r>
              <a:rPr b="1" lang="en" sz="2400"/>
              <a:t>A3.2.3 Outline the different data types used in relational databases.</a:t>
            </a:r>
            <a:endParaRPr b="1" sz="2400"/>
          </a:p>
          <a:p>
            <a:pPr indent="-323850" lvl="1" marL="914400" rtl="0" algn="l">
              <a:spcBef>
                <a:spcPts val="0"/>
              </a:spcBef>
              <a:spcAft>
                <a:spcPts val="0"/>
              </a:spcAft>
              <a:buSzPts val="1500"/>
              <a:buChar char="○"/>
            </a:pPr>
            <a:r>
              <a:rPr lang="en" sz="2400"/>
              <a:t>The importance of data type consistency</a:t>
            </a:r>
            <a:endParaRPr sz="2400"/>
          </a:p>
          <a:p>
            <a:pPr indent="-323850" lvl="1" marL="914400" rtl="0" algn="l">
              <a:spcBef>
                <a:spcPts val="0"/>
              </a:spcBef>
              <a:spcAft>
                <a:spcPts val="0"/>
              </a:spcAft>
              <a:buSzPts val="1500"/>
              <a:buChar char="○"/>
            </a:pPr>
            <a:r>
              <a:rPr lang="en" sz="2400"/>
              <a:t>The potential effects of choosing the wrong data type</a:t>
            </a:r>
            <a:endParaRPr sz="2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2"/>
          <p:cNvSpPr txBox="1"/>
          <p:nvPr>
            <p:ph idx="2" type="body"/>
          </p:nvPr>
        </p:nvSpPr>
        <p:spPr>
          <a:xfrm>
            <a:off x="4310700" y="724200"/>
            <a:ext cx="4622100" cy="3695100"/>
          </a:xfrm>
          <a:prstGeom prst="rect">
            <a:avLst/>
          </a:prstGeom>
          <a:noFill/>
          <a:ln>
            <a:noFill/>
          </a:ln>
        </p:spPr>
        <p:txBody>
          <a:bodyPr anchorCtr="0" anchor="ctr" bIns="91425" lIns="91425" spcFirstLastPara="1" rIns="91425" wrap="square" tIns="91425">
            <a:noAutofit/>
          </a:bodyPr>
          <a:lstStyle/>
          <a:p>
            <a:pPr indent="-387350" lvl="0" marL="457200" rtl="0" algn="l">
              <a:spcBef>
                <a:spcPts val="1600"/>
              </a:spcBef>
              <a:spcAft>
                <a:spcPts val="0"/>
              </a:spcAft>
              <a:buClr>
                <a:srgbClr val="FFFFFF"/>
              </a:buClr>
              <a:buSzPts val="2500"/>
              <a:buChar char="➢"/>
            </a:pPr>
            <a:r>
              <a:rPr lang="en" sz="2500">
                <a:solidFill>
                  <a:srgbClr val="FFFFFF"/>
                </a:solidFill>
                <a:highlight>
                  <a:srgbClr val="000000"/>
                </a:highlight>
              </a:rPr>
              <a:t>Describe different database schemas</a:t>
            </a:r>
            <a:endParaRPr sz="2500">
              <a:solidFill>
                <a:srgbClr val="FFFFFF"/>
              </a:solidFill>
              <a:highlight>
                <a:srgbClr val="000000"/>
              </a:highlight>
            </a:endParaRPr>
          </a:p>
          <a:p>
            <a:pPr indent="-387350" lvl="0" marL="457200" rtl="0" algn="l">
              <a:spcBef>
                <a:spcPts val="0"/>
              </a:spcBef>
              <a:spcAft>
                <a:spcPts val="0"/>
              </a:spcAft>
              <a:buClr>
                <a:srgbClr val="FFFFFF"/>
              </a:buClr>
              <a:buSzPts val="2500"/>
              <a:buChar char="➢"/>
            </a:pPr>
            <a:r>
              <a:rPr lang="en" sz="2500">
                <a:solidFill>
                  <a:srgbClr val="FFFFFF"/>
                </a:solidFill>
                <a:highlight>
                  <a:srgbClr val="000000"/>
                </a:highlight>
              </a:rPr>
              <a:t>Identify several </a:t>
            </a:r>
            <a:r>
              <a:rPr lang="en" sz="2500">
                <a:solidFill>
                  <a:srgbClr val="FFFFFF"/>
                </a:solidFill>
                <a:highlight>
                  <a:srgbClr val="000000"/>
                </a:highlight>
              </a:rPr>
              <a:t>data types</a:t>
            </a:r>
            <a:r>
              <a:rPr lang="en" sz="2500">
                <a:solidFill>
                  <a:srgbClr val="FFFFFF"/>
                </a:solidFill>
                <a:highlight>
                  <a:srgbClr val="000000"/>
                </a:highlight>
              </a:rPr>
              <a:t> used in database</a:t>
            </a:r>
            <a:endParaRPr sz="2500">
              <a:solidFill>
                <a:srgbClr val="FFFFFF"/>
              </a:solidFill>
              <a:highlight>
                <a:srgbClr val="000000"/>
              </a:highlight>
            </a:endParaRPr>
          </a:p>
          <a:p>
            <a:pPr indent="-387350" lvl="0" marL="457200" rtl="0" algn="l">
              <a:spcBef>
                <a:spcPts val="0"/>
              </a:spcBef>
              <a:spcAft>
                <a:spcPts val="0"/>
              </a:spcAft>
              <a:buClr>
                <a:srgbClr val="FFFFFF"/>
              </a:buClr>
              <a:buSzPts val="2500"/>
              <a:buChar char="➢"/>
            </a:pPr>
            <a:r>
              <a:rPr lang="en" sz="2500">
                <a:solidFill>
                  <a:srgbClr val="FFFFFF"/>
                </a:solidFill>
                <a:highlight>
                  <a:srgbClr val="000000"/>
                </a:highlight>
              </a:rPr>
              <a:t>Evaluate</a:t>
            </a:r>
            <a:r>
              <a:rPr lang="en" sz="2500">
                <a:solidFill>
                  <a:srgbClr val="FFFFFF"/>
                </a:solidFill>
                <a:highlight>
                  <a:srgbClr val="000000"/>
                </a:highlight>
              </a:rPr>
              <a:t> the benefits and drawbacks of different database schemas </a:t>
            </a:r>
            <a:endParaRPr sz="2500">
              <a:solidFill>
                <a:srgbClr val="FFFFFF"/>
              </a:solidFill>
              <a:highlight>
                <a:srgbClr val="000000"/>
              </a:highlight>
            </a:endParaRPr>
          </a:p>
        </p:txBody>
      </p:sp>
      <p:sp>
        <p:nvSpPr>
          <p:cNvPr id="102" name="Google Shape;102;p12"/>
          <p:cNvSpPr txBox="1"/>
          <p:nvPr>
            <p:ph type="title"/>
          </p:nvPr>
        </p:nvSpPr>
        <p:spPr>
          <a:xfrm>
            <a:off x="265500" y="802803"/>
            <a:ext cx="3748500" cy="244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SzPts val="4200"/>
              <a:buNone/>
            </a:pPr>
            <a:r>
              <a:rPr lang="en" sz="3600"/>
              <a:t>Lesson 2 Design schemas and Datatypes</a:t>
            </a:r>
            <a:endParaRPr sz="4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Quick Review on last lessons learning…</a:t>
            </a:r>
            <a:endParaRPr/>
          </a:p>
        </p:txBody>
      </p:sp>
      <p:sp>
        <p:nvSpPr>
          <p:cNvPr id="108" name="Google Shape;108;p13"/>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a:blip r:embed="rId3">
            <a:alphaModFix/>
          </a:blip>
          <a:stretch>
            <a:fillRect/>
          </a:stretch>
        </p:blipFill>
        <p:spPr>
          <a:xfrm>
            <a:off x="1048900" y="1143925"/>
            <a:ext cx="6790350" cy="2520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a:t>
            </a:r>
            <a:endParaRPr/>
          </a:p>
        </p:txBody>
      </p:sp>
      <p:sp>
        <p:nvSpPr>
          <p:cNvPr id="115" name="Google Shape;115;p14"/>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900"/>
              <a:t>1. Define the terms:</a:t>
            </a:r>
            <a:endParaRPr b="1" sz="1900"/>
          </a:p>
          <a:p>
            <a:pPr indent="0" lvl="0" marL="0" rtl="0" algn="l">
              <a:spcBef>
                <a:spcPts val="0"/>
              </a:spcBef>
              <a:spcAft>
                <a:spcPts val="0"/>
              </a:spcAft>
              <a:buNone/>
            </a:pPr>
            <a:r>
              <a:rPr lang="en" sz="1600"/>
              <a:t>a) Primary Key: </a:t>
            </a:r>
            <a:r>
              <a:rPr lang="en" sz="1600">
                <a:solidFill>
                  <a:srgbClr val="FF0000"/>
                </a:solidFill>
              </a:rPr>
              <a:t>A field (or set of fields) in a table that uniquely identifies each record. It must be unique and cannot contain null values.</a:t>
            </a:r>
            <a:endParaRPr sz="1600"/>
          </a:p>
          <a:p>
            <a:pPr indent="0" lvl="0" marL="0" rtl="0" algn="l">
              <a:spcBef>
                <a:spcPts val="0"/>
              </a:spcBef>
              <a:spcAft>
                <a:spcPts val="0"/>
              </a:spcAft>
              <a:buNone/>
            </a:pPr>
            <a:r>
              <a:rPr lang="en" sz="1600"/>
              <a:t>b) Foreign Key: </a:t>
            </a:r>
            <a:r>
              <a:rPr lang="en" sz="1600">
                <a:solidFill>
                  <a:srgbClr val="FF0000"/>
                </a:solidFill>
              </a:rPr>
              <a:t>A field in one table that references the primary key of another table, creating a link between the two tables to establish a relationship.</a:t>
            </a:r>
            <a:endParaRPr sz="1600">
              <a:solidFill>
                <a:srgbClr val="FF0000"/>
              </a:solidFill>
            </a:endParaRPr>
          </a:p>
          <a:p>
            <a:pPr indent="0" lvl="0" marL="0" rtl="0" algn="l">
              <a:spcBef>
                <a:spcPts val="0"/>
              </a:spcBef>
              <a:spcAft>
                <a:spcPts val="0"/>
              </a:spcAft>
              <a:buNone/>
            </a:pPr>
            <a:r>
              <a:t/>
            </a:r>
            <a:endParaRPr sz="1600"/>
          </a:p>
          <a:p>
            <a:pPr indent="0" lvl="0" marL="0" rtl="0" algn="l">
              <a:spcBef>
                <a:spcPts val="0"/>
              </a:spcBef>
              <a:spcAft>
                <a:spcPts val="0"/>
              </a:spcAft>
              <a:buNone/>
            </a:pPr>
            <a:r>
              <a:rPr b="1" lang="en" sz="1900"/>
              <a:t>2. Explain what is meant by referential integrity.</a:t>
            </a:r>
            <a:endParaRPr b="1" sz="1900"/>
          </a:p>
          <a:p>
            <a:pPr indent="0" lvl="0" marL="0" rtl="0" algn="l">
              <a:spcBef>
                <a:spcPts val="0"/>
              </a:spcBef>
              <a:spcAft>
                <a:spcPts val="0"/>
              </a:spcAft>
              <a:buNone/>
            </a:pPr>
            <a:r>
              <a:rPr lang="en" sz="1600">
                <a:solidFill>
                  <a:srgbClr val="FF0000"/>
                </a:solidFill>
              </a:rPr>
              <a:t>Referential integrity is a database rule that ensures relationships between tables remain consistent. It means a foreign key value must always correspond to an existing primary key value in the referenced table. For example, you cannot add an order for a customer ID that doesn't exist in the Customers table, and you cannot delete a customer who still has orders referencing them.</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a:t>
            </a:r>
            <a:endParaRPr/>
          </a:p>
        </p:txBody>
      </p:sp>
      <p:sp>
        <p:nvSpPr>
          <p:cNvPr id="121" name="Google Shape;121;p1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3. Explain the one-to-one, one-to-many and many-to-many types of relationships.</a:t>
            </a:r>
            <a:endParaRPr b="1" sz="1800"/>
          </a:p>
          <a:p>
            <a:pPr indent="0" lvl="0" marL="0" rtl="0" algn="l">
              <a:spcBef>
                <a:spcPts val="0"/>
              </a:spcBef>
              <a:spcAft>
                <a:spcPts val="0"/>
              </a:spcAft>
              <a:buNone/>
            </a:pPr>
            <a:r>
              <a:t/>
            </a:r>
            <a:endParaRPr b="1" sz="1800"/>
          </a:p>
          <a:p>
            <a:pPr indent="-342900" lvl="0" marL="457200" rtl="0" algn="l">
              <a:spcBef>
                <a:spcPts val="0"/>
              </a:spcBef>
              <a:spcAft>
                <a:spcPts val="0"/>
              </a:spcAft>
              <a:buClr>
                <a:srgbClr val="FF0000"/>
              </a:buClr>
              <a:buSzPts val="1800"/>
              <a:buChar char="➢"/>
            </a:pPr>
            <a:r>
              <a:rPr lang="en" sz="1800">
                <a:solidFill>
                  <a:srgbClr val="FF0000"/>
                </a:solidFill>
              </a:rPr>
              <a:t>One-to-one: Each record in Table A is related to exactly one record in Table B, and vice versa. (e.g., one employee has one employee record)</a:t>
            </a:r>
            <a:endParaRPr sz="1800">
              <a:solidFill>
                <a:srgbClr val="FF0000"/>
              </a:solidFill>
            </a:endParaRPr>
          </a:p>
          <a:p>
            <a:pPr indent="-342900" lvl="0" marL="457200" rtl="0" algn="l">
              <a:spcBef>
                <a:spcPts val="0"/>
              </a:spcBef>
              <a:spcAft>
                <a:spcPts val="0"/>
              </a:spcAft>
              <a:buClr>
                <a:srgbClr val="FF0000"/>
              </a:buClr>
              <a:buSzPts val="1800"/>
              <a:buChar char="➢"/>
            </a:pPr>
            <a:r>
              <a:rPr lang="en" sz="1800">
                <a:solidFill>
                  <a:srgbClr val="FF0000"/>
                </a:solidFill>
              </a:rPr>
              <a:t>One-to-many: One record in Table A relates to many records in Table B, but each record in Table B relates to only one record in Table A. (e.g., one customer places many orders)</a:t>
            </a:r>
            <a:endParaRPr sz="1800">
              <a:solidFill>
                <a:srgbClr val="FF0000"/>
              </a:solidFill>
            </a:endParaRPr>
          </a:p>
          <a:p>
            <a:pPr indent="-342900" lvl="0" marL="457200" rtl="0" algn="l">
              <a:spcBef>
                <a:spcPts val="0"/>
              </a:spcBef>
              <a:spcAft>
                <a:spcPts val="0"/>
              </a:spcAft>
              <a:buClr>
                <a:srgbClr val="FF0000"/>
              </a:buClr>
              <a:buSzPts val="1800"/>
              <a:buChar char="➢"/>
            </a:pPr>
            <a:r>
              <a:rPr lang="en" sz="1800">
                <a:solidFill>
                  <a:srgbClr val="FF0000"/>
                </a:solidFill>
              </a:rPr>
              <a:t>Many-to-many: Records in Table A can relate to many records in Table B, and vice versa. (e.g., students and courses). This requires a junction/link table to implement in a relational database.</a:t>
            </a:r>
            <a:endParaRPr sz="180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a:t>
            </a:r>
            <a:endParaRPr/>
          </a:p>
        </p:txBody>
      </p:sp>
      <p:sp>
        <p:nvSpPr>
          <p:cNvPr id="127" name="Google Shape;127;p16"/>
          <p:cNvSpPr txBox="1"/>
          <p:nvPr>
            <p:ph idx="1" type="body"/>
          </p:nvPr>
        </p:nvSpPr>
        <p:spPr>
          <a:xfrm>
            <a:off x="183775" y="776275"/>
            <a:ext cx="4629000" cy="3289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a:t>
            </a:r>
            <a:endParaRPr/>
          </a:p>
        </p:txBody>
      </p:sp>
      <p:pic>
        <p:nvPicPr>
          <p:cNvPr id="128" name="Google Shape;128;p16"/>
          <p:cNvPicPr preferRelativeResize="0"/>
          <p:nvPr/>
        </p:nvPicPr>
        <p:blipFill>
          <a:blip r:embed="rId3">
            <a:alphaModFix/>
          </a:blip>
          <a:stretch>
            <a:fillRect/>
          </a:stretch>
        </p:blipFill>
        <p:spPr>
          <a:xfrm>
            <a:off x="264275" y="1217175"/>
            <a:ext cx="4153101" cy="2197075"/>
          </a:xfrm>
          <a:prstGeom prst="rect">
            <a:avLst/>
          </a:prstGeom>
          <a:noFill/>
          <a:ln>
            <a:noFill/>
          </a:ln>
        </p:spPr>
      </p:pic>
      <p:sp>
        <p:nvSpPr>
          <p:cNvPr id="129" name="Google Shape;129;p16"/>
          <p:cNvSpPr txBox="1"/>
          <p:nvPr/>
        </p:nvSpPr>
        <p:spPr>
          <a:xfrm>
            <a:off x="4542025" y="112163"/>
            <a:ext cx="44097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2"/>
                </a:solidFill>
                <a:latin typeface="Questrial"/>
                <a:ea typeface="Questrial"/>
                <a:cs typeface="Questrial"/>
                <a:sym typeface="Questrial"/>
              </a:rPr>
              <a:t>5.</a:t>
            </a:r>
            <a:r>
              <a:rPr lang="en" sz="2000">
                <a:solidFill>
                  <a:srgbClr val="FF0000"/>
                </a:solidFill>
                <a:latin typeface="Questrial"/>
                <a:ea typeface="Questrial"/>
                <a:cs typeface="Questrial"/>
                <a:sym typeface="Questrial"/>
              </a:rPr>
              <a:t> </a:t>
            </a:r>
            <a:endParaRPr sz="2000">
              <a:solidFill>
                <a:srgbClr val="FF0000"/>
              </a:solidFill>
              <a:latin typeface="Questrial"/>
              <a:ea typeface="Questrial"/>
              <a:cs typeface="Questrial"/>
              <a:sym typeface="Questrial"/>
            </a:endParaRPr>
          </a:p>
          <a:p>
            <a:pPr indent="-355600" lvl="0" marL="457200" rtl="0" algn="l">
              <a:spcBef>
                <a:spcPts val="0"/>
              </a:spcBef>
              <a:spcAft>
                <a:spcPts val="0"/>
              </a:spcAft>
              <a:buSzPts val="2000"/>
              <a:buFont typeface="Questrial"/>
              <a:buChar char="●"/>
            </a:pPr>
            <a:r>
              <a:rPr lang="en" sz="2000">
                <a:solidFill>
                  <a:srgbClr val="FF0000"/>
                </a:solidFill>
                <a:latin typeface="Questrial"/>
                <a:ea typeface="Questrial"/>
                <a:cs typeface="Questrial"/>
                <a:sym typeface="Questrial"/>
              </a:rPr>
              <a:t>A database is an organised collection of </a:t>
            </a:r>
            <a:r>
              <a:rPr b="1" lang="en" sz="2000">
                <a:solidFill>
                  <a:srgbClr val="FF0000"/>
                </a:solidFill>
                <a:latin typeface="Questrial"/>
                <a:ea typeface="Questrial"/>
                <a:cs typeface="Questrial"/>
                <a:sym typeface="Questrial"/>
              </a:rPr>
              <a:t>structured </a:t>
            </a:r>
            <a:r>
              <a:rPr lang="en" sz="2000">
                <a:solidFill>
                  <a:srgbClr val="FF0000"/>
                </a:solidFill>
                <a:latin typeface="Questrial"/>
                <a:ea typeface="Questrial"/>
                <a:cs typeface="Questrial"/>
                <a:sym typeface="Questrial"/>
              </a:rPr>
              <a:t>data stored electronically and managed by a Database Management System (DBMS). </a:t>
            </a:r>
            <a:endParaRPr sz="2000">
              <a:solidFill>
                <a:srgbClr val="FF0000"/>
              </a:solidFill>
              <a:latin typeface="Questrial"/>
              <a:ea typeface="Questrial"/>
              <a:cs typeface="Questrial"/>
              <a:sym typeface="Questrial"/>
            </a:endParaRPr>
          </a:p>
          <a:p>
            <a:pPr indent="-355600" lvl="0" marL="457200" rtl="0" algn="l">
              <a:spcBef>
                <a:spcPts val="0"/>
              </a:spcBef>
              <a:spcAft>
                <a:spcPts val="0"/>
              </a:spcAft>
              <a:buClr>
                <a:srgbClr val="FF0000"/>
              </a:buClr>
              <a:buSzPts val="2000"/>
              <a:buFont typeface="Questrial"/>
              <a:buChar char="●"/>
            </a:pPr>
            <a:r>
              <a:rPr lang="en" sz="2000">
                <a:solidFill>
                  <a:srgbClr val="FF0000"/>
                </a:solidFill>
                <a:latin typeface="Questrial"/>
                <a:ea typeface="Questrial"/>
                <a:cs typeface="Questrial"/>
                <a:sym typeface="Questrial"/>
              </a:rPr>
              <a:t>Allows data to be efficiently stored, retrieved, updated, and deleted. </a:t>
            </a:r>
            <a:endParaRPr sz="2000">
              <a:solidFill>
                <a:srgbClr val="FF0000"/>
              </a:solidFill>
              <a:latin typeface="Questrial"/>
              <a:ea typeface="Questrial"/>
              <a:cs typeface="Questrial"/>
              <a:sym typeface="Questrial"/>
            </a:endParaRPr>
          </a:p>
          <a:p>
            <a:pPr indent="-355600" lvl="0" marL="457200" rtl="0" algn="l">
              <a:spcBef>
                <a:spcPts val="0"/>
              </a:spcBef>
              <a:spcAft>
                <a:spcPts val="0"/>
              </a:spcAft>
              <a:buClr>
                <a:srgbClr val="FF0000"/>
              </a:buClr>
              <a:buSzPts val="2000"/>
              <a:buFont typeface="Questrial"/>
              <a:buChar char="●"/>
            </a:pPr>
            <a:r>
              <a:rPr lang="en" sz="2000">
                <a:solidFill>
                  <a:srgbClr val="FF0000"/>
                </a:solidFill>
                <a:latin typeface="Questrial"/>
                <a:ea typeface="Questrial"/>
                <a:cs typeface="Questrial"/>
                <a:sym typeface="Questrial"/>
              </a:rPr>
              <a:t>A </a:t>
            </a:r>
            <a:r>
              <a:rPr b="1" lang="en" sz="2000">
                <a:solidFill>
                  <a:srgbClr val="FF0000"/>
                </a:solidFill>
                <a:latin typeface="Questrial"/>
                <a:ea typeface="Questrial"/>
                <a:cs typeface="Questrial"/>
                <a:sym typeface="Questrial"/>
              </a:rPr>
              <a:t>relational </a:t>
            </a:r>
            <a:r>
              <a:rPr lang="en" sz="2000">
                <a:solidFill>
                  <a:srgbClr val="FF0000"/>
                </a:solidFill>
                <a:latin typeface="Questrial"/>
                <a:ea typeface="Questrial"/>
                <a:cs typeface="Questrial"/>
                <a:sym typeface="Questrial"/>
              </a:rPr>
              <a:t>database specifically organises this data into tables (relations) with defined relationships between them.</a:t>
            </a:r>
            <a:endParaRPr sz="2000">
              <a:solidFill>
                <a:srgbClr val="FF0000"/>
              </a:solidFill>
              <a:latin typeface="Questrial"/>
              <a:ea typeface="Questrial"/>
              <a:cs typeface="Questrial"/>
              <a:sym typeface="Quest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Conceptual Schema</a:t>
            </a:r>
            <a:endParaRPr/>
          </a:p>
        </p:txBody>
      </p:sp>
      <p:sp>
        <p:nvSpPr>
          <p:cNvPr id="135" name="Google Shape;135;p17"/>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2100"/>
              <a:t>a high-level representation of the database, defining its structure and organisation. </a:t>
            </a:r>
            <a:endParaRPr sz="2100"/>
          </a:p>
          <a:p>
            <a:pPr indent="0" lvl="0" marL="0" rtl="0" algn="l">
              <a:spcBef>
                <a:spcPts val="0"/>
              </a:spcBef>
              <a:spcAft>
                <a:spcPts val="0"/>
              </a:spcAft>
              <a:buClr>
                <a:schemeClr val="dk2"/>
              </a:buClr>
              <a:buSzPts val="1100"/>
              <a:buFont typeface="Arial"/>
              <a:buNone/>
            </a:pPr>
            <a:r>
              <a:t/>
            </a:r>
            <a:endParaRPr sz="2100"/>
          </a:p>
          <a:p>
            <a:pPr indent="0" lvl="0" marL="0" rtl="0" algn="l">
              <a:spcBef>
                <a:spcPts val="0"/>
              </a:spcBef>
              <a:spcAft>
                <a:spcPts val="0"/>
              </a:spcAft>
              <a:buClr>
                <a:schemeClr val="dk2"/>
              </a:buClr>
              <a:buSzPts val="1100"/>
              <a:buFont typeface="Arial"/>
              <a:buNone/>
            </a:pPr>
            <a:r>
              <a:rPr lang="en" sz="2100"/>
              <a:t>It is an abstract model that hides details such as implementation of the data structure</a:t>
            </a:r>
            <a:endParaRPr sz="2100"/>
          </a:p>
          <a:p>
            <a:pPr indent="0" lvl="0" marL="0" rtl="0" algn="l">
              <a:spcBef>
                <a:spcPts val="0"/>
              </a:spcBef>
              <a:spcAft>
                <a:spcPts val="0"/>
              </a:spcAft>
              <a:buClr>
                <a:schemeClr val="dk2"/>
              </a:buClr>
              <a:buSzPts val="1100"/>
              <a:buFont typeface="Arial"/>
              <a:buNone/>
            </a:pPr>
            <a:r>
              <a:t/>
            </a:r>
            <a:endParaRPr sz="2100"/>
          </a:p>
          <a:p>
            <a:pPr indent="0" lvl="0" marL="0" rtl="0" algn="l">
              <a:spcBef>
                <a:spcPts val="0"/>
              </a:spcBef>
              <a:spcAft>
                <a:spcPts val="0"/>
              </a:spcAft>
              <a:buClr>
                <a:schemeClr val="dk2"/>
              </a:buClr>
              <a:buSzPts val="1100"/>
              <a:buFont typeface="Arial"/>
              <a:buNone/>
            </a:pPr>
            <a:r>
              <a:rPr lang="en" sz="2100"/>
              <a:t>A common method of implementing conceptual schema is by using entity-relationship diagrams (ERDs).</a:t>
            </a:r>
            <a:endParaRPr sz="2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ERD - Entity Relationship Diagram</a:t>
            </a:r>
            <a:endParaRPr/>
          </a:p>
        </p:txBody>
      </p:sp>
      <p:sp>
        <p:nvSpPr>
          <p:cNvPr id="141" name="Google Shape;141;p18"/>
          <p:cNvSpPr txBox="1"/>
          <p:nvPr>
            <p:ph idx="1" type="body"/>
          </p:nvPr>
        </p:nvSpPr>
        <p:spPr>
          <a:xfrm>
            <a:off x="183775" y="2928350"/>
            <a:ext cx="3791400" cy="118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Knowledge Check: </a:t>
            </a:r>
            <a:r>
              <a:rPr lang="en"/>
              <a:t>How many tables will the above example </a:t>
            </a:r>
            <a:r>
              <a:rPr lang="en"/>
              <a:t>require</a:t>
            </a:r>
            <a:r>
              <a:rPr lang="en"/>
              <a:t>?</a:t>
            </a:r>
            <a:endParaRPr/>
          </a:p>
        </p:txBody>
      </p:sp>
      <p:pic>
        <p:nvPicPr>
          <p:cNvPr id="142" name="Google Shape;142;p18"/>
          <p:cNvPicPr preferRelativeResize="0"/>
          <p:nvPr/>
        </p:nvPicPr>
        <p:blipFill>
          <a:blip r:embed="rId3">
            <a:alphaModFix/>
          </a:blip>
          <a:stretch>
            <a:fillRect/>
          </a:stretch>
        </p:blipFill>
        <p:spPr>
          <a:xfrm>
            <a:off x="3748375" y="780299"/>
            <a:ext cx="5268803" cy="3882178"/>
          </a:xfrm>
          <a:prstGeom prst="rect">
            <a:avLst/>
          </a:prstGeom>
          <a:noFill/>
          <a:ln>
            <a:noFill/>
          </a:ln>
        </p:spPr>
      </p:pic>
      <p:pic>
        <p:nvPicPr>
          <p:cNvPr id="143" name="Google Shape;143;p18"/>
          <p:cNvPicPr preferRelativeResize="0"/>
          <p:nvPr/>
        </p:nvPicPr>
        <p:blipFill>
          <a:blip r:embed="rId4">
            <a:alphaModFix/>
          </a:blip>
          <a:stretch>
            <a:fillRect/>
          </a:stretch>
        </p:blipFill>
        <p:spPr>
          <a:xfrm>
            <a:off x="183775" y="776275"/>
            <a:ext cx="3564601" cy="187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Logical Schema</a:t>
            </a:r>
            <a:endParaRPr/>
          </a:p>
        </p:txBody>
      </p:sp>
      <p:sp>
        <p:nvSpPr>
          <p:cNvPr id="149" name="Google Shape;149;p19"/>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model that defines the structure of the database, including </a:t>
            </a:r>
            <a:r>
              <a:rPr b="1" lang="en">
                <a:solidFill>
                  <a:srgbClr val="0000FF"/>
                </a:solidFill>
              </a:rPr>
              <a:t>entities, attributes, data types, constraints, keys (primary/foreign) </a:t>
            </a:r>
            <a:r>
              <a:rPr lang="en">
                <a:solidFill>
                  <a:srgbClr val="1A1A1A"/>
                </a:solidFill>
              </a:rPr>
              <a:t>and </a:t>
            </a:r>
            <a:r>
              <a:rPr b="1" lang="en">
                <a:solidFill>
                  <a:srgbClr val="0000FF"/>
                </a:solidFill>
              </a:rPr>
              <a:t>relationships. </a:t>
            </a:r>
            <a:endParaRPr b="1">
              <a:solidFill>
                <a:srgbClr val="0000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doesn't take into </a:t>
            </a:r>
            <a:r>
              <a:rPr lang="en"/>
              <a:t>consideration</a:t>
            </a:r>
            <a:r>
              <a:rPr lang="en"/>
              <a:t> the requirements of a specific database management system (DBMS).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is derived from the conceptual schema by..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
        <p:nvSpPr>
          <p:cNvPr id="155" name="Google Shape;155;p20"/>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AutoNum type="arabicPeriod"/>
            </a:pPr>
            <a:r>
              <a:rPr lang="en" sz="2400"/>
              <a:t>converting the entities into </a:t>
            </a:r>
            <a:r>
              <a:rPr b="1" lang="en" sz="2400">
                <a:solidFill>
                  <a:srgbClr val="9900FF"/>
                </a:solidFill>
              </a:rPr>
              <a:t>detailed table</a:t>
            </a:r>
            <a:r>
              <a:rPr b="1" lang="en" sz="2400">
                <a:solidFill>
                  <a:srgbClr val="9900FF"/>
                </a:solidFill>
              </a:rPr>
              <a:t>s</a:t>
            </a:r>
            <a:endParaRPr b="1" sz="2400">
              <a:solidFill>
                <a:srgbClr val="9900FF"/>
              </a:solidFill>
            </a:endParaRPr>
          </a:p>
          <a:p>
            <a:pPr indent="-381000" lvl="0" marL="457200" rtl="0" algn="l">
              <a:spcBef>
                <a:spcPts val="0"/>
              </a:spcBef>
              <a:spcAft>
                <a:spcPts val="0"/>
              </a:spcAft>
              <a:buSzPts val="2400"/>
              <a:buAutoNum type="arabicPeriod"/>
            </a:pPr>
            <a:r>
              <a:rPr lang="en" sz="2400"/>
              <a:t>defining the </a:t>
            </a:r>
            <a:r>
              <a:rPr lang="en" sz="2400"/>
              <a:t>attributes</a:t>
            </a:r>
            <a:r>
              <a:rPr lang="en" sz="2400"/>
              <a:t> by </a:t>
            </a:r>
            <a:r>
              <a:rPr lang="en" sz="2400"/>
              <a:t>specifying</a:t>
            </a:r>
            <a:r>
              <a:rPr lang="en" sz="2400"/>
              <a:t> the </a:t>
            </a:r>
            <a:r>
              <a:rPr b="1" lang="en" sz="2400">
                <a:solidFill>
                  <a:srgbClr val="9900FF"/>
                </a:solidFill>
              </a:rPr>
              <a:t>data types </a:t>
            </a:r>
            <a:r>
              <a:rPr lang="en" sz="2400"/>
              <a:t>and constraints for each </a:t>
            </a:r>
            <a:r>
              <a:rPr b="1" lang="en" sz="2400">
                <a:solidFill>
                  <a:srgbClr val="9900FF"/>
                </a:solidFill>
              </a:rPr>
              <a:t>field </a:t>
            </a:r>
            <a:r>
              <a:rPr lang="en" sz="2400"/>
              <a:t>in the table</a:t>
            </a:r>
            <a:endParaRPr sz="2400"/>
          </a:p>
          <a:p>
            <a:pPr indent="-381000" lvl="0" marL="457200" rtl="0" algn="l">
              <a:spcBef>
                <a:spcPts val="0"/>
              </a:spcBef>
              <a:spcAft>
                <a:spcPts val="0"/>
              </a:spcAft>
              <a:buSzPts val="2400"/>
              <a:buAutoNum type="arabicPeriod"/>
            </a:pPr>
            <a:r>
              <a:rPr lang="en" sz="2400"/>
              <a:t>establishing </a:t>
            </a:r>
            <a:r>
              <a:rPr b="1" lang="en" sz="2400">
                <a:solidFill>
                  <a:srgbClr val="9900FF"/>
                </a:solidFill>
              </a:rPr>
              <a:t>primary </a:t>
            </a:r>
            <a:r>
              <a:rPr lang="en" sz="2400"/>
              <a:t>and </a:t>
            </a:r>
            <a:r>
              <a:rPr b="1" lang="en" sz="2400">
                <a:solidFill>
                  <a:srgbClr val="9900FF"/>
                </a:solidFill>
              </a:rPr>
              <a:t>foreign </a:t>
            </a:r>
            <a:r>
              <a:rPr lang="en" sz="2400"/>
              <a:t>keys</a:t>
            </a:r>
            <a:endParaRPr sz="2400"/>
          </a:p>
          <a:p>
            <a:pPr indent="-381000" lvl="0" marL="457200" rtl="0" algn="l">
              <a:spcBef>
                <a:spcPts val="0"/>
              </a:spcBef>
              <a:spcAft>
                <a:spcPts val="0"/>
              </a:spcAft>
              <a:buSzPts val="2400"/>
              <a:buAutoNum type="arabicPeriod"/>
            </a:pPr>
            <a:r>
              <a:rPr lang="en" sz="2400"/>
              <a:t>defining </a:t>
            </a:r>
            <a:r>
              <a:rPr b="1" lang="en" sz="2400">
                <a:solidFill>
                  <a:srgbClr val="9900FF"/>
                </a:solidFill>
              </a:rPr>
              <a:t>relationships </a:t>
            </a:r>
            <a:r>
              <a:rPr lang="en" sz="2400"/>
              <a:t>between the tables by using the keys</a:t>
            </a:r>
            <a:endParaRPr sz="2400"/>
          </a:p>
          <a:p>
            <a:pPr indent="-381000" lvl="0" marL="457200" rtl="0" algn="l">
              <a:spcBef>
                <a:spcPts val="0"/>
              </a:spcBef>
              <a:spcAft>
                <a:spcPts val="0"/>
              </a:spcAft>
              <a:buSzPts val="2400"/>
              <a:buAutoNum type="arabicPeriod"/>
            </a:pPr>
            <a:r>
              <a:rPr b="1" lang="en" sz="2400">
                <a:solidFill>
                  <a:srgbClr val="9900FF"/>
                </a:solidFill>
              </a:rPr>
              <a:t>normalising </a:t>
            </a:r>
            <a:r>
              <a:rPr lang="en" sz="2400"/>
              <a:t>the database to </a:t>
            </a:r>
            <a:r>
              <a:rPr b="1" lang="en" sz="2400">
                <a:solidFill>
                  <a:srgbClr val="9900FF"/>
                </a:solidFill>
              </a:rPr>
              <a:t>minimize </a:t>
            </a:r>
            <a:r>
              <a:rPr lang="en" sz="2400"/>
              <a:t>data redundancy</a:t>
            </a:r>
            <a:endParaRPr sz="2400"/>
          </a:p>
          <a:p>
            <a:pPr indent="-381000" lvl="0" marL="457200" rtl="0" algn="l">
              <a:spcBef>
                <a:spcPts val="0"/>
              </a:spcBef>
              <a:spcAft>
                <a:spcPts val="0"/>
              </a:spcAft>
              <a:buSzPts val="2400"/>
              <a:buAutoNum type="arabicPeriod"/>
            </a:pPr>
            <a:r>
              <a:rPr lang="en" sz="2400"/>
              <a:t>ensuring data integrity.</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a:t>
            </a:r>
            <a:endParaRPr/>
          </a:p>
        </p:txBody>
      </p:sp>
      <p:sp>
        <p:nvSpPr>
          <p:cNvPr id="161" name="Google Shape;161;p21"/>
          <p:cNvSpPr txBox="1"/>
          <p:nvPr>
            <p:ph idx="1" type="body"/>
          </p:nvPr>
        </p:nvSpPr>
        <p:spPr>
          <a:xfrm>
            <a:off x="183775" y="776275"/>
            <a:ext cx="45945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many </a:t>
            </a:r>
            <a:r>
              <a:rPr b="1" lang="en"/>
              <a:t>tables</a:t>
            </a:r>
            <a:r>
              <a:rPr lang="en"/>
              <a:t>?</a:t>
            </a:r>
            <a:endParaRPr/>
          </a:p>
          <a:p>
            <a:pPr indent="0" lvl="0" marL="0" rtl="0" algn="l">
              <a:spcBef>
                <a:spcPts val="0"/>
              </a:spcBef>
              <a:spcAft>
                <a:spcPts val="0"/>
              </a:spcAft>
              <a:buNone/>
            </a:pPr>
            <a:r>
              <a:rPr lang="en"/>
              <a:t>How many attributes in </a:t>
            </a:r>
            <a:r>
              <a:rPr b="1" lang="en"/>
              <a:t>Orders</a:t>
            </a:r>
            <a:r>
              <a:rPr lang="en"/>
              <a:t>?</a:t>
            </a:r>
            <a:endParaRPr/>
          </a:p>
          <a:p>
            <a:pPr indent="0" lvl="0" marL="0" rtl="0" algn="l">
              <a:spcBef>
                <a:spcPts val="0"/>
              </a:spcBef>
              <a:spcAft>
                <a:spcPts val="0"/>
              </a:spcAft>
              <a:buNone/>
            </a:pPr>
            <a:r>
              <a:rPr lang="en"/>
              <a:t>What is </a:t>
            </a:r>
            <a:r>
              <a:rPr b="1" lang="en"/>
              <a:t>CustomerID</a:t>
            </a:r>
            <a:r>
              <a:rPr lang="en"/>
              <a:t>?</a:t>
            </a:r>
            <a:endParaRPr/>
          </a:p>
          <a:p>
            <a:pPr indent="0" lvl="0" marL="0" rtl="0" algn="l">
              <a:spcBef>
                <a:spcPts val="0"/>
              </a:spcBef>
              <a:spcAft>
                <a:spcPts val="0"/>
              </a:spcAft>
              <a:buNone/>
            </a:pPr>
            <a:r>
              <a:rPr lang="en"/>
              <a:t>What datatype is </a:t>
            </a:r>
            <a:r>
              <a:rPr b="1" lang="en"/>
              <a:t>Price</a:t>
            </a:r>
            <a:r>
              <a:rPr lang="en"/>
              <a:t>?</a:t>
            </a:r>
            <a:endParaRPr/>
          </a:p>
          <a:p>
            <a:pPr indent="0" lvl="0" marL="0" rtl="0" algn="l">
              <a:spcBef>
                <a:spcPts val="0"/>
              </a:spcBef>
              <a:spcAft>
                <a:spcPts val="0"/>
              </a:spcAft>
              <a:buNone/>
            </a:pPr>
            <a:r>
              <a:rPr lang="en"/>
              <a:t>What are </a:t>
            </a:r>
            <a:r>
              <a:rPr b="1" lang="en"/>
              <a:t>CustomerID </a:t>
            </a:r>
            <a:r>
              <a:rPr lang="en"/>
              <a:t>and </a:t>
            </a:r>
            <a:r>
              <a:rPr b="1" lang="en"/>
              <a:t>PRODUCTID </a:t>
            </a:r>
            <a:r>
              <a:rPr lang="en"/>
              <a:t>in the </a:t>
            </a:r>
            <a:r>
              <a:rPr b="1" lang="en"/>
              <a:t>Orders </a:t>
            </a:r>
            <a:r>
              <a:rPr lang="en"/>
              <a:t>table</a:t>
            </a:r>
            <a:endParaRPr/>
          </a:p>
          <a:p>
            <a:pPr indent="0" lvl="0" marL="0" rtl="0" algn="l">
              <a:spcBef>
                <a:spcPts val="0"/>
              </a:spcBef>
              <a:spcAft>
                <a:spcPts val="0"/>
              </a:spcAft>
              <a:buNone/>
            </a:pPr>
            <a:r>
              <a:rPr lang="en"/>
              <a:t>Describe the </a:t>
            </a:r>
            <a:r>
              <a:rPr b="1" lang="en"/>
              <a:t>EmailAddress </a:t>
            </a:r>
            <a:r>
              <a:rPr lang="en"/>
              <a:t>field</a:t>
            </a:r>
            <a:endParaRPr/>
          </a:p>
        </p:txBody>
      </p:sp>
      <p:pic>
        <p:nvPicPr>
          <p:cNvPr id="162" name="Google Shape;162;p21"/>
          <p:cNvPicPr preferRelativeResize="0"/>
          <p:nvPr/>
        </p:nvPicPr>
        <p:blipFill>
          <a:blip r:embed="rId3">
            <a:alphaModFix/>
          </a:blip>
          <a:stretch>
            <a:fillRect/>
          </a:stretch>
        </p:blipFill>
        <p:spPr>
          <a:xfrm>
            <a:off x="4947048" y="115025"/>
            <a:ext cx="4065901" cy="41534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Physical Schema</a:t>
            </a:r>
            <a:endParaRPr/>
          </a:p>
        </p:txBody>
      </p:sp>
      <p:sp>
        <p:nvSpPr>
          <p:cNvPr id="168" name="Google Shape;168;p22"/>
          <p:cNvSpPr txBox="1"/>
          <p:nvPr>
            <p:ph idx="1" type="body"/>
          </p:nvPr>
        </p:nvSpPr>
        <p:spPr>
          <a:xfrm>
            <a:off x="183775" y="776275"/>
            <a:ext cx="52401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Shows how a specific </a:t>
            </a:r>
            <a:r>
              <a:rPr b="1" lang="en">
                <a:solidFill>
                  <a:srgbClr val="FF0000"/>
                </a:solidFill>
              </a:rPr>
              <a:t>DBMS </a:t>
            </a:r>
            <a:r>
              <a:rPr b="1" lang="en"/>
              <a:t>system </a:t>
            </a:r>
            <a:r>
              <a:rPr lang="en"/>
              <a:t>stores the data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will </a:t>
            </a:r>
            <a:r>
              <a:rPr lang="en"/>
              <a:t>refer</a:t>
            </a:r>
            <a:r>
              <a:rPr lang="en"/>
              <a:t> to specifics of </a:t>
            </a:r>
            <a:r>
              <a:rPr b="1" lang="en">
                <a:solidFill>
                  <a:srgbClr val="0000FF"/>
                </a:solidFill>
              </a:rPr>
              <a:t>storage </a:t>
            </a:r>
            <a:r>
              <a:rPr lang="en"/>
              <a:t>device, </a:t>
            </a:r>
            <a:r>
              <a:rPr b="1" lang="en">
                <a:solidFill>
                  <a:srgbClr val="0000FF"/>
                </a:solidFill>
              </a:rPr>
              <a:t>access </a:t>
            </a:r>
            <a:r>
              <a:rPr lang="en"/>
              <a:t>method, </a:t>
            </a:r>
            <a:r>
              <a:rPr b="1" lang="en">
                <a:solidFill>
                  <a:srgbClr val="0000FF"/>
                </a:solidFill>
              </a:rPr>
              <a:t>indexes</a:t>
            </a:r>
            <a:r>
              <a:rPr lang="en"/>
              <a:t>, </a:t>
            </a:r>
            <a:r>
              <a:rPr b="1" lang="en">
                <a:solidFill>
                  <a:srgbClr val="0000FF"/>
                </a:solidFill>
              </a:rPr>
              <a:t>partitions </a:t>
            </a:r>
            <a:r>
              <a:rPr lang="en"/>
              <a:t>and </a:t>
            </a:r>
            <a:r>
              <a:rPr b="1" lang="en">
                <a:solidFill>
                  <a:srgbClr val="0000FF"/>
                </a:solidFill>
              </a:rPr>
              <a:t>views</a:t>
            </a:r>
            <a:endParaRPr b="1">
              <a:solidFill>
                <a:srgbClr val="0000FF"/>
              </a:solidFill>
            </a:endParaRPr>
          </a:p>
        </p:txBody>
      </p:sp>
      <p:pic>
        <p:nvPicPr>
          <p:cNvPr id="169" name="Google Shape;169;p22"/>
          <p:cNvPicPr preferRelativeResize="0"/>
          <p:nvPr/>
        </p:nvPicPr>
        <p:blipFill>
          <a:blip r:embed="rId3">
            <a:alphaModFix/>
          </a:blip>
          <a:stretch>
            <a:fillRect/>
          </a:stretch>
        </p:blipFill>
        <p:spPr>
          <a:xfrm>
            <a:off x="5010180" y="647450"/>
            <a:ext cx="3947645" cy="3423075"/>
          </a:xfrm>
          <a:prstGeom prst="rect">
            <a:avLst/>
          </a:prstGeom>
          <a:noFill/>
          <a:ln>
            <a:noFill/>
          </a:ln>
        </p:spPr>
      </p:pic>
      <p:pic>
        <p:nvPicPr>
          <p:cNvPr id="170" name="Google Shape;170;p22"/>
          <p:cNvPicPr preferRelativeResize="0"/>
          <p:nvPr/>
        </p:nvPicPr>
        <p:blipFill>
          <a:blip r:embed="rId4">
            <a:alphaModFix/>
          </a:blip>
          <a:stretch>
            <a:fillRect/>
          </a:stretch>
        </p:blipFill>
        <p:spPr>
          <a:xfrm>
            <a:off x="1657238" y="3232400"/>
            <a:ext cx="3195675" cy="1238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Relationships &amp; ‘Modality’</a:t>
            </a:r>
            <a:endParaRPr/>
          </a:p>
        </p:txBody>
      </p:sp>
      <p:sp>
        <p:nvSpPr>
          <p:cNvPr id="176" name="Google Shape;176;p23"/>
          <p:cNvSpPr txBox="1"/>
          <p:nvPr>
            <p:ph idx="1" type="body"/>
          </p:nvPr>
        </p:nvSpPr>
        <p:spPr>
          <a:xfrm>
            <a:off x="183775" y="776275"/>
            <a:ext cx="5957400" cy="202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Modality (minimum)</a:t>
            </a:r>
            <a:endParaRPr sz="1700"/>
          </a:p>
          <a:p>
            <a:pPr indent="0" lvl="0" marL="0" rtl="0" algn="l">
              <a:spcBef>
                <a:spcPts val="0"/>
              </a:spcBef>
              <a:spcAft>
                <a:spcPts val="0"/>
              </a:spcAft>
              <a:buNone/>
            </a:pPr>
            <a:r>
              <a:rPr lang="en" sz="1700"/>
              <a:t>Modality in an ERD tells you the minimum number of times one entity must take part in a relationship.</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lang="en" sz="1700"/>
              <a:t>It answers: “Is this relationship optional (0) or mandatory (1) for this entity?”</a:t>
            </a:r>
            <a:endParaRPr sz="1700"/>
          </a:p>
        </p:txBody>
      </p:sp>
      <p:pic>
        <p:nvPicPr>
          <p:cNvPr id="177" name="Google Shape;177;p23"/>
          <p:cNvPicPr preferRelativeResize="0"/>
          <p:nvPr/>
        </p:nvPicPr>
        <p:blipFill>
          <a:blip r:embed="rId3">
            <a:alphaModFix/>
          </a:blip>
          <a:stretch>
            <a:fillRect/>
          </a:stretch>
        </p:blipFill>
        <p:spPr>
          <a:xfrm>
            <a:off x="5879374" y="108625"/>
            <a:ext cx="3148125" cy="2298900"/>
          </a:xfrm>
          <a:prstGeom prst="rect">
            <a:avLst/>
          </a:prstGeom>
          <a:noFill/>
          <a:ln>
            <a:noFill/>
          </a:ln>
        </p:spPr>
      </p:pic>
      <p:sp>
        <p:nvSpPr>
          <p:cNvPr id="178" name="Google Shape;178;p23"/>
          <p:cNvSpPr txBox="1"/>
          <p:nvPr/>
        </p:nvSpPr>
        <p:spPr>
          <a:xfrm>
            <a:off x="250200" y="2720750"/>
            <a:ext cx="85206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latin typeface="Questrial"/>
                <a:ea typeface="Questrial"/>
                <a:cs typeface="Questrial"/>
                <a:sym typeface="Questrial"/>
              </a:rPr>
              <a:t>Examples</a:t>
            </a:r>
            <a:r>
              <a:rPr lang="en" sz="1700">
                <a:latin typeface="Questrial"/>
                <a:ea typeface="Questrial"/>
                <a:cs typeface="Questrial"/>
                <a:sym typeface="Questrial"/>
              </a:rPr>
              <a:t>:</a:t>
            </a:r>
            <a:endParaRPr sz="1700">
              <a:latin typeface="Questrial"/>
              <a:ea typeface="Questrial"/>
              <a:cs typeface="Questrial"/>
              <a:sym typeface="Questrial"/>
            </a:endParaRPr>
          </a:p>
          <a:p>
            <a:pPr indent="-336550" lvl="0" marL="457200" rtl="0" algn="l">
              <a:spcBef>
                <a:spcPts val="0"/>
              </a:spcBef>
              <a:spcAft>
                <a:spcPts val="0"/>
              </a:spcAft>
              <a:buSzPts val="1700"/>
              <a:buFont typeface="Questrial"/>
              <a:buChar char="●"/>
            </a:pPr>
            <a:r>
              <a:rPr b="1" lang="en" sz="1700">
                <a:solidFill>
                  <a:srgbClr val="0000FF"/>
                </a:solidFill>
                <a:latin typeface="Questrial"/>
                <a:ea typeface="Questrial"/>
                <a:cs typeface="Questrial"/>
                <a:sym typeface="Questrial"/>
              </a:rPr>
              <a:t>Hospital system</a:t>
            </a:r>
            <a:r>
              <a:rPr lang="en" sz="1700">
                <a:latin typeface="Questrial"/>
                <a:ea typeface="Questrial"/>
                <a:cs typeface="Questrial"/>
                <a:sym typeface="Questrial"/>
              </a:rPr>
              <a:t>: A patient might </a:t>
            </a:r>
            <a:r>
              <a:rPr b="1" lang="en" sz="1700">
                <a:latin typeface="Questrial"/>
                <a:ea typeface="Questrial"/>
                <a:cs typeface="Questrial"/>
                <a:sym typeface="Questrial"/>
              </a:rPr>
              <a:t>not have any medical records</a:t>
            </a:r>
            <a:r>
              <a:rPr lang="en" sz="1700">
                <a:latin typeface="Questrial"/>
                <a:ea typeface="Questrial"/>
                <a:cs typeface="Questrial"/>
                <a:sym typeface="Questrial"/>
              </a:rPr>
              <a:t> yet (new patient or newborn), so medical records are optional for a patient (modality 0).</a:t>
            </a:r>
            <a:endParaRPr sz="1700">
              <a:latin typeface="Questrial"/>
              <a:ea typeface="Questrial"/>
              <a:cs typeface="Questrial"/>
              <a:sym typeface="Questrial"/>
            </a:endParaRPr>
          </a:p>
          <a:p>
            <a:pPr indent="-336550" lvl="0" marL="457200" rtl="0" algn="l">
              <a:spcBef>
                <a:spcPts val="0"/>
              </a:spcBef>
              <a:spcAft>
                <a:spcPts val="0"/>
              </a:spcAft>
              <a:buSzPts val="1700"/>
              <a:buFont typeface="Questrial"/>
              <a:buChar char="●"/>
            </a:pPr>
            <a:r>
              <a:rPr b="1" lang="en" sz="1700">
                <a:solidFill>
                  <a:srgbClr val="9900FF"/>
                </a:solidFill>
                <a:latin typeface="Questrial"/>
                <a:ea typeface="Questrial"/>
                <a:cs typeface="Questrial"/>
                <a:sym typeface="Questrial"/>
              </a:rPr>
              <a:t>E‑commerce</a:t>
            </a:r>
            <a:r>
              <a:rPr lang="en" sz="1700">
                <a:latin typeface="Questrial"/>
                <a:ea typeface="Questrial"/>
                <a:cs typeface="Questrial"/>
                <a:sym typeface="Questrial"/>
              </a:rPr>
              <a:t>: Every order must be linked to a </a:t>
            </a:r>
            <a:r>
              <a:rPr b="1" lang="en" sz="1700">
                <a:latin typeface="Questrial"/>
                <a:ea typeface="Questrial"/>
                <a:cs typeface="Questrial"/>
                <a:sym typeface="Questrial"/>
              </a:rPr>
              <a:t>customer</a:t>
            </a:r>
            <a:r>
              <a:rPr lang="en" sz="1700">
                <a:latin typeface="Questrial"/>
                <a:ea typeface="Questrial"/>
                <a:cs typeface="Questrial"/>
                <a:sym typeface="Questrial"/>
              </a:rPr>
              <a:t>, so the customer in the order–customer relationship is mandatory (modality 1).</a:t>
            </a:r>
            <a:endParaRPr sz="1700">
              <a:latin typeface="Questrial"/>
              <a:ea typeface="Questrial"/>
              <a:cs typeface="Questrial"/>
              <a:sym typeface="Quest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Task: Create your own DB struct.</a:t>
            </a:r>
            <a:endParaRPr/>
          </a:p>
        </p:txBody>
      </p:sp>
      <p:sp>
        <p:nvSpPr>
          <p:cNvPr id="184" name="Google Shape;184;p24"/>
          <p:cNvSpPr txBox="1"/>
          <p:nvPr>
            <p:ph idx="1" type="body"/>
          </p:nvPr>
        </p:nvSpPr>
        <p:spPr>
          <a:xfrm>
            <a:off x="183775" y="776275"/>
            <a:ext cx="49767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A library system has books and members. Using the diagram on the right for </a:t>
            </a:r>
            <a:r>
              <a:rPr lang="en" sz="2500"/>
              <a:t>assistance</a:t>
            </a:r>
            <a:r>
              <a:rPr lang="en" sz="2500"/>
              <a:t>, create a </a:t>
            </a:r>
            <a:r>
              <a:rPr b="1" lang="en" sz="2500"/>
              <a:t>two table ERD </a:t>
            </a:r>
            <a:r>
              <a:rPr lang="en" sz="2500"/>
              <a:t>with an </a:t>
            </a:r>
            <a:r>
              <a:rPr lang="en" sz="2500"/>
              <a:t>appropriate</a:t>
            </a:r>
            <a:r>
              <a:rPr lang="en" sz="2500"/>
              <a:t> relationship/modality to represent a </a:t>
            </a:r>
            <a:r>
              <a:rPr lang="en" sz="2500"/>
              <a:t>member</a:t>
            </a:r>
            <a:r>
              <a:rPr lang="en" sz="2500"/>
              <a:t> being able to loan out book(s)</a:t>
            </a:r>
            <a:endParaRPr sz="2500"/>
          </a:p>
          <a:p>
            <a:pPr indent="0" lvl="0" marL="0" rtl="0" algn="l">
              <a:spcBef>
                <a:spcPts val="0"/>
              </a:spcBef>
              <a:spcAft>
                <a:spcPts val="0"/>
              </a:spcAft>
              <a:buNone/>
            </a:pPr>
            <a:r>
              <a:rPr b="1" lang="en" sz="2500">
                <a:highlight>
                  <a:srgbClr val="00FF00"/>
                </a:highlight>
              </a:rPr>
              <a:t>EXT</a:t>
            </a:r>
            <a:r>
              <a:rPr lang="en" sz="2500"/>
              <a:t>: add a third table for borrow</a:t>
            </a:r>
            <a:endParaRPr sz="2500"/>
          </a:p>
        </p:txBody>
      </p:sp>
      <p:pic>
        <p:nvPicPr>
          <p:cNvPr id="185" name="Google Shape;185;p24"/>
          <p:cNvPicPr preferRelativeResize="0"/>
          <p:nvPr/>
        </p:nvPicPr>
        <p:blipFill>
          <a:blip r:embed="rId3">
            <a:alphaModFix/>
          </a:blip>
          <a:stretch>
            <a:fillRect/>
          </a:stretch>
        </p:blipFill>
        <p:spPr>
          <a:xfrm>
            <a:off x="5105375" y="260025"/>
            <a:ext cx="3219450" cy="2209800"/>
          </a:xfrm>
          <a:prstGeom prst="rect">
            <a:avLst/>
          </a:prstGeom>
          <a:noFill/>
          <a:ln>
            <a:noFill/>
          </a:ln>
        </p:spPr>
      </p:pic>
      <p:pic>
        <p:nvPicPr>
          <p:cNvPr id="186" name="Google Shape;186;p24"/>
          <p:cNvPicPr preferRelativeResize="0"/>
          <p:nvPr/>
        </p:nvPicPr>
        <p:blipFill>
          <a:blip r:embed="rId4">
            <a:alphaModFix/>
          </a:blip>
          <a:stretch>
            <a:fillRect/>
          </a:stretch>
        </p:blipFill>
        <p:spPr>
          <a:xfrm>
            <a:off x="5312875" y="2622225"/>
            <a:ext cx="3138078" cy="23688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A3.2.3 Data types used in relational databases</a:t>
            </a:r>
            <a:endParaRPr/>
          </a:p>
        </p:txBody>
      </p:sp>
      <p:sp>
        <p:nvSpPr>
          <p:cNvPr id="192" name="Google Shape;192;p25"/>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you guess the missing sections?</a:t>
            </a:r>
            <a:endParaRPr/>
          </a:p>
        </p:txBody>
      </p:sp>
      <p:pic>
        <p:nvPicPr>
          <p:cNvPr id="193" name="Google Shape;193;p25"/>
          <p:cNvPicPr preferRelativeResize="0"/>
          <p:nvPr/>
        </p:nvPicPr>
        <p:blipFill>
          <a:blip r:embed="rId3">
            <a:alphaModFix/>
          </a:blip>
          <a:stretch>
            <a:fillRect/>
          </a:stretch>
        </p:blipFill>
        <p:spPr>
          <a:xfrm>
            <a:off x="241000" y="1259975"/>
            <a:ext cx="8406149" cy="2851100"/>
          </a:xfrm>
          <a:prstGeom prst="rect">
            <a:avLst/>
          </a:prstGeom>
          <a:noFill/>
          <a:ln>
            <a:noFill/>
          </a:ln>
        </p:spPr>
      </p:pic>
      <p:sp>
        <p:nvSpPr>
          <p:cNvPr id="194" name="Google Shape;194;p25"/>
          <p:cNvSpPr/>
          <p:nvPr/>
        </p:nvSpPr>
        <p:spPr>
          <a:xfrm>
            <a:off x="3072100" y="2058575"/>
            <a:ext cx="50991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5" name="Google Shape;195;p25"/>
          <p:cNvSpPr/>
          <p:nvPr/>
        </p:nvSpPr>
        <p:spPr>
          <a:xfrm>
            <a:off x="416425" y="2403600"/>
            <a:ext cx="24225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6" name="Google Shape;196;p25"/>
          <p:cNvSpPr/>
          <p:nvPr/>
        </p:nvSpPr>
        <p:spPr>
          <a:xfrm>
            <a:off x="416425" y="3752200"/>
            <a:ext cx="24225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7" name="Google Shape;197;p25"/>
          <p:cNvSpPr/>
          <p:nvPr/>
        </p:nvSpPr>
        <p:spPr>
          <a:xfrm>
            <a:off x="387150" y="3382875"/>
            <a:ext cx="30414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8" name="Google Shape;198;p25"/>
          <p:cNvSpPr/>
          <p:nvPr/>
        </p:nvSpPr>
        <p:spPr>
          <a:xfrm>
            <a:off x="416425" y="2748275"/>
            <a:ext cx="24225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199" name="Google Shape;199;p25"/>
          <p:cNvSpPr/>
          <p:nvPr/>
        </p:nvSpPr>
        <p:spPr>
          <a:xfrm>
            <a:off x="416425" y="1744350"/>
            <a:ext cx="24225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
        <p:nvSpPr>
          <p:cNvPr id="200" name="Google Shape;200;p25"/>
          <p:cNvSpPr txBox="1"/>
          <p:nvPr/>
        </p:nvSpPr>
        <p:spPr>
          <a:xfrm>
            <a:off x="7076800" y="107675"/>
            <a:ext cx="1984800" cy="11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300">
                <a:solidFill>
                  <a:srgbClr val="FF0000"/>
                </a:solidFill>
                <a:latin typeface="Questrial"/>
                <a:ea typeface="Questrial"/>
                <a:cs typeface="Questrial"/>
                <a:sym typeface="Questrial"/>
              </a:rPr>
              <a:t>Word Bank: Boolean, Time, Date, Integer, VarChar, Real</a:t>
            </a:r>
            <a:endParaRPr i="1" sz="1300">
              <a:solidFill>
                <a:srgbClr val="FF0000"/>
              </a:solidFill>
              <a:latin typeface="Questrial"/>
              <a:ea typeface="Questrial"/>
              <a:cs typeface="Questrial"/>
              <a:sym typeface="Questrial"/>
            </a:endParaRPr>
          </a:p>
        </p:txBody>
      </p:sp>
      <p:sp>
        <p:nvSpPr>
          <p:cNvPr id="201" name="Google Shape;201;p25"/>
          <p:cNvSpPr/>
          <p:nvPr/>
        </p:nvSpPr>
        <p:spPr>
          <a:xfrm>
            <a:off x="387150" y="3077900"/>
            <a:ext cx="3273000" cy="25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Questrial"/>
              <a:ea typeface="Questrial"/>
              <a:cs typeface="Questrial"/>
              <a:sym typeface="Quest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6"/>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A3.2.3 Data types used in relational databases</a:t>
            </a:r>
            <a:endParaRPr/>
          </a:p>
        </p:txBody>
      </p:sp>
      <p:sp>
        <p:nvSpPr>
          <p:cNvPr id="207" name="Google Shape;207;p26"/>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See if you can complete the table yourself first…</a:t>
            </a:r>
            <a:endParaRPr/>
          </a:p>
        </p:txBody>
      </p:sp>
      <p:pic>
        <p:nvPicPr>
          <p:cNvPr id="208" name="Google Shape;208;p26"/>
          <p:cNvPicPr preferRelativeResize="0"/>
          <p:nvPr/>
        </p:nvPicPr>
        <p:blipFill>
          <a:blip r:embed="rId3">
            <a:alphaModFix/>
          </a:blip>
          <a:stretch>
            <a:fillRect/>
          </a:stretch>
        </p:blipFill>
        <p:spPr>
          <a:xfrm>
            <a:off x="241000" y="1259975"/>
            <a:ext cx="8406149" cy="28511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Picking the right type</a:t>
            </a:r>
            <a:endParaRPr/>
          </a:p>
        </p:txBody>
      </p:sp>
      <p:sp>
        <p:nvSpPr>
          <p:cNvPr id="214" name="Google Shape;214;p27"/>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Choosing the right data type helps the database work faster and avoid errors. It affects how data is stored, what operations are allowed, and whether the same data stays consistent across systems.</a:t>
            </a:r>
            <a:endParaRPr sz="2000"/>
          </a:p>
          <a:p>
            <a:pPr indent="0" lvl="0" marL="0" rtl="0" algn="l">
              <a:spcBef>
                <a:spcPts val="0"/>
              </a:spcBef>
              <a:spcAft>
                <a:spcPts val="0"/>
              </a:spcAft>
              <a:buNone/>
            </a:pPr>
            <a:r>
              <a:rPr lang="en" sz="2000"/>
              <a:t>​</a:t>
            </a:r>
            <a:endParaRPr sz="2000"/>
          </a:p>
          <a:p>
            <a:pPr indent="0" lvl="0" marL="0" rtl="0" algn="l">
              <a:spcBef>
                <a:spcPts val="0"/>
              </a:spcBef>
              <a:spcAft>
                <a:spcPts val="0"/>
              </a:spcAft>
              <a:buNone/>
            </a:pPr>
            <a:r>
              <a:rPr lang="en" sz="2000"/>
              <a:t>Pick the correct data type so the database can:</a:t>
            </a:r>
            <a:endParaRPr sz="2000"/>
          </a:p>
          <a:p>
            <a:pPr indent="-355600" lvl="0" marL="457200" rtl="0" algn="l">
              <a:spcBef>
                <a:spcPts val="0"/>
              </a:spcBef>
              <a:spcAft>
                <a:spcPts val="0"/>
              </a:spcAft>
              <a:buSzPts val="2000"/>
              <a:buAutoNum type="arabicPeriod"/>
            </a:pPr>
            <a:r>
              <a:rPr lang="en" sz="2000"/>
              <a:t>Store data efficiently.</a:t>
            </a:r>
            <a:endParaRPr sz="2000"/>
          </a:p>
          <a:p>
            <a:pPr indent="-355600" lvl="0" marL="457200" rtl="0" algn="l">
              <a:spcBef>
                <a:spcPts val="0"/>
              </a:spcBef>
              <a:spcAft>
                <a:spcPts val="0"/>
              </a:spcAft>
              <a:buSzPts val="2000"/>
              <a:buAutoNum type="arabicPeriod"/>
            </a:pPr>
            <a:r>
              <a:rPr lang="en" sz="2000"/>
              <a:t>Run queries quickly.</a:t>
            </a:r>
            <a:endParaRPr sz="2000"/>
          </a:p>
          <a:p>
            <a:pPr indent="-355600" lvl="0" marL="457200" rtl="0" algn="l">
              <a:spcBef>
                <a:spcPts val="0"/>
              </a:spcBef>
              <a:spcAft>
                <a:spcPts val="0"/>
              </a:spcAft>
              <a:buSzPts val="2000"/>
              <a:buAutoNum type="arabicPeriod"/>
            </a:pPr>
            <a:r>
              <a:rPr lang="en" sz="2000"/>
              <a:t>Do calculations correctly.</a:t>
            </a:r>
            <a:endParaRPr sz="2000"/>
          </a:p>
          <a:p>
            <a:pPr indent="-355600" lvl="0" marL="457200" rtl="0" algn="l">
              <a:spcBef>
                <a:spcPts val="0"/>
              </a:spcBef>
              <a:spcAft>
                <a:spcPts val="0"/>
              </a:spcAft>
              <a:buSzPts val="2000"/>
              <a:buAutoNum type="arabicPeriod"/>
            </a:pPr>
            <a:r>
              <a:rPr lang="en" sz="2000"/>
              <a:t>Keep data consistent between database and applications.</a:t>
            </a:r>
            <a:endParaRPr sz="2000"/>
          </a:p>
          <a:p>
            <a:pPr indent="0" lvl="0" marL="0" rtl="0" algn="l">
              <a:spcBef>
                <a:spcPts val="0"/>
              </a:spcBef>
              <a:spcAft>
                <a:spcPts val="0"/>
              </a:spcAft>
              <a:buNone/>
            </a:pPr>
            <a:r>
              <a:rPr lang="en" sz="2000"/>
              <a:t>​</a:t>
            </a:r>
            <a:endParaRPr sz="2000"/>
          </a:p>
        </p:txBody>
      </p:sp>
      <p:pic>
        <p:nvPicPr>
          <p:cNvPr id="215" name="Google Shape;215;p27"/>
          <p:cNvPicPr preferRelativeResize="0"/>
          <p:nvPr/>
        </p:nvPicPr>
        <p:blipFill>
          <a:blip r:embed="rId3">
            <a:alphaModFix/>
          </a:blip>
          <a:stretch>
            <a:fillRect/>
          </a:stretch>
        </p:blipFill>
        <p:spPr>
          <a:xfrm>
            <a:off x="6835475" y="1571200"/>
            <a:ext cx="2084801" cy="20848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8"/>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Efficiency and speed</a:t>
            </a:r>
            <a:endParaRPr/>
          </a:p>
        </p:txBody>
      </p:sp>
      <p:sp>
        <p:nvSpPr>
          <p:cNvPr id="221" name="Google Shape;221;p28"/>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Fixed-length types (like CHARACTER(8)) are faster to index and search than variable-length types (like VARCHAR(8)) for data that is always the same length (for example, UserID). Using VARCHAR in this case can make queries slower.</a:t>
            </a:r>
            <a:endParaRPr sz="2400"/>
          </a:p>
          <a:p>
            <a:pPr indent="0" lvl="0" marL="0" rtl="0" algn="l">
              <a:spcBef>
                <a:spcPts val="0"/>
              </a:spcBef>
              <a:spcAft>
                <a:spcPts val="0"/>
              </a:spcAft>
              <a:buNone/>
            </a:pPr>
            <a:r>
              <a:rPr lang="en" sz="2400"/>
              <a:t>​</a:t>
            </a:r>
            <a:endParaRPr sz="2400"/>
          </a:p>
          <a:p>
            <a:pPr indent="0" lvl="0" marL="0" rtl="0" algn="l">
              <a:spcBef>
                <a:spcPts val="0"/>
              </a:spcBef>
              <a:spcAft>
                <a:spcPts val="0"/>
              </a:spcAft>
              <a:buNone/>
            </a:pPr>
            <a:r>
              <a:rPr lang="en" sz="2400"/>
              <a:t>Efficient data types help the database handle large amounts of data without wasting space or time.</a:t>
            </a:r>
            <a:endParaRPr sz="2400"/>
          </a:p>
        </p:txBody>
      </p:sp>
      <p:pic>
        <p:nvPicPr>
          <p:cNvPr id="222" name="Google Shape;222;p28"/>
          <p:cNvPicPr preferRelativeResize="0"/>
          <p:nvPr/>
        </p:nvPicPr>
        <p:blipFill>
          <a:blip r:embed="rId3">
            <a:alphaModFix/>
          </a:blip>
          <a:stretch>
            <a:fillRect/>
          </a:stretch>
        </p:blipFill>
        <p:spPr>
          <a:xfrm>
            <a:off x="7559450" y="3369975"/>
            <a:ext cx="1433625" cy="1433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 What operations are allowed</a:t>
            </a:r>
            <a:endParaRPr/>
          </a:p>
        </p:txBody>
      </p:sp>
      <p:sp>
        <p:nvSpPr>
          <p:cNvPr id="228" name="Google Shape;228;p29"/>
          <p:cNvSpPr txBox="1"/>
          <p:nvPr>
            <p:ph idx="1" type="body"/>
          </p:nvPr>
        </p:nvSpPr>
        <p:spPr>
          <a:xfrm>
            <a:off x="183775" y="776275"/>
            <a:ext cx="79458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The data type decides what you can do with the data. For example, if </a:t>
            </a:r>
            <a:r>
              <a:rPr b="1" lang="en" sz="2400">
                <a:solidFill>
                  <a:srgbClr val="4A86E8"/>
                </a:solidFill>
              </a:rPr>
              <a:t>quantity </a:t>
            </a:r>
            <a:r>
              <a:rPr lang="en" sz="2400"/>
              <a:t>and</a:t>
            </a:r>
            <a:r>
              <a:rPr b="1" lang="en" sz="2400">
                <a:solidFill>
                  <a:srgbClr val="4A86E8"/>
                </a:solidFill>
              </a:rPr>
              <a:t> price </a:t>
            </a:r>
            <a:r>
              <a:rPr lang="en" sz="2400"/>
              <a:t>are stored as </a:t>
            </a:r>
            <a:r>
              <a:rPr b="1" lang="en" sz="2400">
                <a:solidFill>
                  <a:srgbClr val="4A86E8"/>
                </a:solidFill>
              </a:rPr>
              <a:t>text</a:t>
            </a:r>
            <a:r>
              <a:rPr lang="en" sz="2400"/>
              <a:t>, you </a:t>
            </a:r>
            <a:r>
              <a:rPr b="1" lang="en" sz="2400">
                <a:solidFill>
                  <a:srgbClr val="FF0000"/>
                </a:solidFill>
              </a:rPr>
              <a:t>cannot </a:t>
            </a:r>
            <a:r>
              <a:rPr lang="en" sz="2400"/>
              <a:t>calculate totals directly in the database.</a:t>
            </a:r>
            <a:endParaRPr sz="2400"/>
          </a:p>
          <a:p>
            <a:pPr indent="0" lvl="0" marL="0" rtl="0" algn="l">
              <a:spcBef>
                <a:spcPts val="0"/>
              </a:spcBef>
              <a:spcAft>
                <a:spcPts val="0"/>
              </a:spcAft>
              <a:buNone/>
            </a:pPr>
            <a:r>
              <a:rPr lang="en" sz="2400"/>
              <a:t>​</a:t>
            </a:r>
            <a:endParaRPr sz="2400"/>
          </a:p>
          <a:p>
            <a:pPr indent="0" lvl="0" marL="0" rtl="0" algn="l">
              <a:spcBef>
                <a:spcPts val="0"/>
              </a:spcBef>
              <a:spcAft>
                <a:spcPts val="0"/>
              </a:spcAft>
              <a:buNone/>
            </a:pPr>
            <a:r>
              <a:rPr lang="en" sz="2400"/>
              <a:t>To do calculations, the application must first </a:t>
            </a:r>
            <a:r>
              <a:rPr b="1" lang="en" sz="2400">
                <a:solidFill>
                  <a:srgbClr val="0000FF"/>
                </a:solidFill>
              </a:rPr>
              <a:t>convert the text</a:t>
            </a:r>
            <a:r>
              <a:rPr lang="en" sz="2400"/>
              <a:t> to </a:t>
            </a:r>
            <a:r>
              <a:rPr b="1" lang="en" sz="2400">
                <a:solidFill>
                  <a:srgbClr val="9900FF"/>
                </a:solidFill>
              </a:rPr>
              <a:t>integer </a:t>
            </a:r>
            <a:r>
              <a:rPr lang="en" sz="2400"/>
              <a:t>or </a:t>
            </a:r>
            <a:r>
              <a:rPr b="1" lang="en" sz="2400">
                <a:solidFill>
                  <a:srgbClr val="9900FF"/>
                </a:solidFill>
              </a:rPr>
              <a:t>real </a:t>
            </a:r>
            <a:r>
              <a:rPr lang="en" sz="2400"/>
              <a:t>numbers, which adds extra work and complexity.</a:t>
            </a:r>
            <a:endParaRPr sz="2400"/>
          </a:p>
        </p:txBody>
      </p:sp>
      <p:pic>
        <p:nvPicPr>
          <p:cNvPr id="229" name="Google Shape;229;p29"/>
          <p:cNvPicPr preferRelativeResize="0"/>
          <p:nvPr/>
        </p:nvPicPr>
        <p:blipFill>
          <a:blip r:embed="rId3">
            <a:alphaModFix/>
          </a:blip>
          <a:stretch>
            <a:fillRect/>
          </a:stretch>
        </p:blipFill>
        <p:spPr>
          <a:xfrm>
            <a:off x="3611225" y="3346003"/>
            <a:ext cx="3702474" cy="10560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 Avoiding errors when inserting data</a:t>
            </a:r>
            <a:endParaRPr/>
          </a:p>
        </p:txBody>
      </p:sp>
      <p:sp>
        <p:nvSpPr>
          <p:cNvPr id="235" name="Google Shape;235;p30"/>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The value you insert </a:t>
            </a:r>
            <a:r>
              <a:rPr b="1" lang="en" sz="2500">
                <a:solidFill>
                  <a:srgbClr val="0000FF"/>
                </a:solidFill>
              </a:rPr>
              <a:t>must match </a:t>
            </a:r>
            <a:r>
              <a:rPr lang="en" sz="2500"/>
              <a:t>the field’s data type, or the database will reject it and show an error.</a:t>
            </a:r>
            <a:endParaRPr sz="2500"/>
          </a:p>
          <a:p>
            <a:pPr indent="0" lvl="0" marL="0" rtl="0" algn="l">
              <a:spcBef>
                <a:spcPts val="0"/>
              </a:spcBef>
              <a:spcAft>
                <a:spcPts val="0"/>
              </a:spcAft>
              <a:buNone/>
            </a:pPr>
            <a:r>
              <a:rPr lang="en" sz="2500"/>
              <a:t>​</a:t>
            </a:r>
            <a:endParaRPr sz="2500"/>
          </a:p>
          <a:p>
            <a:pPr indent="0" lvl="0" marL="0" rtl="0" algn="l">
              <a:spcBef>
                <a:spcPts val="0"/>
              </a:spcBef>
              <a:spcAft>
                <a:spcPts val="0"/>
              </a:spcAft>
              <a:buNone/>
            </a:pPr>
            <a:r>
              <a:rPr lang="en" sz="2500"/>
              <a:t>Using </a:t>
            </a:r>
            <a:r>
              <a:rPr b="1" lang="en" sz="2500">
                <a:solidFill>
                  <a:srgbClr val="9900FF"/>
                </a:solidFill>
              </a:rPr>
              <a:t>appropriate data types</a:t>
            </a:r>
            <a:r>
              <a:rPr lang="en" sz="2500"/>
              <a:t> ensures that data can be stored </a:t>
            </a:r>
            <a:r>
              <a:rPr b="1" lang="en" sz="2500"/>
              <a:t>correctly </a:t>
            </a:r>
            <a:r>
              <a:rPr lang="en" sz="2500"/>
              <a:t>in the right fields.</a:t>
            </a:r>
            <a:endParaRPr sz="2500"/>
          </a:p>
          <a:p>
            <a:pPr indent="0" lvl="0" marL="0" rtl="0" algn="l">
              <a:spcBef>
                <a:spcPts val="0"/>
              </a:spcBef>
              <a:spcAft>
                <a:spcPts val="0"/>
              </a:spcAft>
              <a:buNone/>
            </a:pPr>
            <a:r>
              <a:t/>
            </a:r>
            <a:endParaRPr sz="2500"/>
          </a:p>
        </p:txBody>
      </p:sp>
      <p:pic>
        <p:nvPicPr>
          <p:cNvPr id="236" name="Google Shape;236;p30"/>
          <p:cNvPicPr preferRelativeResize="0"/>
          <p:nvPr/>
        </p:nvPicPr>
        <p:blipFill>
          <a:blip r:embed="rId3">
            <a:alphaModFix/>
          </a:blip>
          <a:stretch>
            <a:fillRect/>
          </a:stretch>
        </p:blipFill>
        <p:spPr>
          <a:xfrm>
            <a:off x="5309650" y="2697075"/>
            <a:ext cx="2677924" cy="1682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1"/>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 Data consistency across systems</a:t>
            </a:r>
            <a:endParaRPr/>
          </a:p>
        </p:txBody>
      </p:sp>
      <p:sp>
        <p:nvSpPr>
          <p:cNvPr id="242" name="Google Shape;242;p31"/>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Data consistency means all copies of the data are </a:t>
            </a:r>
            <a:r>
              <a:rPr b="1" lang="en" sz="2500">
                <a:solidFill>
                  <a:srgbClr val="0000FF"/>
                </a:solidFill>
              </a:rPr>
              <a:t>accurate </a:t>
            </a:r>
            <a:r>
              <a:rPr lang="en" sz="2500"/>
              <a:t>and </a:t>
            </a:r>
            <a:r>
              <a:rPr b="1" lang="en" sz="2500">
                <a:solidFill>
                  <a:srgbClr val="0000FF"/>
                </a:solidFill>
              </a:rPr>
              <a:t>up to date</a:t>
            </a:r>
            <a:r>
              <a:rPr lang="en" sz="2500"/>
              <a:t> across all tables and systems.</a:t>
            </a:r>
            <a:endParaRPr sz="2500"/>
          </a:p>
          <a:p>
            <a:pPr indent="0" lvl="0" marL="0" rtl="0" algn="l">
              <a:spcBef>
                <a:spcPts val="0"/>
              </a:spcBef>
              <a:spcAft>
                <a:spcPts val="0"/>
              </a:spcAft>
              <a:buNone/>
            </a:pPr>
            <a:r>
              <a:rPr lang="en" sz="2500"/>
              <a:t>​</a:t>
            </a:r>
            <a:endParaRPr sz="2500"/>
          </a:p>
          <a:p>
            <a:pPr indent="0" lvl="0" marL="0" rtl="0" algn="l">
              <a:spcBef>
                <a:spcPts val="0"/>
              </a:spcBef>
              <a:spcAft>
                <a:spcPts val="0"/>
              </a:spcAft>
              <a:buNone/>
            </a:pPr>
            <a:r>
              <a:rPr lang="en" sz="2500"/>
              <a:t>If different systems (database vs application) use different data types for the same attribute, problems can happen, such as </a:t>
            </a:r>
            <a:r>
              <a:rPr b="1" lang="en" sz="2500">
                <a:solidFill>
                  <a:srgbClr val="FF0000"/>
                </a:solidFill>
              </a:rPr>
              <a:t>not </a:t>
            </a:r>
            <a:r>
              <a:rPr lang="en" sz="2500"/>
              <a:t>being able to use </a:t>
            </a:r>
            <a:r>
              <a:rPr b="1" lang="en" sz="2500">
                <a:solidFill>
                  <a:srgbClr val="9900FF"/>
                </a:solidFill>
              </a:rPr>
              <a:t>certain operations</a:t>
            </a:r>
            <a:r>
              <a:rPr lang="en" sz="2500"/>
              <a:t>.</a:t>
            </a:r>
            <a:endParaRPr sz="25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when answering questions</a:t>
            </a:r>
            <a:endParaRPr/>
          </a:p>
        </p:txBody>
      </p:sp>
      <p:sp>
        <p:nvSpPr>
          <p:cNvPr id="248" name="Google Shape;248;p32"/>
          <p:cNvSpPr txBox="1"/>
          <p:nvPr>
            <p:ph idx="1" type="body"/>
          </p:nvPr>
        </p:nvSpPr>
        <p:spPr>
          <a:xfrm>
            <a:off x="183775" y="776275"/>
            <a:ext cx="8520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249" name="Google Shape;249;p32"/>
          <p:cNvPicPr preferRelativeResize="0"/>
          <p:nvPr/>
        </p:nvPicPr>
        <p:blipFill>
          <a:blip r:embed="rId3">
            <a:alphaModFix/>
          </a:blip>
          <a:stretch>
            <a:fillRect/>
          </a:stretch>
        </p:blipFill>
        <p:spPr>
          <a:xfrm>
            <a:off x="224500" y="815538"/>
            <a:ext cx="8439150" cy="1838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3"/>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Independent Work</a:t>
            </a:r>
            <a:endParaRPr/>
          </a:p>
        </p:txBody>
      </p:sp>
      <p:sp>
        <p:nvSpPr>
          <p:cNvPr id="255" name="Google Shape;255;p33"/>
          <p:cNvSpPr txBox="1"/>
          <p:nvPr>
            <p:ph idx="1" type="body"/>
          </p:nvPr>
        </p:nvSpPr>
        <p:spPr>
          <a:xfrm>
            <a:off x="157450" y="797325"/>
            <a:ext cx="45186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It’s your turn. Work through your booklet starting with Section A and moving through to Section B</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 sz="1900"/>
              <a:t>Section C is a reflection and extension section. Only complete the extension if you finished all other tasks. Complete the </a:t>
            </a:r>
            <a:r>
              <a:rPr lang="en" sz="1900"/>
              <a:t>evaluation</a:t>
            </a:r>
            <a:r>
              <a:rPr lang="en" sz="1900"/>
              <a:t> at the end of the lesson, or at home.</a:t>
            </a:r>
            <a:endParaRPr sz="1900"/>
          </a:p>
        </p:txBody>
      </p:sp>
      <p:pic>
        <p:nvPicPr>
          <p:cNvPr id="256" name="Google Shape;256;p33"/>
          <p:cNvPicPr preferRelativeResize="0"/>
          <p:nvPr/>
        </p:nvPicPr>
        <p:blipFill>
          <a:blip r:embed="rId3">
            <a:alphaModFix/>
          </a:blip>
          <a:stretch>
            <a:fillRect/>
          </a:stretch>
        </p:blipFill>
        <p:spPr>
          <a:xfrm>
            <a:off x="5138947" y="549925"/>
            <a:ext cx="3710874" cy="2766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82800" y="7475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Plenary: </a:t>
            </a:r>
            <a:endParaRPr/>
          </a:p>
        </p:txBody>
      </p:sp>
      <p:sp>
        <p:nvSpPr>
          <p:cNvPr id="262" name="Google Shape;262;p34"/>
          <p:cNvSpPr txBox="1"/>
          <p:nvPr>
            <p:ph idx="1" type="body"/>
          </p:nvPr>
        </p:nvSpPr>
        <p:spPr>
          <a:xfrm>
            <a:off x="183775" y="776275"/>
            <a:ext cx="7574100" cy="333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500"/>
              <a:t>1. Name the 3 types of database schemas.</a:t>
            </a:r>
            <a:endParaRPr sz="1500"/>
          </a:p>
          <a:p>
            <a:pPr indent="0" lvl="0" marL="0" rtl="0" algn="l">
              <a:spcBef>
                <a:spcPts val="1000"/>
              </a:spcBef>
              <a:spcAft>
                <a:spcPts val="0"/>
              </a:spcAft>
              <a:buClr>
                <a:schemeClr val="dk2"/>
              </a:buClr>
              <a:buSzPts val="1100"/>
              <a:buFont typeface="Arial"/>
              <a:buNone/>
            </a:pPr>
            <a:r>
              <a:rPr lang="en" sz="1500"/>
              <a:t>2. What does a conceptual schema show? Give an example of </a:t>
            </a:r>
            <a:br>
              <a:rPr lang="en" sz="1500"/>
            </a:br>
            <a:r>
              <a:rPr lang="en" sz="1500"/>
              <a:t>how it is represented.</a:t>
            </a:r>
            <a:endParaRPr sz="1500"/>
          </a:p>
          <a:p>
            <a:pPr indent="0" lvl="0" marL="0" rtl="0" algn="l">
              <a:spcBef>
                <a:spcPts val="1000"/>
              </a:spcBef>
              <a:spcAft>
                <a:spcPts val="0"/>
              </a:spcAft>
              <a:buClr>
                <a:schemeClr val="dk2"/>
              </a:buClr>
              <a:buSzPts val="1100"/>
              <a:buFont typeface="Arial"/>
              <a:buNone/>
            </a:pPr>
            <a:r>
              <a:rPr lang="en" sz="1500"/>
              <a:t>3. What is a logical schema derived from, and what does it define?</a:t>
            </a:r>
            <a:endParaRPr sz="1500"/>
          </a:p>
          <a:p>
            <a:pPr indent="0" lvl="0" marL="0" rtl="0" algn="l">
              <a:spcBef>
                <a:spcPts val="1000"/>
              </a:spcBef>
              <a:spcAft>
                <a:spcPts val="0"/>
              </a:spcAft>
              <a:buClr>
                <a:schemeClr val="dk2"/>
              </a:buClr>
              <a:buSzPts val="1100"/>
              <a:buFont typeface="Arial"/>
              <a:buNone/>
            </a:pPr>
            <a:r>
              <a:rPr lang="en" sz="1500"/>
              <a:t>4. Name 4 data types used in relational databases.</a:t>
            </a:r>
            <a:endParaRPr sz="1500"/>
          </a:p>
          <a:p>
            <a:pPr indent="0" lvl="0" marL="0" rtl="0" algn="l">
              <a:spcBef>
                <a:spcPts val="1000"/>
              </a:spcBef>
              <a:spcAft>
                <a:spcPts val="0"/>
              </a:spcAft>
              <a:buClr>
                <a:schemeClr val="dk2"/>
              </a:buClr>
              <a:buSzPts val="1100"/>
              <a:buFont typeface="Arial"/>
              <a:buNone/>
            </a:pPr>
            <a:r>
              <a:rPr lang="en" sz="1500"/>
              <a:t>5. Why is choosing the correct data type important? Give TWO reasons.</a:t>
            </a:r>
            <a:endParaRPr sz="1500"/>
          </a:p>
          <a:p>
            <a:pPr indent="0" lvl="0" marL="0" rtl="0" algn="l">
              <a:spcBef>
                <a:spcPts val="1000"/>
              </a:spcBef>
              <a:spcAft>
                <a:spcPts val="0"/>
              </a:spcAft>
              <a:buClr>
                <a:schemeClr val="dk2"/>
              </a:buClr>
              <a:buSzPts val="1100"/>
              <a:buFont typeface="Arial"/>
              <a:buNone/>
            </a:pPr>
            <a:r>
              <a:rPr lang="en" sz="1500"/>
              <a:t>6. A field stores a product price such as 9.99 — which data type should be used?</a:t>
            </a:r>
            <a:endParaRPr sz="1500"/>
          </a:p>
          <a:p>
            <a:pPr indent="0" lvl="0" marL="0" rtl="0" algn="l">
              <a:spcBef>
                <a:spcPts val="1000"/>
              </a:spcBef>
              <a:spcAft>
                <a:spcPts val="0"/>
              </a:spcAft>
              <a:buClr>
                <a:schemeClr val="dk2"/>
              </a:buClr>
              <a:buSzPts val="1100"/>
              <a:buFont typeface="Arial"/>
              <a:buNone/>
            </a:pPr>
            <a:r>
              <a:rPr lang="en" sz="1500"/>
              <a:t>7. What is the difference between CHAR and VARCHAR?</a:t>
            </a:r>
            <a:endParaRPr sz="1500"/>
          </a:p>
          <a:p>
            <a:pPr indent="0" lvl="0" marL="0" rtl="0" algn="l">
              <a:spcBef>
                <a:spcPts val="1000"/>
              </a:spcBef>
              <a:spcAft>
                <a:spcPts val="0"/>
              </a:spcAft>
              <a:buNone/>
            </a:pPr>
            <a:r>
              <a:t/>
            </a:r>
            <a:endParaRPr sz="1500"/>
          </a:p>
        </p:txBody>
      </p:sp>
      <p:sp>
        <p:nvSpPr>
          <p:cNvPr id="263" name="Google Shape;263;p34"/>
          <p:cNvSpPr txBox="1"/>
          <p:nvPr/>
        </p:nvSpPr>
        <p:spPr>
          <a:xfrm>
            <a:off x="5830725" y="148850"/>
            <a:ext cx="3171300" cy="2008800"/>
          </a:xfrm>
          <a:prstGeom prst="rect">
            <a:avLst/>
          </a:prstGeom>
          <a:solidFill>
            <a:schemeClr val="dk1"/>
          </a:solidFill>
          <a:ln cap="flat" cmpd="sng" w="28575">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2"/>
              </a:buClr>
              <a:buSzPts val="1100"/>
              <a:buFont typeface="Arial"/>
              <a:buNone/>
            </a:pPr>
            <a:r>
              <a:rPr lang="en" sz="1500">
                <a:solidFill>
                  <a:schemeClr val="dk2"/>
                </a:solidFill>
                <a:latin typeface="Questrial"/>
                <a:ea typeface="Questrial"/>
                <a:cs typeface="Questrial"/>
                <a:sym typeface="Questrial"/>
              </a:rPr>
              <a:t>⭐ Exit Ticket:</a:t>
            </a:r>
            <a:endParaRPr sz="15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Clr>
                <a:schemeClr val="dk2"/>
              </a:buClr>
              <a:buSzPts val="1100"/>
              <a:buFont typeface="Arial"/>
              <a:buNone/>
            </a:pPr>
            <a:r>
              <a:rPr lang="en" sz="1500">
                <a:solidFill>
                  <a:schemeClr val="dk2"/>
                </a:solidFill>
                <a:latin typeface="Questrial"/>
                <a:ea typeface="Questrial"/>
                <a:cs typeface="Questrial"/>
                <a:sym typeface="Questrial"/>
              </a:rPr>
              <a:t>On a scale of 1-5, how confident are you in identifying and applying the correct data types and schemas in a relational database?</a:t>
            </a:r>
            <a:endParaRPr sz="15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Clr>
                <a:schemeClr val="dk2"/>
              </a:buClr>
              <a:buSzPts val="1100"/>
              <a:buFont typeface="Arial"/>
              <a:buNone/>
            </a:pPr>
            <a:r>
              <a:rPr lang="en" sz="1500">
                <a:solidFill>
                  <a:schemeClr val="dk2"/>
                </a:solidFill>
                <a:latin typeface="Questrial"/>
                <a:ea typeface="Questrial"/>
                <a:cs typeface="Questrial"/>
                <a:sym typeface="Questrial"/>
              </a:rPr>
              <a:t>1 □  2 □  3 □  4 □  5 □</a:t>
            </a:r>
            <a:endParaRPr sz="1500">
              <a:solidFill>
                <a:schemeClr val="dk2"/>
              </a:solidFill>
              <a:latin typeface="Questrial"/>
              <a:ea typeface="Questrial"/>
              <a:cs typeface="Questrial"/>
              <a:sym typeface="Questrial"/>
            </a:endParaRPr>
          </a:p>
          <a:p>
            <a:pPr indent="0" lvl="0" marL="0" rtl="0" algn="l">
              <a:lnSpc>
                <a:spcPct val="115000"/>
              </a:lnSpc>
              <a:spcBef>
                <a:spcPts val="0"/>
              </a:spcBef>
              <a:spcAft>
                <a:spcPts val="0"/>
              </a:spcAft>
              <a:buNone/>
            </a:pPr>
            <a:r>
              <a:t/>
            </a:r>
            <a:endParaRPr sz="1500">
              <a:solidFill>
                <a:schemeClr val="dk2"/>
              </a:solidFill>
              <a:latin typeface="Questrial"/>
              <a:ea typeface="Questrial"/>
              <a:cs typeface="Questrial"/>
              <a:sym typeface="Quest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F9D58"/>
      </a:accent4>
      <a:accent5>
        <a:srgbClr val="01AFD1"/>
      </a:accent5>
      <a:accent6>
        <a:srgbClr val="9C27B0"/>
      </a:accent6>
      <a:hlink>
        <a:srgbClr val="01AFD1"/>
      </a:hlink>
      <a:folHlink>
        <a:srgbClr val="01AFD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