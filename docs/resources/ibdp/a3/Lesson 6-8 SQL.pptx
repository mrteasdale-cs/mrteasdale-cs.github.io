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797675" cy="9929800"/>
  <p:embeddedFontLst>
    <p:embeddedFont>
      <p:font typeface="Playfair Display"/>
      <p:regular r:id="rId64"/>
      <p:bold r:id="rId65"/>
      <p:italic r:id="rId66"/>
      <p:boldItalic r:id="rId67"/>
    </p:embeddedFont>
    <p:embeddedFont>
      <p:font typeface="Montserrat"/>
      <p:regular r:id="rId68"/>
      <p:bold r:id="rId69"/>
      <p:italic r:id="rId70"/>
      <p:boldItalic r:id="rId71"/>
    </p:embeddedFont>
    <p:embeddedFont>
      <p:font typeface="Oswald"/>
      <p:regular r:id="rId72"/>
      <p:bold r:id="rId73"/>
    </p:embeddedFont>
    <p:embeddedFont>
      <p:font typeface="Roboto Mono"/>
      <p:regular r:id="rId74"/>
      <p:bold r:id="rId75"/>
      <p:italic r:id="rId76"/>
      <p:boldItalic r:id="rId77"/>
    </p:embeddedFont>
    <p:embeddedFont>
      <p:font typeface="Questrial"/>
      <p:regular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344A4C-0A25-4AE6-97F8-B57DEE62A804}">
  <a:tblStyle styleId="{37344A4C-0A25-4AE6-97F8-B57DEE62A80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Oswald-bold.fntdata"/><Relationship Id="rId72" Type="http://schemas.openxmlformats.org/officeDocument/2006/relationships/font" Target="fonts/Oswald-regular.fntdata"/><Relationship Id="rId31" Type="http://schemas.openxmlformats.org/officeDocument/2006/relationships/slide" Target="slides/slide26.xml"/><Relationship Id="rId75" Type="http://schemas.openxmlformats.org/officeDocument/2006/relationships/font" Target="fonts/RobotoMono-bold.fntdata"/><Relationship Id="rId30" Type="http://schemas.openxmlformats.org/officeDocument/2006/relationships/slide" Target="slides/slide25.xml"/><Relationship Id="rId74" Type="http://schemas.openxmlformats.org/officeDocument/2006/relationships/font" Target="fonts/RobotoMono-regular.fntdata"/><Relationship Id="rId33" Type="http://schemas.openxmlformats.org/officeDocument/2006/relationships/slide" Target="slides/slide28.xml"/><Relationship Id="rId77" Type="http://schemas.openxmlformats.org/officeDocument/2006/relationships/font" Target="fonts/RobotoMono-boldItalic.fntdata"/><Relationship Id="rId32" Type="http://schemas.openxmlformats.org/officeDocument/2006/relationships/slide" Target="slides/slide27.xml"/><Relationship Id="rId76" Type="http://schemas.openxmlformats.org/officeDocument/2006/relationships/font" Target="fonts/RobotoMono-italic.fntdata"/><Relationship Id="rId35" Type="http://schemas.openxmlformats.org/officeDocument/2006/relationships/slide" Target="slides/slide30.xml"/><Relationship Id="rId34" Type="http://schemas.openxmlformats.org/officeDocument/2006/relationships/slide" Target="slides/slide29.xml"/><Relationship Id="rId78" Type="http://schemas.openxmlformats.org/officeDocument/2006/relationships/font" Target="fonts/Questrial-regular.fntdata"/><Relationship Id="rId71" Type="http://schemas.openxmlformats.org/officeDocument/2006/relationships/font" Target="fonts/Montserrat-boldItalic.fntdata"/><Relationship Id="rId70" Type="http://schemas.openxmlformats.org/officeDocument/2006/relationships/font" Target="fonts/Montserrat-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PlayfairDisplay-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PlayfairDisplay-italic.fntdata"/><Relationship Id="rId21" Type="http://schemas.openxmlformats.org/officeDocument/2006/relationships/slide" Target="slides/slide16.xml"/><Relationship Id="rId65" Type="http://schemas.openxmlformats.org/officeDocument/2006/relationships/font" Target="fonts/PlayfairDisplay-bold.fntdata"/><Relationship Id="rId24" Type="http://schemas.openxmlformats.org/officeDocument/2006/relationships/slide" Target="slides/slide19.xml"/><Relationship Id="rId68" Type="http://schemas.openxmlformats.org/officeDocument/2006/relationships/font" Target="fonts/Montserrat-regular.fntdata"/><Relationship Id="rId23" Type="http://schemas.openxmlformats.org/officeDocument/2006/relationships/slide" Target="slides/slide18.xml"/><Relationship Id="rId67" Type="http://schemas.openxmlformats.org/officeDocument/2006/relationships/font" Target="fonts/PlayfairDisplay-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9768" y="4716661"/>
            <a:ext cx="5438140" cy="4468416"/>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535ad6ed2_0_16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535ad6ed2_0_16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c5313b79cf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7" name="Google Shape;47;g3c5313b79cf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c5313b79cf_2_7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g3c5313b79cf_2_73:notes"/>
          <p:cNvSpPr txBox="1"/>
          <p:nvPr>
            <p:ph idx="1" type="body"/>
          </p:nvPr>
        </p:nvSpPr>
        <p:spPr>
          <a:xfrm>
            <a:off x="679768" y="4716661"/>
            <a:ext cx="5438100" cy="446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6771bbf57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6771bbf57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c2b53f46e_0_1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c2b53f46e_0_1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c2b53f46e_0_2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c2b53f46e_0_2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c2b53f46e_0_3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c2b53f46e_0_3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c2b53f46e_0_4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c2b53f46e_0_4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6771bbf57_0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6771bbf57_0_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c2b53f46e_0_5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c2b53f46e_0_5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c2b53f46e_0_7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c2b53f46e_0_7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c2b53f46e_0_6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c2b53f46e_0_6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c2b53f46e_0_1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c2b53f46e_0_1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c2b53f46e_0_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c2b53f46e_0_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c2b53f46e_0_5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c2b53f46e_0_5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c2b53f46e_0_8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c2b53f46e_0_8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c2b53f46e_0_9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c2b53f46e_0_9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c2b53f46e_0_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c2b53f46e_0_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c2b53f46e_0_11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c2b53f46e_0_11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c2b53f46e_0_11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c2b53f46e_0_11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01b28fc27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01b28fc27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7bebe1cc4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7bebe1cc4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7bebe1cc4_0_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e7bebe1cc4_0_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7bebe1cc4_0_2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7bebe1cc4_0_2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7bebe1cc4_0_1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7bebe1cc4_0_1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7bebe1cc4_0_3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7bebe1cc4_0_3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7bebe1cc4_0_4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7bebe1cc4_0_4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e7bebe1cc4_0_7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e7bebe1cc4_0_7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7bebe1cc4_0_5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e7bebe1cc4_0_5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7bebe1cc4_0_6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7bebe1cc4_0_6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7bebe1cc4_0_7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e7bebe1cc4_0_7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7bebe1cc4_0_9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e7bebe1cc4_0_9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7bebe1cc4_0_9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e7bebe1cc4_0_9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e7bebe1cc4_0_10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e7bebe1cc4_0_10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7bebe1cc4_0_11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e7bebe1cc4_0_11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c2b53f46e_0_10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c2b53f46e_0_10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535ad6ed2_0_1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535ad6ed2_0_13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928859ba2_1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e928859ba2_1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928859ba2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928859ba2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e928859ba2_0_1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e928859ba2_0_1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214b3dab4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214b3dab4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214b3dab4_0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e214b3dab4_0_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214b3dab4_0_3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e214b3dab4_0_3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214b3dab4_0_4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e214b3dab4_0_4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214b3dab4_0_5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214b3dab4_0_5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928859ba2_0_1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e928859ba2_0_1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928859ba2_0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e928859ba2_0_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928859ba2_1_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g3e928859ba2_1_4:notes"/>
          <p:cNvSpPr txBox="1"/>
          <p:nvPr>
            <p:ph idx="1" type="body"/>
          </p:nvPr>
        </p:nvSpPr>
        <p:spPr>
          <a:xfrm>
            <a:off x="679768" y="4716661"/>
            <a:ext cx="5438100" cy="446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928859ba2_0_2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928859ba2_0_2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928859ba2_0_2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e928859ba2_0_2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928859ba2_0_3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e928859ba2_0_3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928859ba2_0_4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928859ba2_0_4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928859ba2_0_4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928859ba2_0_4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928859ba2_0_5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928859ba2_0_5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e928859ba2_1_1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e928859ba2_1_1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928859ba2_1_1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e928859ba2_1_1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e928859ba2_1_2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e928859ba2_1_2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928859ba2_1_2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928859ba2_1_2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4358475" y="0"/>
            <a:ext cx="3853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800"/>
              <a:buFont typeface="Questrial"/>
              <a:buNone/>
              <a:defRPr b="1" sz="6800">
                <a:latin typeface="Questrial"/>
                <a:ea typeface="Questrial"/>
                <a:cs typeface="Questrial"/>
                <a:sym typeface="Questrial"/>
              </a:defRPr>
            </a:lvl1pPr>
            <a:lvl2pPr lvl="1"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 name="Shape 15"/>
        <p:cNvGrpSpPr/>
        <p:nvPr/>
      </p:nvGrpSpPr>
      <p:grpSpPr>
        <a:xfrm>
          <a:off x="0" y="0"/>
          <a:ext cx="0" cy="0"/>
          <a:chOff x="0" y="0"/>
          <a:chExt cx="0" cy="0"/>
        </a:xfrm>
      </p:grpSpPr>
      <p:sp>
        <p:nvSpPr>
          <p:cNvPr id="16" name="Google Shape;16;p3"/>
          <p:cNvSpPr/>
          <p:nvPr/>
        </p:nvSpPr>
        <p:spPr>
          <a:xfrm>
            <a:off x="4216950" y="-75"/>
            <a:ext cx="4927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 name="Google Shape;17;p3"/>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18" name="Google Shape;18;p3"/>
          <p:cNvSpPr txBox="1"/>
          <p:nvPr>
            <p:ph type="title"/>
          </p:nvPr>
        </p:nvSpPr>
        <p:spPr>
          <a:xfrm>
            <a:off x="265500" y="802791"/>
            <a:ext cx="3748500" cy="178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 name="Google Shape;19;p3"/>
          <p:cNvSpPr txBox="1"/>
          <p:nvPr>
            <p:ph idx="1" type="subTitle"/>
          </p:nvPr>
        </p:nvSpPr>
        <p:spPr>
          <a:xfrm>
            <a:off x="265500" y="2717925"/>
            <a:ext cx="3807900" cy="154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 name="Google Shape;20;p3"/>
          <p:cNvSpPr txBox="1"/>
          <p:nvPr>
            <p:ph idx="2" type="body"/>
          </p:nvPr>
        </p:nvSpPr>
        <p:spPr>
          <a:xfrm>
            <a:off x="4310700" y="724200"/>
            <a:ext cx="46221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highlight>
                  <a:schemeClr val="lt1"/>
                </a:highlight>
              </a:defRPr>
            </a:lvl1pPr>
            <a:lvl2pPr indent="-317500" lvl="1" marL="914400" algn="l">
              <a:lnSpc>
                <a:spcPct val="115000"/>
              </a:lnSpc>
              <a:spcBef>
                <a:spcPts val="1600"/>
              </a:spcBef>
              <a:spcAft>
                <a:spcPts val="0"/>
              </a:spcAft>
              <a:buSzPts val="1400"/>
              <a:buChar char="○"/>
              <a:defRPr>
                <a:highlight>
                  <a:schemeClr val="lt1"/>
                </a:highlight>
              </a:defRPr>
            </a:lvl2pPr>
            <a:lvl3pPr indent="-317500" lvl="2" marL="1371600" algn="l">
              <a:lnSpc>
                <a:spcPct val="115000"/>
              </a:lnSpc>
              <a:spcBef>
                <a:spcPts val="1600"/>
              </a:spcBef>
              <a:spcAft>
                <a:spcPts val="0"/>
              </a:spcAft>
              <a:buSzPts val="1400"/>
              <a:buChar char="■"/>
              <a:defRPr>
                <a:highlight>
                  <a:schemeClr val="lt1"/>
                </a:highlight>
              </a:defRPr>
            </a:lvl3pPr>
            <a:lvl4pPr indent="-317500" lvl="3" marL="1828800" algn="l">
              <a:lnSpc>
                <a:spcPct val="115000"/>
              </a:lnSpc>
              <a:spcBef>
                <a:spcPts val="1600"/>
              </a:spcBef>
              <a:spcAft>
                <a:spcPts val="0"/>
              </a:spcAft>
              <a:buSzPts val="1400"/>
              <a:buChar char="●"/>
              <a:defRPr>
                <a:highlight>
                  <a:schemeClr val="lt1"/>
                </a:highlight>
              </a:defRPr>
            </a:lvl4pPr>
            <a:lvl5pPr indent="-317500" lvl="4" marL="2286000" algn="l">
              <a:lnSpc>
                <a:spcPct val="115000"/>
              </a:lnSpc>
              <a:spcBef>
                <a:spcPts val="1600"/>
              </a:spcBef>
              <a:spcAft>
                <a:spcPts val="0"/>
              </a:spcAft>
              <a:buSzPts val="1400"/>
              <a:buChar char="○"/>
              <a:defRPr>
                <a:highlight>
                  <a:schemeClr val="lt1"/>
                </a:highlight>
              </a:defRPr>
            </a:lvl5pPr>
            <a:lvl6pPr indent="-317500" lvl="5" marL="2743200" algn="l">
              <a:lnSpc>
                <a:spcPct val="115000"/>
              </a:lnSpc>
              <a:spcBef>
                <a:spcPts val="1600"/>
              </a:spcBef>
              <a:spcAft>
                <a:spcPts val="0"/>
              </a:spcAft>
              <a:buSzPts val="1400"/>
              <a:buChar char="■"/>
              <a:defRPr>
                <a:highlight>
                  <a:schemeClr val="lt1"/>
                </a:highlight>
              </a:defRPr>
            </a:lvl6pPr>
            <a:lvl7pPr indent="-317500" lvl="6" marL="3200400" algn="l">
              <a:lnSpc>
                <a:spcPct val="115000"/>
              </a:lnSpc>
              <a:spcBef>
                <a:spcPts val="1600"/>
              </a:spcBef>
              <a:spcAft>
                <a:spcPts val="0"/>
              </a:spcAft>
              <a:buSzPts val="1400"/>
              <a:buChar char="●"/>
              <a:defRPr>
                <a:highlight>
                  <a:schemeClr val="lt1"/>
                </a:highlight>
              </a:defRPr>
            </a:lvl7pPr>
            <a:lvl8pPr indent="-317500" lvl="7" marL="3657600" algn="l">
              <a:lnSpc>
                <a:spcPct val="115000"/>
              </a:lnSpc>
              <a:spcBef>
                <a:spcPts val="1600"/>
              </a:spcBef>
              <a:spcAft>
                <a:spcPts val="0"/>
              </a:spcAft>
              <a:buSzPts val="1400"/>
              <a:buChar char="○"/>
              <a:defRPr>
                <a:highlight>
                  <a:schemeClr val="lt1"/>
                </a:highlight>
              </a:defRPr>
            </a:lvl8pPr>
            <a:lvl9pPr indent="-317500" lvl="8" marL="4114800" algn="l">
              <a:lnSpc>
                <a:spcPct val="115000"/>
              </a:lnSpc>
              <a:spcBef>
                <a:spcPts val="1600"/>
              </a:spcBef>
              <a:spcAft>
                <a:spcPts val="1600"/>
              </a:spcAft>
              <a:buSzPts val="1400"/>
              <a:buChar char="■"/>
              <a:defRPr>
                <a:highlight>
                  <a:schemeClr val="lt1"/>
                </a:highlight>
              </a:defRPr>
            </a:lvl9pPr>
          </a:lstStyle>
          <a:p/>
        </p:txBody>
      </p:sp>
      <p:sp>
        <p:nvSpPr>
          <p:cNvPr id="21" name="Google Shape;21;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82800" y="74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4" name="Google Shape;24;p4"/>
          <p:cNvSpPr txBox="1"/>
          <p:nvPr>
            <p:ph idx="1" type="body"/>
          </p:nvPr>
        </p:nvSpPr>
        <p:spPr>
          <a:xfrm>
            <a:off x="183775" y="776275"/>
            <a:ext cx="8520600" cy="3334800"/>
          </a:xfrm>
          <a:prstGeom prst="rect">
            <a:avLst/>
          </a:prstGeom>
          <a:noFill/>
          <a:ln>
            <a:noFill/>
          </a:ln>
        </p:spPr>
        <p:txBody>
          <a:bodyPr anchorCtr="0" anchor="t" bIns="91425" lIns="91425" spcFirstLastPara="1" rIns="91425" wrap="square" tIns="91425">
            <a:noAutofit/>
          </a:bodyPr>
          <a:lstStyle>
            <a:lvl1pPr indent="-374650" lvl="0" marL="457200" algn="l">
              <a:lnSpc>
                <a:spcPct val="115000"/>
              </a:lnSpc>
              <a:spcBef>
                <a:spcPts val="0"/>
              </a:spcBef>
              <a:spcAft>
                <a:spcPts val="0"/>
              </a:spcAft>
              <a:buSzPts val="2300"/>
              <a:buChar char="●"/>
              <a:defRPr sz="23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04800" y="4611905"/>
            <a:ext cx="8520600" cy="5910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160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Define the key terms of normalisation, including atomicity, unique identification, functional, partial-key and explain how they relate to data integrity. </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Apply the rules of 1NF, 2NF, and 3NF to identify and resolve normalisation issues such as data duplication</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Evaluate the trade-offs between normalisation and denormalisation</a:t>
            </a:r>
            <a:endParaRPr sz="800">
              <a:solidFill>
                <a:schemeClr val="lt1"/>
              </a:solidFill>
              <a:highlight>
                <a:schemeClr val="dk2"/>
              </a:highlight>
              <a:latin typeface="Questrial"/>
              <a:ea typeface="Questrial"/>
              <a:cs typeface="Questrial"/>
              <a:sym typeface="Quest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5"/>
        </a:solidFill>
      </p:bgPr>
    </p:bg>
    <p:spTree>
      <p:nvGrpSpPr>
        <p:cNvPr id="27" name="Shape 27"/>
        <p:cNvGrpSpPr/>
        <p:nvPr/>
      </p:nvGrpSpPr>
      <p:grpSpPr>
        <a:xfrm>
          <a:off x="0" y="0"/>
          <a:ext cx="0" cy="0"/>
          <a:chOff x="0" y="0"/>
          <a:chExt cx="0" cy="0"/>
        </a:xfrm>
      </p:grpSpPr>
      <p:sp>
        <p:nvSpPr>
          <p:cNvPr id="28" name="Google Shape;28;p5"/>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txBox="1"/>
          <p:nvPr>
            <p:ph type="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Font typeface="Questrial"/>
              <a:buNone/>
              <a:defRPr b="1" sz="4800">
                <a:latin typeface="Questrial"/>
                <a:ea typeface="Questrial"/>
                <a:cs typeface="Questrial"/>
                <a:sym typeface="Questrial"/>
              </a:defRPr>
            </a:lvl1pPr>
            <a:lvl2pPr lvl="1"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30" name="Google Shape;30;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6"/>
          <p:cNvSpPr txBox="1"/>
          <p:nvPr>
            <p:ph idx="1" type="body"/>
          </p:nvPr>
        </p:nvSpPr>
        <p:spPr>
          <a:xfrm>
            <a:off x="3117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6"/>
          <p:cNvSpPr txBox="1"/>
          <p:nvPr>
            <p:ph idx="2" type="body"/>
          </p:nvPr>
        </p:nvSpPr>
        <p:spPr>
          <a:xfrm>
            <a:off x="48324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 name="Google Shape;38;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Questrial"/>
              <a:buChar char="●"/>
              <a:defRPr b="0" i="0" sz="1800" u="none" cap="none" strike="noStrike">
                <a:solidFill>
                  <a:schemeClr val="dk2"/>
                </a:solidFill>
                <a:latin typeface="Questrial"/>
                <a:ea typeface="Questrial"/>
                <a:cs typeface="Questrial"/>
                <a:sym typeface="Questrial"/>
              </a:defRPr>
            </a:lvl1pPr>
            <a:lvl2pPr indent="-317500" lvl="1" marL="914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2pPr>
            <a:lvl3pPr indent="-317500" lvl="2" marL="1371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3pPr>
            <a:lvl4pPr indent="-317500" lvl="3" marL="18288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4pPr>
            <a:lvl5pPr indent="-317500" lvl="4" marL="22860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5pPr>
            <a:lvl6pPr indent="-317500" lvl="5" marL="27432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6pPr>
            <a:lvl7pPr indent="-317500" lvl="6" marL="3200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7pPr>
            <a:lvl8pPr indent="-317500" lvl="7" marL="3657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8pPr>
            <a:lvl9pPr indent="-317500" lvl="8" marL="4114800" marR="0" rtl="0" algn="l">
              <a:lnSpc>
                <a:spcPct val="115000"/>
              </a:lnSpc>
              <a:spcBef>
                <a:spcPts val="1600"/>
              </a:spcBef>
              <a:spcAft>
                <a:spcPts val="160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w3schools.com/sql/sql_insert.asp" TargetMode="External"/><Relationship Id="rId4" Type="http://schemas.openxmlformats.org/officeDocument/2006/relationships/image" Target="../media/image9.png"/><Relationship Id="rId5"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www.w3schools.com/sql/sql_update.asp" TargetMode="Externa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8"/>
          <p:cNvSpPr txBox="1"/>
          <p:nvPr>
            <p:ph type="ctr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Lesson 6-8 SQL</a:t>
            </a:r>
            <a:endParaRPr/>
          </a:p>
        </p:txBody>
      </p:sp>
      <p:sp>
        <p:nvSpPr>
          <p:cNvPr id="44" name="Google Shape;44;p8"/>
          <p:cNvSpPr txBox="1"/>
          <p:nvPr>
            <p:ph idx="1" type="subTitle"/>
          </p:nvPr>
        </p:nvSpPr>
        <p:spPr>
          <a:xfrm>
            <a:off x="344250" y="3550650"/>
            <a:ext cx="49101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A3.3 Database Programming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L6 - </a:t>
            </a:r>
            <a:r>
              <a:rPr lang="en" sz="2800"/>
              <a:t>Syllabus Links</a:t>
            </a:r>
            <a:endParaRPr sz="2800"/>
          </a:p>
        </p:txBody>
      </p:sp>
      <p:sp>
        <p:nvSpPr>
          <p:cNvPr id="50" name="Google Shape;50;p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2100"/>
              <a:t>A3.3.2 Construct queries between two tables in SQL.</a:t>
            </a:r>
            <a:endParaRPr b="1" sz="2100"/>
          </a:p>
          <a:p>
            <a:pPr indent="-361950" lvl="0" marL="457200" rtl="0" algn="l">
              <a:spcBef>
                <a:spcPts val="1200"/>
              </a:spcBef>
              <a:spcAft>
                <a:spcPts val="0"/>
              </a:spcAft>
              <a:buClr>
                <a:schemeClr val="dk2"/>
              </a:buClr>
              <a:buSzPts val="2100"/>
              <a:buFont typeface="Questrial"/>
              <a:buChar char="●"/>
            </a:pPr>
            <a:r>
              <a:rPr lang="en" sz="2100"/>
              <a:t>Queries must include joins, relational operators, filtering, pattern matching, and ordering data</a:t>
            </a:r>
            <a:endParaRPr sz="2100"/>
          </a:p>
          <a:p>
            <a:pPr indent="-361950" lvl="0" marL="457200" rtl="0" algn="l">
              <a:spcBef>
                <a:spcPts val="0"/>
              </a:spcBef>
              <a:spcAft>
                <a:spcPts val="0"/>
              </a:spcAft>
              <a:buClr>
                <a:schemeClr val="dk2"/>
              </a:buClr>
              <a:buSzPts val="2100"/>
              <a:buFont typeface="Questrial"/>
              <a:buChar char="●"/>
            </a:pPr>
            <a:r>
              <a:rPr lang="en" sz="2100"/>
              <a:t>SQL commands: SELECT, DISTINCT, FROM, WHERE, BETWEEN, ORDER BY, GROUP BY, HAVING, ASC, DESC, JOIN, LIKE with % wildcard, AND, OR, NOT (note: Syntax may vary in different database systems)</a:t>
            </a:r>
            <a:endParaRPr sz="2100"/>
          </a:p>
          <a:p>
            <a:pPr indent="0" lvl="0" marL="0" rtl="0" algn="l">
              <a:spcBef>
                <a:spcPts val="1200"/>
              </a:spcBef>
              <a:spcAft>
                <a:spcPts val="1500"/>
              </a:spcAft>
              <a:buNone/>
            </a:pPr>
            <a:r>
              <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0"/>
          <p:cNvSpPr txBox="1"/>
          <p:nvPr>
            <p:ph idx="2" type="body"/>
          </p:nvPr>
        </p:nvSpPr>
        <p:spPr>
          <a:xfrm>
            <a:off x="4310700" y="426100"/>
            <a:ext cx="4622100" cy="4203600"/>
          </a:xfrm>
          <a:prstGeom prst="rect">
            <a:avLst/>
          </a:prstGeom>
          <a:noFill/>
          <a:ln>
            <a:noFill/>
          </a:ln>
        </p:spPr>
        <p:txBody>
          <a:bodyPr anchorCtr="0" anchor="ctr" bIns="91425" lIns="91425" spcFirstLastPara="1" rIns="91425" wrap="square" tIns="91425">
            <a:noAutofit/>
          </a:bodyPr>
          <a:lstStyle/>
          <a:p>
            <a:pPr indent="0" lvl="0" marL="0" rtl="0" algn="l">
              <a:spcBef>
                <a:spcPts val="1600"/>
              </a:spcBef>
              <a:spcAft>
                <a:spcPts val="0"/>
              </a:spcAft>
              <a:buNone/>
            </a:pPr>
            <a:r>
              <a:rPr lang="en" sz="2100">
                <a:solidFill>
                  <a:srgbClr val="FFFFFF"/>
                </a:solidFill>
                <a:highlight>
                  <a:srgbClr val="000000"/>
                </a:highlight>
              </a:rPr>
              <a:t>By the end of this lesson you will be able to</a:t>
            </a:r>
            <a:endParaRPr sz="2100">
              <a:solidFill>
                <a:srgbClr val="FFFFFF"/>
              </a:solidFill>
              <a:highlight>
                <a:srgbClr val="000000"/>
              </a:highlight>
            </a:endParaRPr>
          </a:p>
          <a:p>
            <a:pPr indent="-361950" lvl="0" marL="457200" rtl="0" algn="l">
              <a:spcBef>
                <a:spcPts val="1600"/>
              </a:spcBef>
              <a:spcAft>
                <a:spcPts val="0"/>
              </a:spcAft>
              <a:buClr>
                <a:srgbClr val="FFFFFF"/>
              </a:buClr>
              <a:buSzPts val="2100"/>
              <a:buAutoNum type="arabicPeriod"/>
            </a:pPr>
            <a:r>
              <a:rPr lang="en" sz="2100">
                <a:solidFill>
                  <a:srgbClr val="FFFFFF"/>
                </a:solidFill>
                <a:highlight>
                  <a:srgbClr val="000000"/>
                </a:highlight>
              </a:rPr>
              <a:t>Outline the differences between DDL and DML in SQL</a:t>
            </a:r>
            <a:endParaRPr sz="2100">
              <a:solidFill>
                <a:srgbClr val="FFFFFF"/>
              </a:solidFill>
              <a:highlight>
                <a:srgbClr val="000000"/>
              </a:highlight>
            </a:endParaRPr>
          </a:p>
          <a:p>
            <a:pPr indent="-361950" lvl="0" marL="457200" rtl="0" algn="l">
              <a:spcBef>
                <a:spcPts val="0"/>
              </a:spcBef>
              <a:spcAft>
                <a:spcPts val="0"/>
              </a:spcAft>
              <a:buClr>
                <a:srgbClr val="FFFFFF"/>
              </a:buClr>
              <a:buSzPts val="2100"/>
              <a:buAutoNum type="arabicPeriod"/>
            </a:pPr>
            <a:r>
              <a:rPr lang="en" sz="2100">
                <a:solidFill>
                  <a:srgbClr val="FFFFFF"/>
                </a:solidFill>
                <a:highlight>
                  <a:srgbClr val="000000"/>
                </a:highlight>
              </a:rPr>
              <a:t>Identify key SQL DDL statements and their purpose</a:t>
            </a:r>
            <a:endParaRPr sz="2100">
              <a:solidFill>
                <a:srgbClr val="FFFFFF"/>
              </a:solidFill>
              <a:highlight>
                <a:srgbClr val="000000"/>
              </a:highlight>
            </a:endParaRPr>
          </a:p>
          <a:p>
            <a:pPr indent="-361950" lvl="0" marL="457200" rtl="0" algn="l">
              <a:spcBef>
                <a:spcPts val="0"/>
              </a:spcBef>
              <a:spcAft>
                <a:spcPts val="0"/>
              </a:spcAft>
              <a:buClr>
                <a:srgbClr val="FFFFFF"/>
              </a:buClr>
              <a:buSzPts val="2100"/>
              <a:buAutoNum type="arabicPeriod"/>
            </a:pPr>
            <a:r>
              <a:rPr lang="en" sz="2100">
                <a:solidFill>
                  <a:srgbClr val="FFFFFF"/>
                </a:solidFill>
                <a:highlight>
                  <a:srgbClr val="000000"/>
                </a:highlight>
              </a:rPr>
              <a:t>Construct SQL DDL statements to define and modify database structures</a:t>
            </a:r>
            <a:endParaRPr sz="2100">
              <a:solidFill>
                <a:srgbClr val="FFFFFF"/>
              </a:solidFill>
              <a:highlight>
                <a:srgbClr val="000000"/>
              </a:highlight>
            </a:endParaRPr>
          </a:p>
        </p:txBody>
      </p:sp>
      <p:sp>
        <p:nvSpPr>
          <p:cNvPr id="56" name="Google Shape;56;p10"/>
          <p:cNvSpPr txBox="1"/>
          <p:nvPr>
            <p:ph type="title"/>
          </p:nvPr>
        </p:nvSpPr>
        <p:spPr>
          <a:xfrm>
            <a:off x="265500" y="802800"/>
            <a:ext cx="3748500" cy="2817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4200"/>
              <a:buNone/>
            </a:pPr>
            <a:r>
              <a:rPr lang="en" sz="4000"/>
              <a:t>Lesson 6</a:t>
            </a:r>
            <a:endParaRPr sz="4000"/>
          </a:p>
          <a:p>
            <a:pPr indent="0" lvl="0" marL="0" rtl="0" algn="ctr">
              <a:lnSpc>
                <a:spcPct val="115000"/>
              </a:lnSpc>
              <a:spcBef>
                <a:spcPts val="0"/>
              </a:spcBef>
              <a:spcAft>
                <a:spcPts val="0"/>
              </a:spcAft>
              <a:buSzPts val="4200"/>
              <a:buNone/>
            </a:pPr>
            <a:r>
              <a:rPr lang="en" sz="4000"/>
              <a:t>SQL</a:t>
            </a:r>
            <a:endParaRPr sz="4000"/>
          </a:p>
        </p:txBody>
      </p:sp>
      <p:pic>
        <p:nvPicPr>
          <p:cNvPr id="57" name="Google Shape;57;p10"/>
          <p:cNvPicPr preferRelativeResize="0"/>
          <p:nvPr/>
        </p:nvPicPr>
        <p:blipFill>
          <a:blip r:embed="rId3">
            <a:alphaModFix/>
          </a:blip>
          <a:stretch>
            <a:fillRect/>
          </a:stretch>
        </p:blipFill>
        <p:spPr>
          <a:xfrm>
            <a:off x="87100" y="80175"/>
            <a:ext cx="4063850" cy="1289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 of prior learning - Normal Forms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 Forms</a:t>
            </a:r>
            <a:endParaRPr/>
          </a:p>
        </p:txBody>
      </p:sp>
      <p:sp>
        <p:nvSpPr>
          <p:cNvPr id="68" name="Google Shape;68;p1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12"/>
          <p:cNvPicPr preferRelativeResize="0"/>
          <p:nvPr/>
        </p:nvPicPr>
        <p:blipFill>
          <a:blip r:embed="rId3">
            <a:alphaModFix/>
          </a:blip>
          <a:stretch>
            <a:fillRect/>
          </a:stretch>
        </p:blipFill>
        <p:spPr>
          <a:xfrm>
            <a:off x="100013" y="1547813"/>
            <a:ext cx="8943975" cy="2047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 Spot the Problem (THINK PAIR SHARE)</a:t>
            </a:r>
            <a:endParaRPr/>
          </a:p>
        </p:txBody>
      </p:sp>
      <p:sp>
        <p:nvSpPr>
          <p:cNvPr id="75" name="Google Shape;75;p1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wrong with this table?</a:t>
            </a:r>
            <a:endParaRPr/>
          </a:p>
          <a:p>
            <a:pPr indent="0" lvl="0" marL="0" rtl="0" algn="l">
              <a:spcBef>
                <a:spcPts val="0"/>
              </a:spcBef>
              <a:spcAft>
                <a:spcPts val="0"/>
              </a:spcAft>
              <a:buNone/>
            </a:pPr>
            <a:r>
              <a:t/>
            </a:r>
            <a:endParaRPr/>
          </a:p>
        </p:txBody>
      </p:sp>
      <p:pic>
        <p:nvPicPr>
          <p:cNvPr id="76" name="Google Shape;76;p13"/>
          <p:cNvPicPr preferRelativeResize="0"/>
          <p:nvPr/>
        </p:nvPicPr>
        <p:blipFill>
          <a:blip r:embed="rId3">
            <a:alphaModFix/>
          </a:blip>
          <a:stretch>
            <a:fillRect/>
          </a:stretch>
        </p:blipFill>
        <p:spPr>
          <a:xfrm>
            <a:off x="1160850" y="1364350"/>
            <a:ext cx="6822300" cy="1553800"/>
          </a:xfrm>
          <a:prstGeom prst="rect">
            <a:avLst/>
          </a:prstGeom>
          <a:noFill/>
          <a:ln>
            <a:noFill/>
          </a:ln>
        </p:spPr>
      </p:pic>
      <p:sp>
        <p:nvSpPr>
          <p:cNvPr id="77" name="Google Shape;77;p13"/>
          <p:cNvSpPr txBox="1"/>
          <p:nvPr/>
        </p:nvSpPr>
        <p:spPr>
          <a:xfrm>
            <a:off x="6432700" y="828250"/>
            <a:ext cx="23937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Questrial"/>
                <a:ea typeface="Questrial"/>
                <a:cs typeface="Questrial"/>
                <a:sym typeface="Questrial"/>
              </a:rPr>
              <a:t>Worksheet task 2</a:t>
            </a:r>
            <a:endParaRPr sz="1800">
              <a:solidFill>
                <a:schemeClr val="dk2"/>
              </a:solidFill>
              <a:latin typeface="Questrial"/>
              <a:ea typeface="Questrial"/>
              <a:cs typeface="Questrial"/>
              <a:sym typeface="Questrial"/>
            </a:endParaRPr>
          </a:p>
        </p:txBody>
      </p:sp>
      <p:sp>
        <p:nvSpPr>
          <p:cNvPr id="78" name="Google Shape;78;p13"/>
          <p:cNvSpPr txBox="1"/>
          <p:nvPr/>
        </p:nvSpPr>
        <p:spPr>
          <a:xfrm>
            <a:off x="573875" y="3141126"/>
            <a:ext cx="5602200" cy="1200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SzPts val="2200"/>
              <a:buFont typeface="Questrial"/>
              <a:buAutoNum type="arabicPeriod"/>
            </a:pPr>
            <a:r>
              <a:rPr lang="en" sz="2200">
                <a:latin typeface="Questrial"/>
                <a:ea typeface="Questrial"/>
                <a:cs typeface="Questrial"/>
                <a:sym typeface="Questrial"/>
              </a:rPr>
              <a:t>Which normal form does this satisfy?</a:t>
            </a:r>
            <a:endParaRPr sz="2200">
              <a:latin typeface="Questrial"/>
              <a:ea typeface="Questrial"/>
              <a:cs typeface="Questrial"/>
              <a:sym typeface="Questrial"/>
            </a:endParaRPr>
          </a:p>
          <a:p>
            <a:pPr indent="-368300" lvl="0" marL="457200" rtl="0" algn="l">
              <a:spcBef>
                <a:spcPts val="0"/>
              </a:spcBef>
              <a:spcAft>
                <a:spcPts val="0"/>
              </a:spcAft>
              <a:buSzPts val="2200"/>
              <a:buFont typeface="Questrial"/>
              <a:buAutoNum type="arabicPeriod"/>
            </a:pPr>
            <a:r>
              <a:rPr lang="en" sz="2200">
                <a:latin typeface="Questrial"/>
                <a:ea typeface="Questrial"/>
                <a:cs typeface="Questrial"/>
                <a:sym typeface="Questrial"/>
              </a:rPr>
              <a:t>What is the dependency problem?</a:t>
            </a:r>
            <a:endParaRPr sz="2200">
              <a:latin typeface="Questrial"/>
              <a:ea typeface="Questrial"/>
              <a:cs typeface="Questrial"/>
              <a:sym typeface="Questrial"/>
            </a:endParaRPr>
          </a:p>
          <a:p>
            <a:pPr indent="-368300" lvl="0" marL="457200" rtl="0" algn="l">
              <a:spcBef>
                <a:spcPts val="0"/>
              </a:spcBef>
              <a:spcAft>
                <a:spcPts val="0"/>
              </a:spcAft>
              <a:buSzPts val="2200"/>
              <a:buFont typeface="Questrial"/>
              <a:buAutoNum type="arabicPeriod"/>
            </a:pPr>
            <a:r>
              <a:rPr lang="en" sz="2200">
                <a:latin typeface="Questrial"/>
                <a:ea typeface="Questrial"/>
                <a:cs typeface="Questrial"/>
                <a:sym typeface="Questrial"/>
              </a:rPr>
              <a:t>How would you fix it?</a:t>
            </a:r>
            <a:endParaRPr sz="2200">
              <a:latin typeface="Questrial"/>
              <a:ea typeface="Questrial"/>
              <a:cs typeface="Questrial"/>
              <a:sym typeface="Quest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 ANSWER</a:t>
            </a:r>
            <a:endParaRPr/>
          </a:p>
        </p:txBody>
      </p:sp>
      <p:sp>
        <p:nvSpPr>
          <p:cNvPr id="84" name="Google Shape;84;p1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700"/>
              <a:t>The Problem: Transitive Dependency</a:t>
            </a:r>
            <a:endParaRPr b="1" sz="1700"/>
          </a:p>
          <a:p>
            <a:pPr indent="-336550" lvl="0" marL="457200" rtl="0" algn="l">
              <a:spcBef>
                <a:spcPts val="1200"/>
              </a:spcBef>
              <a:spcAft>
                <a:spcPts val="0"/>
              </a:spcAft>
              <a:buSzPts val="1700"/>
              <a:buFont typeface="Arial"/>
              <a:buChar char="●"/>
            </a:pPr>
            <a:r>
              <a:rPr lang="en" sz="1700">
                <a:solidFill>
                  <a:srgbClr val="188038"/>
                </a:solidFill>
              </a:rPr>
              <a:t>CustomerName</a:t>
            </a:r>
            <a:r>
              <a:rPr lang="en" sz="1700"/>
              <a:t> and </a:t>
            </a:r>
            <a:r>
              <a:rPr lang="en" sz="1700">
                <a:solidFill>
                  <a:srgbClr val="188038"/>
                </a:solidFill>
              </a:rPr>
              <a:t>CustomerCity</a:t>
            </a:r>
            <a:r>
              <a:rPr lang="en" sz="1700"/>
              <a:t> depend on </a:t>
            </a:r>
            <a:r>
              <a:rPr lang="en" sz="1700">
                <a:solidFill>
                  <a:srgbClr val="188038"/>
                </a:solidFill>
              </a:rPr>
              <a:t>CustomerID</a:t>
            </a:r>
            <a:r>
              <a:rPr lang="en" sz="1700"/>
              <a:t>, not on </a:t>
            </a:r>
            <a:r>
              <a:rPr lang="en" sz="1700">
                <a:solidFill>
                  <a:srgbClr val="188038"/>
                </a:solidFill>
              </a:rPr>
              <a:t>OrderID</a:t>
            </a:r>
            <a:r>
              <a:rPr lang="en" sz="1700"/>
              <a:t> (the primary key)</a:t>
            </a:r>
            <a:endParaRPr sz="1700"/>
          </a:p>
          <a:p>
            <a:pPr indent="-336550" lvl="0" marL="457200" rtl="0" algn="l">
              <a:spcBef>
                <a:spcPts val="0"/>
              </a:spcBef>
              <a:spcAft>
                <a:spcPts val="0"/>
              </a:spcAft>
              <a:buSzPts val="1700"/>
              <a:buFont typeface="Questrial"/>
              <a:buChar char="●"/>
            </a:pPr>
            <a:r>
              <a:rPr lang="en" sz="1700"/>
              <a:t>This is a transitive dependency — violates 3NF</a:t>
            </a:r>
            <a:endParaRPr sz="1700"/>
          </a:p>
          <a:p>
            <a:pPr indent="0" lvl="0" marL="0" rtl="0" algn="l">
              <a:spcBef>
                <a:spcPts val="1200"/>
              </a:spcBef>
              <a:spcAft>
                <a:spcPts val="0"/>
              </a:spcAft>
              <a:buClr>
                <a:schemeClr val="dk2"/>
              </a:buClr>
              <a:buSzPts val="1100"/>
              <a:buFont typeface="Arial"/>
              <a:buNone/>
            </a:pPr>
            <a:r>
              <a:rPr b="1" lang="en" sz="1700"/>
              <a:t>Fix is to split into two tables:</a:t>
            </a:r>
            <a:endParaRPr b="1" sz="1700"/>
          </a:p>
          <a:p>
            <a:pPr indent="-336550" lvl="0" marL="457200" rtl="0" algn="l">
              <a:spcBef>
                <a:spcPts val="1200"/>
              </a:spcBef>
              <a:spcAft>
                <a:spcPts val="0"/>
              </a:spcAft>
              <a:buSzPts val="1700"/>
              <a:buFont typeface="Questrial"/>
              <a:buChar char="●"/>
            </a:pPr>
            <a:r>
              <a:rPr lang="en" sz="1700">
                <a:solidFill>
                  <a:srgbClr val="188038"/>
                </a:solidFill>
              </a:rPr>
              <a:t>ORDER (OrderID, CustomerID, ProductID)</a:t>
            </a:r>
            <a:endParaRPr sz="1700">
              <a:solidFill>
                <a:srgbClr val="188038"/>
              </a:solidFill>
            </a:endParaRPr>
          </a:p>
          <a:p>
            <a:pPr indent="-336550" lvl="0" marL="457200" rtl="0" algn="l">
              <a:spcBef>
                <a:spcPts val="0"/>
              </a:spcBef>
              <a:spcAft>
                <a:spcPts val="0"/>
              </a:spcAft>
              <a:buSzPts val="1700"/>
              <a:buFont typeface="Questrial"/>
              <a:buChar char="●"/>
            </a:pPr>
            <a:r>
              <a:rPr lang="en" sz="1700">
                <a:solidFill>
                  <a:srgbClr val="188038"/>
                </a:solidFill>
              </a:rPr>
              <a:t>CUSTOMER (CustomerID, CustomerName, CustomerCity)</a:t>
            </a:r>
            <a:endParaRPr sz="1700">
              <a:solidFill>
                <a:srgbClr val="188038"/>
              </a:solidFill>
            </a:endParaRPr>
          </a:p>
          <a:p>
            <a:pPr indent="0" lvl="0" marL="0" rtl="0" algn="l">
              <a:spcBef>
                <a:spcPts val="1200"/>
              </a:spcBef>
              <a:spcAft>
                <a:spcPts val="0"/>
              </a:spcAft>
              <a:buNone/>
            </a:pPr>
            <a:r>
              <a:t/>
            </a:r>
            <a:endParaRPr sz="2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SQL?</a:t>
            </a:r>
            <a:endParaRPr/>
          </a:p>
        </p:txBody>
      </p:sp>
      <p:sp>
        <p:nvSpPr>
          <p:cNvPr id="90" name="Google Shape;90;p15"/>
          <p:cNvSpPr txBox="1"/>
          <p:nvPr>
            <p:ph idx="1" type="body"/>
          </p:nvPr>
        </p:nvSpPr>
        <p:spPr>
          <a:xfrm>
            <a:off x="183775" y="776275"/>
            <a:ext cx="8520600" cy="117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 Structured Query Language )</a:t>
            </a:r>
            <a:endParaRPr/>
          </a:p>
          <a:p>
            <a:pPr indent="-349250" lvl="0" marL="457200" rtl="0" algn="l">
              <a:spcBef>
                <a:spcPts val="0"/>
              </a:spcBef>
              <a:spcAft>
                <a:spcPts val="0"/>
              </a:spcAft>
              <a:buSzPts val="1900"/>
              <a:buChar char="●"/>
            </a:pPr>
            <a:r>
              <a:rPr lang="en" sz="1900"/>
              <a:t>The standard language for communicating with relational databases</a:t>
            </a:r>
            <a:endParaRPr sz="1900"/>
          </a:p>
          <a:p>
            <a:pPr indent="-349250" lvl="0" marL="457200" rtl="0" algn="l">
              <a:spcBef>
                <a:spcPts val="0"/>
              </a:spcBef>
              <a:spcAft>
                <a:spcPts val="0"/>
              </a:spcAft>
              <a:buSzPts val="1900"/>
              <a:buChar char="●"/>
            </a:pPr>
            <a:r>
              <a:rPr lang="en" sz="1900"/>
              <a:t>Divided into two sub-languages with distinct purposes:</a:t>
            </a:r>
            <a:endParaRPr sz="1900"/>
          </a:p>
        </p:txBody>
      </p:sp>
      <p:graphicFrame>
        <p:nvGraphicFramePr>
          <p:cNvPr id="91" name="Google Shape;91;p15"/>
          <p:cNvGraphicFramePr/>
          <p:nvPr/>
        </p:nvGraphicFramePr>
        <p:xfrm>
          <a:off x="484647" y="2266600"/>
          <a:ext cx="3000000" cy="3000000"/>
        </p:xfrm>
        <a:graphic>
          <a:graphicData uri="http://schemas.openxmlformats.org/drawingml/2006/table">
            <a:tbl>
              <a:tblPr>
                <a:noFill/>
                <a:tableStyleId>{37344A4C-0A25-4AE6-97F8-B57DEE62A804}</a:tableStyleId>
              </a:tblPr>
              <a:tblGrid>
                <a:gridCol w="1240500"/>
                <a:gridCol w="3517825"/>
                <a:gridCol w="3499325"/>
              </a:tblGrid>
              <a:tr h="190500">
                <a:tc>
                  <a:txBody>
                    <a:bodyPr/>
                    <a:lstStyle/>
                    <a:p>
                      <a:pPr indent="0" lvl="0" marL="0" rtl="0" algn="l">
                        <a:spcBef>
                          <a:spcPts val="0"/>
                        </a:spcBef>
                        <a:spcAft>
                          <a:spcPts val="0"/>
                        </a:spcAft>
                        <a:buNone/>
                      </a:pPr>
                      <a:r>
                        <a:t/>
                      </a:r>
                      <a:endParaRPr sz="3000">
                        <a:latin typeface="Questrial"/>
                        <a:ea typeface="Questrial"/>
                        <a:cs typeface="Questrial"/>
                        <a:sym typeface="Questrial"/>
                      </a:endParaRPr>
                    </a:p>
                  </a:txBody>
                  <a:tcPr marT="91425" marB="91425" marR="91425" marL="91425"/>
                </a:tc>
                <a:tc>
                  <a:txBody>
                    <a:bodyPr/>
                    <a:lstStyle/>
                    <a:p>
                      <a:pPr indent="0" lvl="0" marL="0" rtl="0" algn="ctr">
                        <a:lnSpc>
                          <a:spcPct val="115000"/>
                        </a:lnSpc>
                        <a:spcBef>
                          <a:spcPts val="0"/>
                        </a:spcBef>
                        <a:spcAft>
                          <a:spcPts val="0"/>
                        </a:spcAft>
                        <a:buNone/>
                      </a:pPr>
                      <a:r>
                        <a:rPr b="1" lang="en" sz="2700">
                          <a:latin typeface="Questrial"/>
                          <a:ea typeface="Questrial"/>
                          <a:cs typeface="Questrial"/>
                          <a:sym typeface="Questrial"/>
                        </a:rPr>
                        <a:t>DDL</a:t>
                      </a:r>
                      <a:endParaRPr b="1" sz="2700">
                        <a:latin typeface="Questrial"/>
                        <a:ea typeface="Questrial"/>
                        <a:cs typeface="Questrial"/>
                        <a:sym typeface="Questrial"/>
                      </a:endParaRPr>
                    </a:p>
                  </a:txBody>
                  <a:tcPr marT="91425" marB="91425" marR="91425" marL="91425"/>
                </a:tc>
                <a:tc>
                  <a:txBody>
                    <a:bodyPr/>
                    <a:lstStyle/>
                    <a:p>
                      <a:pPr indent="0" lvl="0" marL="0" rtl="0" algn="ctr">
                        <a:lnSpc>
                          <a:spcPct val="115000"/>
                        </a:lnSpc>
                        <a:spcBef>
                          <a:spcPts val="0"/>
                        </a:spcBef>
                        <a:spcAft>
                          <a:spcPts val="0"/>
                        </a:spcAft>
                        <a:buNone/>
                      </a:pPr>
                      <a:r>
                        <a:rPr b="1" lang="en" sz="2700">
                          <a:latin typeface="Questrial"/>
                          <a:ea typeface="Questrial"/>
                          <a:cs typeface="Questrial"/>
                          <a:sym typeface="Questrial"/>
                        </a:rPr>
                        <a:t>DML</a:t>
                      </a:r>
                      <a:endParaRPr b="1" sz="2700">
                        <a:latin typeface="Questrial"/>
                        <a:ea typeface="Questrial"/>
                        <a:cs typeface="Questrial"/>
                        <a:sym typeface="Questrial"/>
                      </a:endParaRPr>
                    </a:p>
                  </a:txBody>
                  <a:tcPr marT="91425" marB="91425" marR="91425" marL="91425"/>
                </a:tc>
              </a:tr>
              <a:tr h="190500">
                <a:tc>
                  <a:txBody>
                    <a:bodyPr/>
                    <a:lstStyle/>
                    <a:p>
                      <a:pPr indent="0" lvl="0" marL="0" rtl="0" algn="l">
                        <a:spcBef>
                          <a:spcPts val="0"/>
                        </a:spcBef>
                        <a:spcAft>
                          <a:spcPts val="0"/>
                        </a:spcAft>
                        <a:buNone/>
                      </a:pPr>
                      <a:r>
                        <a:rPr lang="en" sz="1700">
                          <a:latin typeface="Questrial"/>
                          <a:ea typeface="Questrial"/>
                          <a:cs typeface="Questrial"/>
                          <a:sym typeface="Questrial"/>
                        </a:rPr>
                        <a:t>Stands for</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Data Definition Language</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Data Manipulation Language</a:t>
                      </a:r>
                      <a:endParaRPr sz="1700">
                        <a:latin typeface="Questrial"/>
                        <a:ea typeface="Questrial"/>
                        <a:cs typeface="Questrial"/>
                        <a:sym typeface="Questrial"/>
                      </a:endParaRPr>
                    </a:p>
                  </a:txBody>
                  <a:tcPr marT="91425" marB="91425" marR="91425" marL="91425"/>
                </a:tc>
              </a:tr>
              <a:tr h="190500">
                <a:tc>
                  <a:txBody>
                    <a:bodyPr/>
                    <a:lstStyle/>
                    <a:p>
                      <a:pPr indent="0" lvl="0" marL="0" rtl="0" algn="l">
                        <a:spcBef>
                          <a:spcPts val="0"/>
                        </a:spcBef>
                        <a:spcAft>
                          <a:spcPts val="0"/>
                        </a:spcAft>
                        <a:buNone/>
                      </a:pPr>
                      <a:r>
                        <a:rPr lang="en" sz="1700">
                          <a:latin typeface="Questrial"/>
                          <a:ea typeface="Questrial"/>
                          <a:cs typeface="Questrial"/>
                          <a:sym typeface="Questrial"/>
                        </a:rPr>
                        <a:t>Acts on</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The structure of the database</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The data inside the database</a:t>
                      </a:r>
                      <a:endParaRPr sz="1700">
                        <a:latin typeface="Questrial"/>
                        <a:ea typeface="Questrial"/>
                        <a:cs typeface="Questrial"/>
                        <a:sym typeface="Questrial"/>
                      </a:endParaRPr>
                    </a:p>
                  </a:txBody>
                  <a:tcPr marT="91425" marB="91425" marR="91425" marL="91425"/>
                </a:tc>
              </a:tr>
              <a:tr h="190500">
                <a:tc>
                  <a:txBody>
                    <a:bodyPr/>
                    <a:lstStyle/>
                    <a:p>
                      <a:pPr indent="0" lvl="0" marL="0" rtl="0" algn="l">
                        <a:spcBef>
                          <a:spcPts val="0"/>
                        </a:spcBef>
                        <a:spcAft>
                          <a:spcPts val="0"/>
                        </a:spcAft>
                        <a:buNone/>
                      </a:pPr>
                      <a:r>
                        <a:rPr lang="en" sz="1700">
                          <a:latin typeface="Questrial"/>
                          <a:ea typeface="Questrial"/>
                          <a:cs typeface="Questrial"/>
                          <a:sym typeface="Questrial"/>
                        </a:rPr>
                        <a:t>Key idea</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Build and modify the schema</a:t>
                      </a:r>
                      <a:endParaRPr sz="1700">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700">
                          <a:latin typeface="Questrial"/>
                          <a:ea typeface="Questrial"/>
                          <a:cs typeface="Questrial"/>
                          <a:sym typeface="Questrial"/>
                        </a:rPr>
                        <a:t>Read and write records</a:t>
                      </a:r>
                      <a:endParaRPr sz="1700">
                        <a:latin typeface="Questrial"/>
                        <a:ea typeface="Questrial"/>
                        <a:cs typeface="Questrial"/>
                        <a:sym typeface="Questrial"/>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definition language (DDL)</a:t>
            </a:r>
            <a:endParaRPr/>
          </a:p>
        </p:txBody>
      </p:sp>
      <p:sp>
        <p:nvSpPr>
          <p:cNvPr id="97" name="Google Shape;97;p16"/>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Data definition language (DDL) is used to create, modify and remove data </a:t>
            </a:r>
            <a:r>
              <a:rPr lang="en" sz="2500"/>
              <a:t>structures</a:t>
            </a:r>
            <a:r>
              <a:rPr lang="en" sz="2500"/>
              <a:t> from a relational database.</a:t>
            </a:r>
            <a:endParaRPr sz="2500"/>
          </a:p>
        </p:txBody>
      </p:sp>
      <p:pic>
        <p:nvPicPr>
          <p:cNvPr id="98" name="Google Shape;98;p16"/>
          <p:cNvPicPr preferRelativeResize="0"/>
          <p:nvPr/>
        </p:nvPicPr>
        <p:blipFill>
          <a:blip r:embed="rId3">
            <a:alphaModFix/>
          </a:blip>
          <a:stretch>
            <a:fillRect/>
          </a:stretch>
        </p:blipFill>
        <p:spPr>
          <a:xfrm>
            <a:off x="1231325" y="1945750"/>
            <a:ext cx="6261601" cy="190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Worked Example</a:t>
            </a:r>
            <a:endParaRPr/>
          </a:p>
        </p:txBody>
      </p:sp>
      <p:sp>
        <p:nvSpPr>
          <p:cNvPr id="104" name="Google Shape;104;p1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Eastfield Police Station (New Database)</a:t>
            </a:r>
            <a:endParaRPr sz="2700"/>
          </a:p>
          <a:p>
            <a:pPr indent="0" lvl="0" marL="0" rtl="0" algn="l">
              <a:spcBef>
                <a:spcPts val="1200"/>
              </a:spcBef>
              <a:spcAft>
                <a:spcPts val="0"/>
              </a:spcAft>
              <a:buClr>
                <a:schemeClr val="dk2"/>
              </a:buClr>
              <a:buSzPts val="1100"/>
              <a:buFont typeface="Arial"/>
              <a:buNone/>
            </a:pPr>
            <a:r>
              <a:rPr lang="en" sz="1700"/>
              <a:t>The station needs a database to manage officers and incidents.</a:t>
            </a:r>
            <a:endParaRPr sz="1700"/>
          </a:p>
          <a:p>
            <a:pPr indent="0" lvl="0" marL="0" rtl="0" algn="l">
              <a:spcBef>
                <a:spcPts val="1200"/>
              </a:spcBef>
              <a:spcAft>
                <a:spcPts val="0"/>
              </a:spcAft>
              <a:buClr>
                <a:schemeClr val="dk2"/>
              </a:buClr>
              <a:buSzPts val="1100"/>
              <a:buFont typeface="Arial"/>
              <a:buNone/>
            </a:pPr>
            <a:r>
              <a:rPr b="1" lang="en" sz="1400"/>
              <a:t>Two tables:</a:t>
            </a:r>
            <a:endParaRPr b="1" sz="1400"/>
          </a:p>
          <a:p>
            <a:pPr indent="-317500" lvl="0" marL="457200" rtl="0" algn="l">
              <a:spcBef>
                <a:spcPts val="1200"/>
              </a:spcBef>
              <a:spcAft>
                <a:spcPts val="0"/>
              </a:spcAft>
              <a:buSzPts val="1400"/>
              <a:buFont typeface="Arial"/>
              <a:buChar char="●"/>
            </a:pPr>
            <a:r>
              <a:rPr lang="en" sz="1400">
                <a:solidFill>
                  <a:srgbClr val="188038"/>
                </a:solidFill>
              </a:rPr>
              <a:t>OFFICER</a:t>
            </a:r>
            <a:r>
              <a:rPr lang="en" sz="1400"/>
              <a:t> — stores details about each officer</a:t>
            </a:r>
            <a:endParaRPr sz="1400"/>
          </a:p>
          <a:p>
            <a:pPr indent="-317500" lvl="0" marL="457200" rtl="0" algn="l">
              <a:spcBef>
                <a:spcPts val="0"/>
              </a:spcBef>
              <a:spcAft>
                <a:spcPts val="0"/>
              </a:spcAft>
              <a:buSzPts val="1400"/>
              <a:buFont typeface="Arial"/>
              <a:buChar char="●"/>
            </a:pPr>
            <a:r>
              <a:rPr lang="en" sz="1400">
                <a:solidFill>
                  <a:srgbClr val="188038"/>
                </a:solidFill>
              </a:rPr>
              <a:t>INCIDENT</a:t>
            </a:r>
            <a:r>
              <a:rPr lang="en" sz="1400"/>
              <a:t> — stores details about reported incidents</a:t>
            </a:r>
            <a:endParaRPr sz="1400"/>
          </a:p>
          <a:p>
            <a:pPr indent="0" lvl="0" marL="381000" marR="381000" rtl="0" algn="l">
              <a:spcBef>
                <a:spcPts val="1200"/>
              </a:spcBef>
              <a:spcAft>
                <a:spcPts val="0"/>
              </a:spcAft>
              <a:buNone/>
            </a:pPr>
            <a:r>
              <a:t/>
            </a:r>
            <a:endParaRPr sz="1400"/>
          </a:p>
          <a:p>
            <a:pPr indent="0" lvl="0" marL="381000" marR="381000" rtl="0" algn="l">
              <a:spcBef>
                <a:spcPts val="1200"/>
              </a:spcBef>
              <a:spcAft>
                <a:spcPts val="0"/>
              </a:spcAft>
              <a:buClr>
                <a:schemeClr val="dk2"/>
              </a:buClr>
              <a:buSzPts val="1100"/>
              <a:buFont typeface="Arial"/>
              <a:buNone/>
            </a:pPr>
            <a:r>
              <a:rPr lang="en" sz="1400" u="sng"/>
              <a:t>You have the full schema on your worksheet. 1 minute to read it before I start typing.</a:t>
            </a:r>
            <a:endParaRPr sz="1400" u="sng"/>
          </a:p>
          <a:p>
            <a:pPr indent="0" lvl="0" marL="0" rtl="0" algn="l">
              <a:spcBef>
                <a:spcPts val="1200"/>
              </a:spcBef>
              <a:spcAft>
                <a:spcPts val="0"/>
              </a:spcAft>
              <a:buNone/>
            </a:pPr>
            <a:r>
              <a:t/>
            </a:r>
            <a:endParaRPr sz="2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DATABASE</a:t>
            </a:r>
            <a:endParaRPr/>
          </a:p>
        </p:txBody>
      </p:sp>
      <p:sp>
        <p:nvSpPr>
          <p:cNvPr id="110" name="Google Shape;110;p1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Courier"/>
                <a:ea typeface="Courier"/>
                <a:cs typeface="Courier"/>
                <a:sym typeface="Courier"/>
              </a:rPr>
              <a:t>CREATE DATABASE POLICE</a:t>
            </a:r>
            <a:endParaRPr sz="2800">
              <a:latin typeface="Courier"/>
              <a:ea typeface="Courier"/>
              <a:cs typeface="Courier"/>
              <a:sym typeface="Courier"/>
            </a:endParaRPr>
          </a:p>
          <a:p>
            <a:pPr indent="0" lvl="0" marL="0" rtl="0" algn="l">
              <a:spcBef>
                <a:spcPts val="0"/>
              </a:spcBef>
              <a:spcAft>
                <a:spcPts val="0"/>
              </a:spcAft>
              <a:buNone/>
            </a:pPr>
            <a:r>
              <a:t/>
            </a:r>
            <a:endParaRPr sz="2800">
              <a:latin typeface="Courier"/>
              <a:ea typeface="Courier"/>
              <a:cs typeface="Courier"/>
              <a:sym typeface="Couri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TABLE OFFICER</a:t>
            </a:r>
            <a:endParaRPr/>
          </a:p>
        </p:txBody>
      </p:sp>
      <p:sp>
        <p:nvSpPr>
          <p:cNvPr id="116" name="Google Shape;116;p1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CREATE TABLE OFFICER (</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OfficerID    CHARACTER(6)  PRIMARY KEY,</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FirstName    VARCHAR(50),</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LastName     VARCHAR(50),</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Rank         VARCHAR(30),</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BadgeNumber  INTEGER,</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    StationCode  CHARACTER(4)</a:t>
            </a:r>
            <a:endParaRPr>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a:latin typeface="Courier"/>
                <a:ea typeface="Courier"/>
                <a:cs typeface="Courier"/>
                <a:sym typeface="Courier"/>
              </a:rPr>
              <a:t>);</a:t>
            </a:r>
            <a:endParaRPr>
              <a:latin typeface="Courier"/>
              <a:ea typeface="Courier"/>
              <a:cs typeface="Courier"/>
              <a:sym typeface="Courier"/>
            </a:endParaRPr>
          </a:p>
          <a:p>
            <a:pPr indent="0" lvl="0" marL="0" rtl="0" algn="l">
              <a:spcBef>
                <a:spcPts val="0"/>
              </a:spcBef>
              <a:spcAft>
                <a:spcPts val="0"/>
              </a:spcAft>
              <a:buNone/>
            </a:pPr>
            <a:r>
              <a:t/>
            </a:r>
            <a:endParaRPr>
              <a:latin typeface="Courier"/>
              <a:ea typeface="Courier"/>
              <a:cs typeface="Courier"/>
              <a:sym typeface="Courier"/>
            </a:endParaRPr>
          </a:p>
        </p:txBody>
      </p:sp>
      <p:sp>
        <p:nvSpPr>
          <p:cNvPr id="117" name="Google Shape;117;p19"/>
          <p:cNvSpPr txBox="1"/>
          <p:nvPr/>
        </p:nvSpPr>
        <p:spPr>
          <a:xfrm>
            <a:off x="5603409" y="2174625"/>
            <a:ext cx="3000000" cy="1048200"/>
          </a:xfrm>
          <a:prstGeom prst="rect">
            <a:avLst/>
          </a:prstGeom>
          <a:solidFill>
            <a:srgbClr val="C9DAF8"/>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700">
                <a:solidFill>
                  <a:schemeClr val="dk2"/>
                </a:solidFill>
                <a:latin typeface="Questrial"/>
                <a:ea typeface="Questrial"/>
                <a:cs typeface="Questrial"/>
                <a:sym typeface="Questrial"/>
              </a:rPr>
              <a:t>Why is </a:t>
            </a:r>
            <a:r>
              <a:rPr lang="en" sz="1700">
                <a:solidFill>
                  <a:srgbClr val="188038"/>
                </a:solidFill>
                <a:latin typeface="Questrial"/>
                <a:ea typeface="Questrial"/>
                <a:cs typeface="Questrial"/>
                <a:sym typeface="Questrial"/>
              </a:rPr>
              <a:t>OfficerID</a:t>
            </a:r>
            <a:r>
              <a:rPr lang="en" sz="1700">
                <a:solidFill>
                  <a:schemeClr val="dk2"/>
                </a:solidFill>
                <a:latin typeface="Questrial"/>
                <a:ea typeface="Questrial"/>
                <a:cs typeface="Questrial"/>
                <a:sym typeface="Questrial"/>
              </a:rPr>
              <a:t> defined as </a:t>
            </a:r>
            <a:r>
              <a:rPr lang="en" sz="1700">
                <a:solidFill>
                  <a:srgbClr val="188038"/>
                </a:solidFill>
                <a:latin typeface="Questrial"/>
                <a:ea typeface="Questrial"/>
                <a:cs typeface="Questrial"/>
                <a:sym typeface="Questrial"/>
              </a:rPr>
              <a:t>CHARACTER(6)</a:t>
            </a:r>
            <a:r>
              <a:rPr lang="en" sz="1700">
                <a:solidFill>
                  <a:schemeClr val="dk2"/>
                </a:solidFill>
                <a:latin typeface="Questrial"/>
                <a:ea typeface="Questrial"/>
                <a:cs typeface="Questrial"/>
                <a:sym typeface="Questrial"/>
              </a:rPr>
              <a:t> rather than </a:t>
            </a:r>
            <a:r>
              <a:rPr lang="en" sz="1700">
                <a:solidFill>
                  <a:srgbClr val="188038"/>
                </a:solidFill>
                <a:latin typeface="Questrial"/>
                <a:ea typeface="Questrial"/>
                <a:cs typeface="Questrial"/>
                <a:sym typeface="Questrial"/>
              </a:rPr>
              <a:t>INTEGER</a:t>
            </a:r>
            <a:r>
              <a:rPr lang="en" sz="1700">
                <a:solidFill>
                  <a:schemeClr val="dk2"/>
                </a:solidFill>
                <a:latin typeface="Questrial"/>
                <a:ea typeface="Questrial"/>
                <a:cs typeface="Questrial"/>
                <a:sym typeface="Questrial"/>
              </a:rPr>
              <a:t> or </a:t>
            </a:r>
            <a:r>
              <a:rPr lang="en" sz="1700">
                <a:solidFill>
                  <a:srgbClr val="188038"/>
                </a:solidFill>
                <a:latin typeface="Questrial"/>
                <a:ea typeface="Questrial"/>
                <a:cs typeface="Questrial"/>
                <a:sym typeface="Questrial"/>
              </a:rPr>
              <a:t>VARCHAR</a:t>
            </a:r>
            <a:r>
              <a:rPr lang="en" sz="1700">
                <a:solidFill>
                  <a:schemeClr val="dk2"/>
                </a:solidFill>
                <a:latin typeface="Questrial"/>
                <a:ea typeface="Questrial"/>
                <a:cs typeface="Questrial"/>
                <a:sym typeface="Questrial"/>
              </a:rPr>
              <a:t>?</a:t>
            </a:r>
            <a:endParaRPr sz="1700">
              <a:solidFill>
                <a:schemeClr val="dk2"/>
              </a:solidFill>
              <a:latin typeface="Questrial"/>
              <a:ea typeface="Questrial"/>
              <a:cs typeface="Questrial"/>
              <a:sym typeface="Questrial"/>
            </a:endParaRPr>
          </a:p>
        </p:txBody>
      </p:sp>
      <p:sp>
        <p:nvSpPr>
          <p:cNvPr id="118" name="Google Shape;118;p19"/>
          <p:cNvSpPr txBox="1"/>
          <p:nvPr/>
        </p:nvSpPr>
        <p:spPr>
          <a:xfrm>
            <a:off x="5345950" y="3586625"/>
            <a:ext cx="3645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0000"/>
                </a:solidFill>
                <a:latin typeface="Questrial"/>
                <a:ea typeface="Questrial"/>
                <a:cs typeface="Questrial"/>
                <a:sym typeface="Questrial"/>
              </a:rPr>
              <a:t>fixed-length identifiers like PC0042 are always the same length, so CHARACTER is more efficient than VARCHAR and more appropriate than INTEGER as it contains letters. </a:t>
            </a:r>
            <a:endParaRPr>
              <a:solidFill>
                <a:srgbClr val="FF0000"/>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TABLE STATION</a:t>
            </a:r>
            <a:endParaRPr/>
          </a:p>
        </p:txBody>
      </p:sp>
      <p:sp>
        <p:nvSpPr>
          <p:cNvPr id="124" name="Google Shape;124;p2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a:ea typeface="Courier"/>
                <a:cs typeface="Courier"/>
                <a:sym typeface="Courier"/>
              </a:rPr>
              <a:t>CREATE TABLE STATION(</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    </a:t>
            </a:r>
            <a:r>
              <a:rPr lang="en">
                <a:latin typeface="Courier"/>
                <a:ea typeface="Courier"/>
                <a:cs typeface="Courier"/>
                <a:sym typeface="Courier"/>
              </a:rPr>
              <a:t>StationCode </a:t>
            </a:r>
            <a:r>
              <a:rPr lang="en">
                <a:latin typeface="Courier"/>
                <a:ea typeface="Courier"/>
                <a:cs typeface="Courier"/>
                <a:sym typeface="Courier"/>
              </a:rPr>
              <a:t>INT PRIMARY KEY,</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    StationName VARCHAR(100) NOT NULL,</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    City VARCHAR(100)</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a:t>
            </a:r>
            <a:endParaRPr>
              <a:latin typeface="Courier"/>
              <a:ea typeface="Courier"/>
              <a:cs typeface="Courier"/>
              <a:sym typeface="Couri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INCIDENT TABLE</a:t>
            </a:r>
            <a:endParaRPr/>
          </a:p>
        </p:txBody>
      </p:sp>
      <p:sp>
        <p:nvSpPr>
          <p:cNvPr id="130" name="Google Shape;130;p2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CREATE TABLE INCIDENT (</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IncidentID    INTEGER       PRIMARY KEY,</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IncidentType  VARCHAR(100),</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IncidentDate  DATE,</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Location      VARCHAR(150),</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OfficerID     CHARACTER(6),</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Status        VARCHAR(20),</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    FOREIGN KEY (OfficerID) REFERENCES OFFICER(OfficerID)</a:t>
            </a:r>
            <a:endParaRPr sz="2000">
              <a:latin typeface="Courier"/>
              <a:ea typeface="Courier"/>
              <a:cs typeface="Courier"/>
              <a:sym typeface="Courier"/>
            </a:endParaRPr>
          </a:p>
          <a:p>
            <a:pPr indent="0" lvl="0" marL="0" rtl="0" algn="l">
              <a:spcBef>
                <a:spcPts val="0"/>
              </a:spcBef>
              <a:spcAft>
                <a:spcPts val="0"/>
              </a:spcAft>
              <a:buClr>
                <a:schemeClr val="dk2"/>
              </a:buClr>
              <a:buSzPts val="1100"/>
              <a:buFont typeface="Arial"/>
              <a:buNone/>
            </a:pPr>
            <a:r>
              <a:rPr lang="en" sz="2000">
                <a:latin typeface="Courier"/>
                <a:ea typeface="Courier"/>
                <a:cs typeface="Courier"/>
                <a:sym typeface="Courier"/>
              </a:rPr>
              <a:t>);</a:t>
            </a:r>
            <a:endParaRPr sz="2000">
              <a:latin typeface="Courier"/>
              <a:ea typeface="Courier"/>
              <a:cs typeface="Courier"/>
              <a:sym typeface="Courier"/>
            </a:endParaRPr>
          </a:p>
          <a:p>
            <a:pPr indent="0" lvl="0" marL="0" rtl="0" algn="l">
              <a:spcBef>
                <a:spcPts val="0"/>
              </a:spcBef>
              <a:spcAft>
                <a:spcPts val="0"/>
              </a:spcAft>
              <a:buNone/>
            </a:pPr>
            <a:r>
              <a:t/>
            </a:r>
            <a:endParaRPr sz="2000">
              <a:latin typeface="Courier"/>
              <a:ea typeface="Courier"/>
              <a:cs typeface="Courier"/>
              <a:sym typeface="Courier"/>
            </a:endParaRPr>
          </a:p>
          <a:p>
            <a:pPr indent="0" lvl="0" marL="0" rtl="0" algn="l">
              <a:spcBef>
                <a:spcPts val="0"/>
              </a:spcBef>
              <a:spcAft>
                <a:spcPts val="0"/>
              </a:spcAft>
              <a:buNone/>
            </a:pPr>
            <a:r>
              <a:t/>
            </a:r>
            <a:endParaRPr sz="2000">
              <a:latin typeface="Courier"/>
              <a:ea typeface="Courier"/>
              <a:cs typeface="Courier"/>
              <a:sym typeface="Couri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a:t>
            </a:r>
            <a:endParaRPr/>
          </a:p>
        </p:txBody>
      </p:sp>
      <p:sp>
        <p:nvSpPr>
          <p:cNvPr id="136" name="Google Shape;136;p22"/>
          <p:cNvSpPr txBox="1"/>
          <p:nvPr>
            <p:ph idx="1" type="body"/>
          </p:nvPr>
        </p:nvSpPr>
        <p:spPr>
          <a:xfrm>
            <a:off x="183775" y="1153814"/>
            <a:ext cx="8520600" cy="2015100"/>
          </a:xfrm>
          <a:prstGeom prst="rect">
            <a:avLst/>
          </a:prstGeom>
          <a:solidFill>
            <a:srgbClr val="C9DAF8"/>
          </a:solidFill>
        </p:spPr>
        <p:txBody>
          <a:bodyPr anchorCtr="0" anchor="t" bIns="91425" lIns="91425" spcFirstLastPara="1" rIns="91425" wrap="square" tIns="91425">
            <a:noAutofit/>
          </a:bodyPr>
          <a:lstStyle/>
          <a:p>
            <a:pPr indent="0" lvl="0" marL="0" rtl="0" algn="ctr">
              <a:spcBef>
                <a:spcPts val="0"/>
              </a:spcBef>
              <a:spcAft>
                <a:spcPts val="0"/>
              </a:spcAft>
              <a:buNone/>
            </a:pPr>
            <a:r>
              <a:rPr lang="en" sz="3500"/>
              <a:t>What would happen if you tried to INSERT an incident record with an OfficerID that does not exist in the OFFICER table?</a:t>
            </a:r>
            <a:endParaRPr sz="3500"/>
          </a:p>
          <a:p>
            <a:pPr indent="0" lvl="0" marL="0" rtl="0" algn="ctr">
              <a:spcBef>
                <a:spcPts val="0"/>
              </a:spcBef>
              <a:spcAft>
                <a:spcPts val="0"/>
              </a:spcAft>
              <a:buNone/>
            </a:pPr>
            <a:r>
              <a:t/>
            </a:r>
            <a:endParaRPr sz="3500"/>
          </a:p>
        </p:txBody>
      </p:sp>
      <p:sp>
        <p:nvSpPr>
          <p:cNvPr id="137" name="Google Shape;137;p22"/>
          <p:cNvSpPr txBox="1"/>
          <p:nvPr/>
        </p:nvSpPr>
        <p:spPr>
          <a:xfrm>
            <a:off x="1298725" y="3292150"/>
            <a:ext cx="6477900" cy="969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FF0000"/>
                </a:solidFill>
              </a:rPr>
              <a:t>Referential integrity Issue. The DBMS will reject the insert because the foreign key constraint is violated. The child record cannot reference a parent that does not exist.</a:t>
            </a:r>
            <a:endParaRPr sz="17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 TABLE</a:t>
            </a:r>
            <a:endParaRPr/>
          </a:p>
        </p:txBody>
      </p:sp>
      <p:sp>
        <p:nvSpPr>
          <p:cNvPr id="143" name="Google Shape;143;p23"/>
          <p:cNvSpPr txBox="1"/>
          <p:nvPr>
            <p:ph idx="1" type="body"/>
          </p:nvPr>
        </p:nvSpPr>
        <p:spPr>
          <a:xfrm>
            <a:off x="183775" y="776275"/>
            <a:ext cx="8520600" cy="15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a:ea typeface="Courier"/>
                <a:cs typeface="Courier"/>
                <a:sym typeface="Courier"/>
              </a:rPr>
              <a:t>ALTER TABLE OFFICER</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ADD Email VARCHAR(100);</a:t>
            </a:r>
            <a:endParaRPr>
              <a:latin typeface="Courier"/>
              <a:ea typeface="Courier"/>
              <a:cs typeface="Courier"/>
              <a:sym typeface="Courier"/>
            </a:endParaRPr>
          </a:p>
        </p:txBody>
      </p:sp>
      <p:sp>
        <p:nvSpPr>
          <p:cNvPr id="144" name="Google Shape;144;p23"/>
          <p:cNvSpPr txBox="1"/>
          <p:nvPr/>
        </p:nvSpPr>
        <p:spPr>
          <a:xfrm>
            <a:off x="475575" y="1781991"/>
            <a:ext cx="6689700" cy="1477500"/>
          </a:xfrm>
          <a:prstGeom prst="rect">
            <a:avLst/>
          </a:prstGeom>
          <a:solidFill>
            <a:srgbClr val="C9DAF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latin typeface="Questrial"/>
                <a:ea typeface="Questrial"/>
                <a:cs typeface="Questrial"/>
                <a:sym typeface="Questrial"/>
              </a:rPr>
              <a:t>Your turn: </a:t>
            </a:r>
            <a:r>
              <a:rPr lang="en" sz="2100">
                <a:latin typeface="Questrial"/>
                <a:ea typeface="Questrial"/>
                <a:cs typeface="Questrial"/>
                <a:sym typeface="Questrial"/>
              </a:rPr>
              <a:t>write the ALTER statement to add:</a:t>
            </a:r>
            <a:endParaRPr sz="2100">
              <a:latin typeface="Questrial"/>
              <a:ea typeface="Questrial"/>
              <a:cs typeface="Questrial"/>
              <a:sym typeface="Questrial"/>
            </a:endParaRPr>
          </a:p>
          <a:p>
            <a:pPr indent="0" lvl="0" marL="0" rtl="0" algn="l">
              <a:spcBef>
                <a:spcPts val="0"/>
              </a:spcBef>
              <a:spcAft>
                <a:spcPts val="0"/>
              </a:spcAft>
              <a:buNone/>
            </a:pPr>
            <a:r>
              <a:t/>
            </a:r>
            <a:endParaRPr sz="2100">
              <a:latin typeface="Questrial"/>
              <a:ea typeface="Questrial"/>
              <a:cs typeface="Questrial"/>
              <a:sym typeface="Questrial"/>
            </a:endParaRPr>
          </a:p>
          <a:p>
            <a:pPr indent="0" lvl="0" marL="0" rtl="0" algn="l">
              <a:spcBef>
                <a:spcPts val="0"/>
              </a:spcBef>
              <a:spcAft>
                <a:spcPts val="0"/>
              </a:spcAft>
              <a:buNone/>
            </a:pPr>
            <a:r>
              <a:rPr lang="en" sz="2100">
                <a:latin typeface="Questrial"/>
                <a:ea typeface="Questrial"/>
                <a:cs typeface="Questrial"/>
                <a:sym typeface="Questrial"/>
              </a:rPr>
              <a:t>YearsService  INTEGER  to the OFFICER table</a:t>
            </a:r>
            <a:endParaRPr sz="2100">
              <a:latin typeface="Questrial"/>
              <a:ea typeface="Questrial"/>
              <a:cs typeface="Questrial"/>
              <a:sym typeface="Questrial"/>
            </a:endParaRPr>
          </a:p>
          <a:p>
            <a:pPr indent="0" lvl="0" marL="0" rtl="0" algn="l">
              <a:spcBef>
                <a:spcPts val="0"/>
              </a:spcBef>
              <a:spcAft>
                <a:spcPts val="0"/>
              </a:spcAft>
              <a:buNone/>
            </a:pPr>
            <a:r>
              <a:t/>
            </a:r>
            <a:endParaRPr sz="2100">
              <a:latin typeface="Questrial"/>
              <a:ea typeface="Questrial"/>
              <a:cs typeface="Questrial"/>
              <a:sym typeface="Questrial"/>
            </a:endParaRPr>
          </a:p>
        </p:txBody>
      </p:sp>
      <p:sp>
        <p:nvSpPr>
          <p:cNvPr id="145" name="Google Shape;145;p23"/>
          <p:cNvSpPr txBox="1"/>
          <p:nvPr/>
        </p:nvSpPr>
        <p:spPr>
          <a:xfrm>
            <a:off x="475575" y="3360106"/>
            <a:ext cx="50208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900">
                <a:solidFill>
                  <a:schemeClr val="dk2"/>
                </a:solidFill>
                <a:latin typeface="Courier New"/>
                <a:ea typeface="Courier New"/>
                <a:cs typeface="Courier New"/>
                <a:sym typeface="Courier New"/>
              </a:rPr>
              <a:t>-- ALTER TABLE: Drop a column</a:t>
            </a:r>
            <a:endParaRPr sz="19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900">
                <a:solidFill>
                  <a:schemeClr val="dk2"/>
                </a:solidFill>
                <a:latin typeface="Courier New"/>
                <a:ea typeface="Courier New"/>
                <a:cs typeface="Courier New"/>
                <a:sym typeface="Courier New"/>
              </a:rPr>
              <a:t>ALTER TABLE officer</a:t>
            </a:r>
            <a:endParaRPr sz="19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900">
                <a:solidFill>
                  <a:schemeClr val="dk2"/>
                </a:solidFill>
                <a:latin typeface="Courier New"/>
                <a:ea typeface="Courier New"/>
                <a:cs typeface="Courier New"/>
                <a:sym typeface="Courier New"/>
              </a:rPr>
              <a:t>DROP COLUMN email;</a:t>
            </a:r>
            <a:r>
              <a:rPr lang="en" sz="1900">
                <a:solidFill>
                  <a:schemeClr val="dk2"/>
                </a:solidFill>
              </a:rPr>
              <a:t> </a:t>
            </a:r>
            <a:endParaRPr sz="22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INDEX</a:t>
            </a:r>
            <a:endParaRPr/>
          </a:p>
        </p:txBody>
      </p:sp>
      <p:sp>
        <p:nvSpPr>
          <p:cNvPr id="151" name="Google Shape;151;p2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a:ea typeface="Courier"/>
                <a:cs typeface="Courier"/>
                <a:sym typeface="Courier"/>
              </a:rPr>
              <a:t>CREATE INDEX idx_case_type</a:t>
            </a:r>
            <a:endParaRPr>
              <a:latin typeface="Courier"/>
              <a:ea typeface="Courier"/>
              <a:cs typeface="Courier"/>
              <a:sym typeface="Courier"/>
            </a:endParaRPr>
          </a:p>
          <a:p>
            <a:pPr indent="0" lvl="0" marL="0" rtl="0" algn="l">
              <a:spcBef>
                <a:spcPts val="0"/>
              </a:spcBef>
              <a:spcAft>
                <a:spcPts val="0"/>
              </a:spcAft>
              <a:buNone/>
            </a:pPr>
            <a:r>
              <a:rPr lang="en">
                <a:latin typeface="Courier"/>
                <a:ea typeface="Courier"/>
                <a:cs typeface="Courier"/>
                <a:sym typeface="Courier"/>
              </a:rPr>
              <a:t>ON INCIDENT(</a:t>
            </a:r>
            <a:r>
              <a:rPr lang="en" sz="2000">
                <a:latin typeface="Courier"/>
                <a:ea typeface="Courier"/>
                <a:cs typeface="Courier"/>
                <a:sym typeface="Courier"/>
              </a:rPr>
              <a:t>IncidentType</a:t>
            </a:r>
            <a:r>
              <a:rPr lang="en">
                <a:latin typeface="Courier"/>
                <a:ea typeface="Courier"/>
                <a:cs typeface="Courier"/>
                <a:sym typeface="Courier"/>
              </a:rPr>
              <a:t>);</a:t>
            </a:r>
            <a:endParaRPr>
              <a:latin typeface="Courier"/>
              <a:ea typeface="Courier"/>
              <a:cs typeface="Courier"/>
              <a:sym typeface="Couri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CRATE VIEW</a:t>
            </a:r>
            <a:endParaRPr/>
          </a:p>
        </p:txBody>
      </p:sp>
      <p:sp>
        <p:nvSpPr>
          <p:cNvPr id="157" name="Google Shape;157;p25"/>
          <p:cNvSpPr txBox="1"/>
          <p:nvPr>
            <p:ph idx="1" type="body"/>
          </p:nvPr>
        </p:nvSpPr>
        <p:spPr>
          <a:xfrm>
            <a:off x="183775" y="723420"/>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900"/>
              <a:t>Creating a view INCIDENT_OFFICER_VIEW</a:t>
            </a:r>
            <a:endParaRPr b="1" sz="1900"/>
          </a:p>
          <a:p>
            <a:pPr indent="0" lvl="0" marL="0" rtl="0" algn="l">
              <a:spcBef>
                <a:spcPts val="1200"/>
              </a:spcBef>
              <a:spcAft>
                <a:spcPts val="0"/>
              </a:spcAft>
              <a:buNone/>
            </a:pPr>
            <a:r>
              <a:rPr lang="en" sz="1900"/>
              <a:t>Rather than repeatedly joining INCIDENT and OFFICER in queries, we can create a view that presents the combined data as a virtual table.</a:t>
            </a:r>
            <a:endParaRPr sz="1900"/>
          </a:p>
          <a:p>
            <a:pPr indent="0" lvl="0" marL="0" rtl="0" algn="l">
              <a:lnSpc>
                <a:spcPct val="100000"/>
              </a:lnSpc>
              <a:spcBef>
                <a:spcPts val="1200"/>
              </a:spcBef>
              <a:spcAft>
                <a:spcPts val="0"/>
              </a:spcAft>
              <a:buNone/>
            </a:pPr>
            <a:r>
              <a:rPr lang="en" sz="1400">
                <a:latin typeface="Courier"/>
                <a:ea typeface="Courier"/>
                <a:cs typeface="Courier"/>
                <a:sym typeface="Courier"/>
              </a:rPr>
              <a:t>CREATE VIEW INCIDENT_OFFICER_VIEW AS</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SELECT INCIDENT.IncidentID,</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INCIDENT.IncidentType,</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INCIDENT.IncidentDate,</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INCIDENT.Location,</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INCIDENT.Status,</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OFFICER.OfficerID,</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OFFICER.FirstName,</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OFFICER.LastName,</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       OFFICER.Rank</a:t>
            </a:r>
            <a:endParaRPr sz="1400">
              <a:latin typeface="Courier"/>
              <a:ea typeface="Courier"/>
              <a:cs typeface="Courier"/>
              <a:sym typeface="Courier"/>
            </a:endParaRPr>
          </a:p>
          <a:p>
            <a:pPr indent="0" lvl="0" marL="0" rtl="0" algn="l">
              <a:lnSpc>
                <a:spcPct val="100000"/>
              </a:lnSpc>
              <a:spcBef>
                <a:spcPts val="0"/>
              </a:spcBef>
              <a:spcAft>
                <a:spcPts val="0"/>
              </a:spcAft>
              <a:buNone/>
            </a:pPr>
            <a:r>
              <a:rPr lang="en" sz="1400">
                <a:latin typeface="Courier"/>
                <a:ea typeface="Courier"/>
                <a:cs typeface="Courier"/>
                <a:sym typeface="Courier"/>
              </a:rPr>
              <a:t>FROM INCIDENT</a:t>
            </a:r>
            <a:endParaRPr sz="1400">
              <a:latin typeface="Courier"/>
              <a:ea typeface="Courier"/>
              <a:cs typeface="Courier"/>
              <a:sym typeface="Courier"/>
            </a:endParaRPr>
          </a:p>
          <a:p>
            <a:pPr indent="0" lvl="0" marL="0" rtl="0" algn="l">
              <a:lnSpc>
                <a:spcPct val="100000"/>
              </a:lnSpc>
              <a:spcBef>
                <a:spcPts val="0"/>
              </a:spcBef>
              <a:spcAft>
                <a:spcPts val="0"/>
              </a:spcAft>
              <a:buClr>
                <a:schemeClr val="dk2"/>
              </a:buClr>
              <a:buSzPts val="1100"/>
              <a:buFont typeface="Arial"/>
              <a:buNone/>
            </a:pPr>
            <a:r>
              <a:rPr lang="en" sz="1400">
                <a:latin typeface="Courier"/>
                <a:ea typeface="Courier"/>
                <a:cs typeface="Courier"/>
                <a:sym typeface="Courier"/>
              </a:rPr>
              <a:t>JOIN OFFICER ON INCIDENT.OfficerID = OFFICER.OfficerID;</a:t>
            </a:r>
            <a:endParaRPr sz="1400">
              <a:latin typeface="Courier"/>
              <a:ea typeface="Courier"/>
              <a:cs typeface="Courier"/>
              <a:sym typeface="Courier"/>
            </a:endParaRPr>
          </a:p>
          <a:p>
            <a:pPr indent="0" lvl="0" marL="0" rtl="0" algn="l">
              <a:spcBef>
                <a:spcPts val="0"/>
              </a:spcBef>
              <a:spcAft>
                <a:spcPts val="0"/>
              </a:spcAft>
              <a:buNone/>
            </a:pPr>
            <a:r>
              <a:t/>
            </a:r>
            <a:endParaRPr sz="2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Types of VIEW (HL)</a:t>
            </a:r>
            <a:endParaRPr/>
          </a:p>
        </p:txBody>
      </p:sp>
      <p:graphicFrame>
        <p:nvGraphicFramePr>
          <p:cNvPr id="163" name="Google Shape;163;p26"/>
          <p:cNvGraphicFramePr/>
          <p:nvPr/>
        </p:nvGraphicFramePr>
        <p:xfrm>
          <a:off x="371395" y="748920"/>
          <a:ext cx="3000000" cy="3000000"/>
        </p:xfrm>
        <a:graphic>
          <a:graphicData uri="http://schemas.openxmlformats.org/drawingml/2006/table">
            <a:tbl>
              <a:tblPr>
                <a:noFill/>
                <a:tableStyleId>{37344A4C-0A25-4AE6-97F8-B57DEE62A804}</a:tableStyleId>
              </a:tblPr>
              <a:tblGrid>
                <a:gridCol w="982300"/>
                <a:gridCol w="3948750"/>
                <a:gridCol w="3479900"/>
              </a:tblGrid>
              <a:tr h="43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lnSpc>
                          <a:spcPct val="115000"/>
                        </a:lnSpc>
                        <a:spcBef>
                          <a:spcPts val="0"/>
                        </a:spcBef>
                        <a:spcAft>
                          <a:spcPts val="0"/>
                        </a:spcAft>
                        <a:buNone/>
                      </a:pPr>
                      <a:r>
                        <a:rPr b="1" lang="en">
                          <a:highlight>
                            <a:srgbClr val="00FF00"/>
                          </a:highlight>
                        </a:rPr>
                        <a:t>Regular View</a:t>
                      </a:r>
                      <a:endParaRPr b="1">
                        <a:highlight>
                          <a:srgbClr val="00FF00"/>
                        </a:highlight>
                      </a:endParaRPr>
                    </a:p>
                  </a:txBody>
                  <a:tcPr marT="91425" marB="91425" marR="91425" marL="91425">
                    <a:solidFill>
                      <a:srgbClr val="EFEFEF"/>
                    </a:solidFill>
                  </a:tcPr>
                </a:tc>
                <a:tc>
                  <a:txBody>
                    <a:bodyPr/>
                    <a:lstStyle/>
                    <a:p>
                      <a:pPr indent="0" lvl="0" marL="0" rtl="0" algn="ctr">
                        <a:lnSpc>
                          <a:spcPct val="115000"/>
                        </a:lnSpc>
                        <a:spcBef>
                          <a:spcPts val="0"/>
                        </a:spcBef>
                        <a:spcAft>
                          <a:spcPts val="0"/>
                        </a:spcAft>
                        <a:buNone/>
                      </a:pPr>
                      <a:r>
                        <a:rPr b="1" lang="en">
                          <a:highlight>
                            <a:srgbClr val="00FFFF"/>
                          </a:highlight>
                        </a:rPr>
                        <a:t>Materialised View</a:t>
                      </a:r>
                      <a:endParaRPr b="1">
                        <a:highlight>
                          <a:srgbClr val="00FFFF"/>
                        </a:highlight>
                      </a:endParaRPr>
                    </a:p>
                  </a:txBody>
                  <a:tcPr marT="91425" marB="91425" marR="91425" marL="91425"/>
                </a:tc>
              </a:tr>
              <a:tr h="660675">
                <a:tc>
                  <a:txBody>
                    <a:bodyPr/>
                    <a:lstStyle/>
                    <a:p>
                      <a:pPr indent="0" lvl="0" marL="0" rtl="0" algn="l">
                        <a:spcBef>
                          <a:spcPts val="0"/>
                        </a:spcBef>
                        <a:spcAft>
                          <a:spcPts val="0"/>
                        </a:spcAft>
                        <a:buNone/>
                      </a:pPr>
                      <a:r>
                        <a:rPr i="1" lang="en">
                          <a:latin typeface="Questrial"/>
                          <a:ea typeface="Questrial"/>
                          <a:cs typeface="Questrial"/>
                          <a:sym typeface="Questrial"/>
                        </a:rPr>
                        <a:t>Stores</a:t>
                      </a:r>
                      <a:endParaRPr i="1">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a:latin typeface="Questrial"/>
                          <a:ea typeface="Questrial"/>
                          <a:cs typeface="Questrial"/>
                          <a:sym typeface="Questrial"/>
                        </a:rPr>
                        <a:t>The query definition only</a:t>
                      </a:r>
                      <a:endParaRPr>
                        <a:latin typeface="Questrial"/>
                        <a:ea typeface="Questrial"/>
                        <a:cs typeface="Questrial"/>
                        <a:sym typeface="Questrial"/>
                      </a:endParaRPr>
                    </a:p>
                  </a:txBody>
                  <a:tcPr marT="91425" marB="91425" marR="91425" marL="91425">
                    <a:solidFill>
                      <a:srgbClr val="EFEFEF"/>
                    </a:solidFill>
                  </a:tcPr>
                </a:tc>
                <a:tc>
                  <a:txBody>
                    <a:bodyPr/>
                    <a:lstStyle/>
                    <a:p>
                      <a:pPr indent="0" lvl="0" marL="0" rtl="0" algn="l">
                        <a:spcBef>
                          <a:spcPts val="0"/>
                        </a:spcBef>
                        <a:spcAft>
                          <a:spcPts val="0"/>
                        </a:spcAft>
                        <a:buNone/>
                      </a:pPr>
                      <a:r>
                        <a:rPr lang="en">
                          <a:latin typeface="Questrial"/>
                          <a:ea typeface="Questrial"/>
                          <a:cs typeface="Questrial"/>
                          <a:sym typeface="Questrial"/>
                        </a:rPr>
                        <a:t>The query result (pre-computed data)</a:t>
                      </a:r>
                      <a:endParaRPr>
                        <a:latin typeface="Questrial"/>
                        <a:ea typeface="Questrial"/>
                        <a:cs typeface="Questrial"/>
                        <a:sym typeface="Questrial"/>
                      </a:endParaRPr>
                    </a:p>
                  </a:txBody>
                  <a:tcPr marT="91425" marB="91425" marR="91425" marL="91425"/>
                </a:tc>
              </a:tr>
              <a:tr h="890650">
                <a:tc>
                  <a:txBody>
                    <a:bodyPr/>
                    <a:lstStyle/>
                    <a:p>
                      <a:pPr indent="0" lvl="0" marL="0" rtl="0" algn="l">
                        <a:spcBef>
                          <a:spcPts val="0"/>
                        </a:spcBef>
                        <a:spcAft>
                          <a:spcPts val="0"/>
                        </a:spcAft>
                        <a:buNone/>
                      </a:pPr>
                      <a:r>
                        <a:rPr i="1" lang="en">
                          <a:latin typeface="Questrial"/>
                          <a:ea typeface="Questrial"/>
                          <a:cs typeface="Questrial"/>
                          <a:sym typeface="Questrial"/>
                        </a:rPr>
                        <a:t>Data freshness</a:t>
                      </a:r>
                      <a:endParaRPr i="1">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a:latin typeface="Questrial"/>
                          <a:ea typeface="Questrial"/>
                          <a:cs typeface="Questrial"/>
                          <a:sym typeface="Questrial"/>
                        </a:rPr>
                        <a:t>Always live - reflects the current state of the underlying tables</a:t>
                      </a:r>
                      <a:endParaRPr>
                        <a:latin typeface="Questrial"/>
                        <a:ea typeface="Questrial"/>
                        <a:cs typeface="Questrial"/>
                        <a:sym typeface="Questrial"/>
                      </a:endParaRPr>
                    </a:p>
                  </a:txBody>
                  <a:tcPr marT="91425" marB="91425" marR="91425" marL="91425">
                    <a:solidFill>
                      <a:srgbClr val="EFEFEF"/>
                    </a:solidFill>
                  </a:tcPr>
                </a:tc>
                <a:tc>
                  <a:txBody>
                    <a:bodyPr/>
                    <a:lstStyle/>
                    <a:p>
                      <a:pPr indent="0" lvl="0" marL="0" rtl="0" algn="l">
                        <a:spcBef>
                          <a:spcPts val="0"/>
                        </a:spcBef>
                        <a:spcAft>
                          <a:spcPts val="0"/>
                        </a:spcAft>
                        <a:buNone/>
                      </a:pPr>
                      <a:r>
                        <a:rPr lang="en">
                          <a:latin typeface="Questrial"/>
                          <a:ea typeface="Questrial"/>
                          <a:cs typeface="Questrial"/>
                          <a:sym typeface="Questrial"/>
                        </a:rPr>
                        <a:t>Snapshot - must be refreshed to reflect changes</a:t>
                      </a:r>
                      <a:endParaRPr>
                        <a:latin typeface="Questrial"/>
                        <a:ea typeface="Questrial"/>
                        <a:cs typeface="Questrial"/>
                        <a:sym typeface="Questrial"/>
                      </a:endParaRPr>
                    </a:p>
                  </a:txBody>
                  <a:tcPr marT="91425" marB="91425" marR="91425" marL="91425"/>
                </a:tc>
              </a:tr>
              <a:tr h="660675">
                <a:tc>
                  <a:txBody>
                    <a:bodyPr/>
                    <a:lstStyle/>
                    <a:p>
                      <a:pPr indent="0" lvl="0" marL="0" rtl="0" algn="l">
                        <a:spcBef>
                          <a:spcPts val="0"/>
                        </a:spcBef>
                        <a:spcAft>
                          <a:spcPts val="0"/>
                        </a:spcAft>
                        <a:buNone/>
                      </a:pPr>
                      <a:r>
                        <a:rPr i="1" lang="en">
                          <a:latin typeface="Questrial"/>
                          <a:ea typeface="Questrial"/>
                          <a:cs typeface="Questrial"/>
                          <a:sym typeface="Questrial"/>
                        </a:rPr>
                        <a:t>Speed</a:t>
                      </a:r>
                      <a:endParaRPr i="1">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a:latin typeface="Questrial"/>
                          <a:ea typeface="Questrial"/>
                          <a:cs typeface="Questrial"/>
                          <a:sym typeface="Questrial"/>
                        </a:rPr>
                        <a:t>Slower - reruns the query every time it is accessed</a:t>
                      </a:r>
                      <a:endParaRPr>
                        <a:latin typeface="Questrial"/>
                        <a:ea typeface="Questrial"/>
                        <a:cs typeface="Questrial"/>
                        <a:sym typeface="Questrial"/>
                      </a:endParaRPr>
                    </a:p>
                  </a:txBody>
                  <a:tcPr marT="91425" marB="91425" marR="91425" marL="91425">
                    <a:solidFill>
                      <a:srgbClr val="EFEFEF"/>
                    </a:solidFill>
                  </a:tcPr>
                </a:tc>
                <a:tc>
                  <a:txBody>
                    <a:bodyPr/>
                    <a:lstStyle/>
                    <a:p>
                      <a:pPr indent="0" lvl="0" marL="0" rtl="0" algn="l">
                        <a:spcBef>
                          <a:spcPts val="0"/>
                        </a:spcBef>
                        <a:spcAft>
                          <a:spcPts val="0"/>
                        </a:spcAft>
                        <a:buNone/>
                      </a:pPr>
                      <a:r>
                        <a:rPr lang="en">
                          <a:latin typeface="Questrial"/>
                          <a:ea typeface="Questrial"/>
                          <a:cs typeface="Questrial"/>
                          <a:sym typeface="Questrial"/>
                        </a:rPr>
                        <a:t>Faster - reads stored results directly</a:t>
                      </a:r>
                      <a:endParaRPr>
                        <a:latin typeface="Questrial"/>
                        <a:ea typeface="Questrial"/>
                        <a:cs typeface="Questrial"/>
                        <a:sym typeface="Questrial"/>
                      </a:endParaRPr>
                    </a:p>
                  </a:txBody>
                  <a:tcPr marT="91425" marB="91425" marR="91425" marL="91425"/>
                </a:tc>
              </a:tr>
              <a:tr h="430675">
                <a:tc>
                  <a:txBody>
                    <a:bodyPr/>
                    <a:lstStyle/>
                    <a:p>
                      <a:pPr indent="0" lvl="0" marL="0" rtl="0" algn="l">
                        <a:spcBef>
                          <a:spcPts val="0"/>
                        </a:spcBef>
                        <a:spcAft>
                          <a:spcPts val="0"/>
                        </a:spcAft>
                        <a:buNone/>
                      </a:pPr>
                      <a:r>
                        <a:rPr i="1" lang="en">
                          <a:latin typeface="Questrial"/>
                          <a:ea typeface="Questrial"/>
                          <a:cs typeface="Questrial"/>
                          <a:sym typeface="Questrial"/>
                        </a:rPr>
                        <a:t>Storage</a:t>
                      </a:r>
                      <a:endParaRPr i="1">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a:latin typeface="Questrial"/>
                          <a:ea typeface="Questrial"/>
                          <a:cs typeface="Questrial"/>
                          <a:sym typeface="Questrial"/>
                        </a:rPr>
                        <a:t>No extra storage needed</a:t>
                      </a:r>
                      <a:endParaRPr>
                        <a:latin typeface="Questrial"/>
                        <a:ea typeface="Questrial"/>
                        <a:cs typeface="Questrial"/>
                        <a:sym typeface="Questrial"/>
                      </a:endParaRPr>
                    </a:p>
                  </a:txBody>
                  <a:tcPr marT="91425" marB="91425" marR="91425" marL="91425">
                    <a:solidFill>
                      <a:srgbClr val="EFEFEF"/>
                    </a:solidFill>
                  </a:tcPr>
                </a:tc>
                <a:tc>
                  <a:txBody>
                    <a:bodyPr/>
                    <a:lstStyle/>
                    <a:p>
                      <a:pPr indent="0" lvl="0" marL="0" rtl="0" algn="l">
                        <a:spcBef>
                          <a:spcPts val="0"/>
                        </a:spcBef>
                        <a:spcAft>
                          <a:spcPts val="0"/>
                        </a:spcAft>
                        <a:buNone/>
                      </a:pPr>
                      <a:r>
                        <a:rPr lang="en">
                          <a:latin typeface="Questrial"/>
                          <a:ea typeface="Questrial"/>
                          <a:cs typeface="Questrial"/>
                          <a:sym typeface="Questrial"/>
                        </a:rPr>
                        <a:t>Requires additional storage space</a:t>
                      </a:r>
                      <a:endParaRPr>
                        <a:latin typeface="Questrial"/>
                        <a:ea typeface="Questrial"/>
                        <a:cs typeface="Questrial"/>
                        <a:sym typeface="Questrial"/>
                      </a:endParaRPr>
                    </a:p>
                  </a:txBody>
                  <a:tcPr marT="91425" marB="91425" marR="91425" marL="91425"/>
                </a:tc>
              </a:tr>
              <a:tr h="660675">
                <a:tc>
                  <a:txBody>
                    <a:bodyPr/>
                    <a:lstStyle/>
                    <a:p>
                      <a:pPr indent="0" lvl="0" marL="0" rtl="0" algn="l">
                        <a:spcBef>
                          <a:spcPts val="0"/>
                        </a:spcBef>
                        <a:spcAft>
                          <a:spcPts val="0"/>
                        </a:spcAft>
                        <a:buNone/>
                      </a:pPr>
                      <a:r>
                        <a:rPr i="1" lang="en">
                          <a:latin typeface="Questrial"/>
                          <a:ea typeface="Questrial"/>
                          <a:cs typeface="Questrial"/>
                          <a:sym typeface="Questrial"/>
                        </a:rPr>
                        <a:t>SQL keyword</a:t>
                      </a:r>
                      <a:endParaRPr i="1">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300">
                          <a:solidFill>
                            <a:srgbClr val="0000FF"/>
                          </a:solidFill>
                          <a:latin typeface="Courier"/>
                          <a:ea typeface="Courier"/>
                          <a:cs typeface="Courier"/>
                          <a:sym typeface="Courier"/>
                        </a:rPr>
                        <a:t>CREATE VIEW</a:t>
                      </a:r>
                      <a:endParaRPr sz="1300">
                        <a:solidFill>
                          <a:srgbClr val="0000FF"/>
                        </a:solidFill>
                        <a:latin typeface="Courier"/>
                        <a:ea typeface="Courier"/>
                        <a:cs typeface="Courier"/>
                        <a:sym typeface="Courier"/>
                      </a:endParaRPr>
                    </a:p>
                  </a:txBody>
                  <a:tcPr marT="91425" marB="91425" marR="91425" marL="91425">
                    <a:solidFill>
                      <a:srgbClr val="EFEFEF"/>
                    </a:solidFill>
                  </a:tcPr>
                </a:tc>
                <a:tc>
                  <a:txBody>
                    <a:bodyPr/>
                    <a:lstStyle/>
                    <a:p>
                      <a:pPr indent="0" lvl="0" marL="0" rtl="0" algn="l">
                        <a:spcBef>
                          <a:spcPts val="0"/>
                        </a:spcBef>
                        <a:spcAft>
                          <a:spcPts val="0"/>
                        </a:spcAft>
                        <a:buNone/>
                      </a:pPr>
                      <a:r>
                        <a:rPr lang="en" sz="1300">
                          <a:solidFill>
                            <a:srgbClr val="0000FF"/>
                          </a:solidFill>
                          <a:latin typeface="Courier"/>
                          <a:ea typeface="Courier"/>
                          <a:cs typeface="Courier"/>
                          <a:sym typeface="Courier"/>
                        </a:rPr>
                        <a:t>CREATE MATERIALIZED VIEW</a:t>
                      </a:r>
                      <a:endParaRPr sz="1300">
                        <a:solidFill>
                          <a:srgbClr val="0000FF"/>
                        </a:solidFill>
                        <a:latin typeface="Courier"/>
                        <a:ea typeface="Courier"/>
                        <a:cs typeface="Courier"/>
                        <a:sym typeface="Courie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a:t>
            </a:r>
            <a:endParaRPr/>
          </a:p>
        </p:txBody>
      </p:sp>
      <p:sp>
        <p:nvSpPr>
          <p:cNvPr id="169" name="Google Shape;169;p27"/>
          <p:cNvSpPr txBox="1"/>
          <p:nvPr>
            <p:ph idx="1" type="body"/>
          </p:nvPr>
        </p:nvSpPr>
        <p:spPr>
          <a:xfrm>
            <a:off x="183775" y="776275"/>
            <a:ext cx="8520600" cy="17319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AutoNum type="arabicPeriod"/>
            </a:pPr>
            <a:r>
              <a:rPr lang="en"/>
              <a:t>Is INCIDENT_OFFICER_VIEW a real table stored in the database? How do you know?</a:t>
            </a:r>
            <a:endParaRPr/>
          </a:p>
          <a:p>
            <a:pPr indent="-374650" lvl="0" marL="457200" rtl="0" algn="l">
              <a:spcBef>
                <a:spcPts val="0"/>
              </a:spcBef>
              <a:spcAft>
                <a:spcPts val="0"/>
              </a:spcAft>
              <a:buSzPts val="2300"/>
              <a:buAutoNum type="arabicPeriod"/>
            </a:pPr>
            <a:r>
              <a:rPr lang="en"/>
              <a:t>If an officer's rank is updated in the OFFICER table, what happens to the data you see when you query the view?</a:t>
            </a:r>
            <a:endParaRPr/>
          </a:p>
        </p:txBody>
      </p:sp>
      <p:sp>
        <p:nvSpPr>
          <p:cNvPr id="170" name="Google Shape;170;p27"/>
          <p:cNvSpPr txBox="1"/>
          <p:nvPr/>
        </p:nvSpPr>
        <p:spPr>
          <a:xfrm>
            <a:off x="551290" y="2521211"/>
            <a:ext cx="8350200" cy="199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2100">
                <a:solidFill>
                  <a:srgbClr val="FF0000"/>
                </a:solidFill>
                <a:latin typeface="Questrial"/>
                <a:ea typeface="Questrial"/>
                <a:cs typeface="Questrial"/>
                <a:sym typeface="Questrial"/>
              </a:rPr>
              <a:t>A view is a virtual table, it stores the query definition, not the data itself. Because it pulls live from the underlying tables, any update to OFFICER is immediately reflected when the view is queried. This is a good hook into the difference between a regular view and a materialised view, which you will see at HL.</a:t>
            </a:r>
            <a:endParaRPr i="1" sz="2100">
              <a:solidFill>
                <a:srgbClr val="FF0000"/>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Task</a:t>
            </a:r>
            <a:endParaRPr/>
          </a:p>
        </p:txBody>
      </p:sp>
      <p:sp>
        <p:nvSpPr>
          <p:cNvPr id="176" name="Google Shape;176;p2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700"/>
              <a:t>Your Turn: DDL Tasks (Worksheet Section 3)</a:t>
            </a:r>
            <a:endParaRPr b="1" sz="1700"/>
          </a:p>
          <a:p>
            <a:pPr indent="-336550" lvl="0" marL="457200" rtl="0" algn="l">
              <a:spcBef>
                <a:spcPts val="1200"/>
              </a:spcBef>
              <a:spcAft>
                <a:spcPts val="0"/>
              </a:spcAft>
              <a:buSzPts val="1700"/>
              <a:buFont typeface="Arial"/>
              <a:buChar char="●"/>
            </a:pPr>
            <a:r>
              <a:rPr b="1" lang="en" sz="1700"/>
              <a:t>Task 3</a:t>
            </a:r>
            <a:r>
              <a:rPr lang="en" sz="1700"/>
              <a:t> - Classify each SQL statement as DDL or DML</a:t>
            </a:r>
            <a:endParaRPr sz="1700"/>
          </a:p>
          <a:p>
            <a:pPr indent="-336550" lvl="0" marL="457200" rtl="0" algn="l">
              <a:spcBef>
                <a:spcPts val="0"/>
              </a:spcBef>
              <a:spcAft>
                <a:spcPts val="0"/>
              </a:spcAft>
              <a:buSzPts val="1700"/>
              <a:buFont typeface="Arial"/>
              <a:buChar char="●"/>
            </a:pPr>
            <a:r>
              <a:rPr b="1" lang="en" sz="1700"/>
              <a:t>Task 4</a:t>
            </a:r>
            <a:r>
              <a:rPr lang="en" sz="1700"/>
              <a:t> - Annotate a CREATE TABLE statement line by line</a:t>
            </a:r>
            <a:endParaRPr sz="1700"/>
          </a:p>
          <a:p>
            <a:pPr indent="-336550" lvl="0" marL="457200" rtl="0" algn="l">
              <a:spcBef>
                <a:spcPts val="0"/>
              </a:spcBef>
              <a:spcAft>
                <a:spcPts val="0"/>
              </a:spcAft>
              <a:buSzPts val="1700"/>
              <a:buFont typeface="Arial"/>
              <a:buChar char="●"/>
            </a:pPr>
            <a:r>
              <a:rPr b="1" lang="en" sz="1700"/>
              <a:t>Task 5</a:t>
            </a:r>
            <a:r>
              <a:rPr lang="en" sz="1700"/>
              <a:t> - Design and write a </a:t>
            </a:r>
            <a:r>
              <a:rPr lang="en" sz="1700">
                <a:solidFill>
                  <a:srgbClr val="188038"/>
                </a:solidFill>
              </a:rPr>
              <a:t>VEHICLE</a:t>
            </a:r>
            <a:r>
              <a:rPr lang="en" sz="1700"/>
              <a:t> table from scratch, then peer-check</a:t>
            </a:r>
            <a:endParaRPr sz="1700"/>
          </a:p>
          <a:p>
            <a:pPr indent="0" lvl="0" marL="0" rtl="0" algn="l">
              <a:spcBef>
                <a:spcPts val="1200"/>
              </a:spcBef>
              <a:spcAft>
                <a:spcPts val="0"/>
              </a:spcAft>
              <a:buClr>
                <a:schemeClr val="dk2"/>
              </a:buClr>
              <a:buSzPts val="1100"/>
              <a:buFont typeface="Arial"/>
              <a:buNone/>
            </a:pPr>
            <a:r>
              <a:t/>
            </a:r>
            <a:endParaRPr sz="3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DML</a:t>
            </a:r>
            <a:endParaRPr/>
          </a:p>
        </p:txBody>
      </p:sp>
      <p:sp>
        <p:nvSpPr>
          <p:cNvPr id="182" name="Google Shape;182;p2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Manipulation Language (DML) is the subset of SQL used to read and modify data in a database.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3" name="Google Shape;183;p29"/>
          <p:cNvSpPr txBox="1"/>
          <p:nvPr/>
        </p:nvSpPr>
        <p:spPr>
          <a:xfrm>
            <a:off x="1288096" y="2477071"/>
            <a:ext cx="7148700" cy="84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300">
                <a:solidFill>
                  <a:srgbClr val="0000FF"/>
                </a:solidFill>
                <a:latin typeface="Comic Sans MS"/>
                <a:ea typeface="Comic Sans MS"/>
                <a:cs typeface="Comic Sans MS"/>
                <a:sym typeface="Comic Sans MS"/>
              </a:rPr>
              <a:t>SELECT, FROM, WHERE</a:t>
            </a:r>
            <a:r>
              <a:rPr lang="en" sz="4200">
                <a:solidFill>
                  <a:srgbClr val="0000FF"/>
                </a:solidFill>
                <a:latin typeface="Comic Sans MS"/>
                <a:ea typeface="Comic Sans MS"/>
                <a:cs typeface="Comic Sans MS"/>
                <a:sym typeface="Comic Sans MS"/>
              </a:rPr>
              <a:t> </a:t>
            </a:r>
            <a:endParaRPr sz="4500">
              <a:solidFill>
                <a:srgbClr val="0000FF"/>
              </a:solidFill>
              <a:latin typeface="Comic Sans MS"/>
              <a:ea typeface="Comic Sans MS"/>
              <a:cs typeface="Comic Sans MS"/>
              <a:sym typeface="Comic Sans M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Columns &amp; Tables</a:t>
            </a:r>
            <a:endParaRPr/>
          </a:p>
        </p:txBody>
      </p:sp>
      <p:sp>
        <p:nvSpPr>
          <p:cNvPr id="189" name="Google Shape;189;p30"/>
          <p:cNvSpPr txBox="1"/>
          <p:nvPr>
            <p:ph idx="1" type="body"/>
          </p:nvPr>
        </p:nvSpPr>
        <p:spPr>
          <a:xfrm>
            <a:off x="183775" y="776275"/>
            <a:ext cx="57825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SELECT </a:t>
            </a:r>
            <a:r>
              <a:rPr lang="en"/>
              <a:t>specifies which columns to retrieve. </a:t>
            </a:r>
            <a:r>
              <a:rPr b="1" lang="en"/>
              <a:t>FROM </a:t>
            </a:r>
            <a:r>
              <a:rPr lang="en"/>
              <a:t>tells SQL which table to look in.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190" name="Google Shape;190;p30"/>
          <p:cNvGraphicFramePr/>
          <p:nvPr/>
        </p:nvGraphicFramePr>
        <p:xfrm>
          <a:off x="4842175" y="2088100"/>
          <a:ext cx="3000000" cy="3000000"/>
        </p:xfrm>
        <a:graphic>
          <a:graphicData uri="http://schemas.openxmlformats.org/drawingml/2006/table">
            <a:tbl>
              <a:tblPr>
                <a:noFill/>
                <a:tableStyleId>{37344A4C-0A25-4AE6-97F8-B57DEE62A804}</a:tableStyleId>
              </a:tblPr>
              <a:tblGrid>
                <a:gridCol w="1381175"/>
                <a:gridCol w="2334000"/>
              </a:tblGrid>
              <a:tr h="257975">
                <a:tc>
                  <a:txBody>
                    <a:bodyPr/>
                    <a:lstStyle/>
                    <a:p>
                      <a:pPr indent="0" lvl="0" marL="0" rtl="0" algn="l">
                        <a:lnSpc>
                          <a:spcPct val="115000"/>
                        </a:lnSpc>
                        <a:spcBef>
                          <a:spcPts val="0"/>
                        </a:spcBef>
                        <a:spcAft>
                          <a:spcPts val="0"/>
                        </a:spcAft>
                        <a:buNone/>
                      </a:pPr>
                      <a:r>
                        <a:rPr b="1" lang="en" sz="1300"/>
                        <a:t>Command</a:t>
                      </a:r>
                      <a:endParaRPr b="1" sz="13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300"/>
                        <a:t>Purpose</a:t>
                      </a:r>
                      <a:endParaRPr b="1" sz="13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00975">
                <a:tc>
                  <a:txBody>
                    <a:bodyPr/>
                    <a:lstStyle/>
                    <a:p>
                      <a:pPr indent="0" lvl="0" marL="0" rtl="0" algn="l">
                        <a:lnSpc>
                          <a:spcPct val="115000"/>
                        </a:lnSpc>
                        <a:spcBef>
                          <a:spcPts val="0"/>
                        </a:spcBef>
                        <a:spcAft>
                          <a:spcPts val="0"/>
                        </a:spcAft>
                        <a:buNone/>
                      </a:pPr>
                      <a:r>
                        <a:rPr lang="en" sz="1600">
                          <a:solidFill>
                            <a:srgbClr val="0000FF"/>
                          </a:solidFill>
                          <a:latin typeface="Roboto Mono"/>
                          <a:ea typeface="Roboto Mono"/>
                          <a:cs typeface="Roboto Mono"/>
                          <a:sym typeface="Roboto Mono"/>
                        </a:rPr>
                        <a:t>SELECT</a:t>
                      </a:r>
                      <a:endParaRPr sz="1600">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Read / retrieve data</a:t>
                      </a:r>
                      <a:endParaRPr sz="16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00975">
                <a:tc>
                  <a:txBody>
                    <a:bodyPr/>
                    <a:lstStyle/>
                    <a:p>
                      <a:pPr indent="0" lvl="0" marL="0" rtl="0" algn="l">
                        <a:lnSpc>
                          <a:spcPct val="115000"/>
                        </a:lnSpc>
                        <a:spcBef>
                          <a:spcPts val="0"/>
                        </a:spcBef>
                        <a:spcAft>
                          <a:spcPts val="0"/>
                        </a:spcAft>
                        <a:buNone/>
                      </a:pPr>
                      <a:r>
                        <a:rPr lang="en" sz="1600">
                          <a:solidFill>
                            <a:srgbClr val="0000FF"/>
                          </a:solidFill>
                          <a:latin typeface="Roboto Mono"/>
                          <a:ea typeface="Roboto Mono"/>
                          <a:cs typeface="Roboto Mono"/>
                          <a:sym typeface="Roboto Mono"/>
                        </a:rPr>
                        <a:t>INSERT</a:t>
                      </a:r>
                      <a:endParaRPr sz="1600">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Add new rows</a:t>
                      </a:r>
                      <a:endParaRPr sz="16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00975">
                <a:tc>
                  <a:txBody>
                    <a:bodyPr/>
                    <a:lstStyle/>
                    <a:p>
                      <a:pPr indent="0" lvl="0" marL="0" rtl="0" algn="l">
                        <a:lnSpc>
                          <a:spcPct val="115000"/>
                        </a:lnSpc>
                        <a:spcBef>
                          <a:spcPts val="0"/>
                        </a:spcBef>
                        <a:spcAft>
                          <a:spcPts val="0"/>
                        </a:spcAft>
                        <a:buNone/>
                      </a:pPr>
                      <a:r>
                        <a:rPr lang="en" sz="1600">
                          <a:solidFill>
                            <a:srgbClr val="0000FF"/>
                          </a:solidFill>
                          <a:latin typeface="Roboto Mono"/>
                          <a:ea typeface="Roboto Mono"/>
                          <a:cs typeface="Roboto Mono"/>
                          <a:sym typeface="Roboto Mono"/>
                        </a:rPr>
                        <a:t>UPDATE</a:t>
                      </a:r>
                      <a:endParaRPr sz="1600">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Modify existing rows</a:t>
                      </a:r>
                      <a:endParaRPr sz="16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00975">
                <a:tc>
                  <a:txBody>
                    <a:bodyPr/>
                    <a:lstStyle/>
                    <a:p>
                      <a:pPr indent="0" lvl="0" marL="0" rtl="0" algn="l">
                        <a:lnSpc>
                          <a:spcPct val="115000"/>
                        </a:lnSpc>
                        <a:spcBef>
                          <a:spcPts val="0"/>
                        </a:spcBef>
                        <a:spcAft>
                          <a:spcPts val="0"/>
                        </a:spcAft>
                        <a:buNone/>
                      </a:pPr>
                      <a:r>
                        <a:rPr lang="en" sz="1600">
                          <a:solidFill>
                            <a:srgbClr val="0000FF"/>
                          </a:solidFill>
                          <a:latin typeface="Roboto Mono"/>
                          <a:ea typeface="Roboto Mono"/>
                          <a:cs typeface="Roboto Mono"/>
                          <a:sym typeface="Roboto Mono"/>
                        </a:rPr>
                        <a:t>DELETE</a:t>
                      </a:r>
                      <a:endParaRPr sz="1600">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Remove rows</a:t>
                      </a:r>
                      <a:endParaRPr sz="16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1"/>
          <p:cNvSpPr txBox="1"/>
          <p:nvPr>
            <p:ph idx="1" type="body"/>
          </p:nvPr>
        </p:nvSpPr>
        <p:spPr>
          <a:xfrm>
            <a:off x="183775" y="3129150"/>
            <a:ext cx="5153100" cy="98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Georgia"/>
                <a:ea typeface="Georgia"/>
                <a:cs typeface="Georgia"/>
                <a:sym typeface="Georgia"/>
              </a:rPr>
              <a:t>⚡ </a:t>
            </a:r>
            <a:r>
              <a:rPr b="1" lang="en" sz="1900">
                <a:latin typeface="Georgia"/>
                <a:ea typeface="Georgia"/>
                <a:cs typeface="Georgia"/>
                <a:sym typeface="Georgia"/>
              </a:rPr>
              <a:t>Tip:</a:t>
            </a:r>
            <a:r>
              <a:rPr lang="en" sz="1900">
                <a:latin typeface="Georgia"/>
                <a:ea typeface="Georgia"/>
                <a:cs typeface="Georgia"/>
                <a:sym typeface="Georgia"/>
              </a:rPr>
              <a:t> Avoid </a:t>
            </a:r>
            <a:r>
              <a:rPr lang="en" sz="1650">
                <a:solidFill>
                  <a:srgbClr val="0000FF"/>
                </a:solidFill>
                <a:latin typeface="Courier New"/>
                <a:ea typeface="Courier New"/>
                <a:cs typeface="Courier New"/>
                <a:sym typeface="Courier New"/>
              </a:rPr>
              <a:t>SELECT *</a:t>
            </a:r>
            <a:r>
              <a:rPr lang="en" sz="1900">
                <a:latin typeface="Georgia"/>
                <a:ea typeface="Georgia"/>
                <a:cs typeface="Georgia"/>
                <a:sym typeface="Georgia"/>
              </a:rPr>
              <a:t> in production, only name the columns you need.</a:t>
            </a:r>
            <a:endParaRPr sz="3000"/>
          </a:p>
        </p:txBody>
      </p:sp>
      <p:graphicFrame>
        <p:nvGraphicFramePr>
          <p:cNvPr id="197" name="Google Shape;197;p31"/>
          <p:cNvGraphicFramePr/>
          <p:nvPr/>
        </p:nvGraphicFramePr>
        <p:xfrm>
          <a:off x="524648" y="916761"/>
          <a:ext cx="3000000" cy="3000000"/>
        </p:xfrm>
        <a:graphic>
          <a:graphicData uri="http://schemas.openxmlformats.org/drawingml/2006/table">
            <a:tbl>
              <a:tblPr>
                <a:noFill/>
                <a:tableStyleId>{37344A4C-0A25-4AE6-97F8-B57DEE62A804}</a:tableStyleId>
              </a:tblPr>
              <a:tblGrid>
                <a:gridCol w="1555800"/>
                <a:gridCol w="1564175"/>
                <a:gridCol w="1513975"/>
                <a:gridCol w="2158050"/>
                <a:gridCol w="961925"/>
              </a:tblGrid>
              <a:tr h="342900">
                <a:tc>
                  <a:txBody>
                    <a:bodyPr/>
                    <a:lstStyle/>
                    <a:p>
                      <a:pPr indent="0" lvl="0" marL="0" rtl="0" algn="l">
                        <a:lnSpc>
                          <a:spcPct val="115000"/>
                        </a:lnSpc>
                        <a:spcBef>
                          <a:spcPts val="0"/>
                        </a:spcBef>
                        <a:spcAft>
                          <a:spcPts val="0"/>
                        </a:spcAft>
                        <a:buNone/>
                      </a:pPr>
                      <a:r>
                        <a:rPr b="1" lang="en" sz="1100"/>
                        <a:t>student_id</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first_name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last_name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email</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grade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42900">
                <a:tc>
                  <a:txBody>
                    <a:bodyPr/>
                    <a:lstStyle/>
                    <a:p>
                      <a:pPr indent="0" lvl="0" marL="0" rtl="0" algn="l">
                        <a:lnSpc>
                          <a:spcPct val="115000"/>
                        </a:lnSpc>
                        <a:spcBef>
                          <a:spcPts val="0"/>
                        </a:spcBef>
                        <a:spcAft>
                          <a:spcPts val="0"/>
                        </a:spcAft>
                        <a:buNone/>
                      </a:pPr>
                      <a:r>
                        <a:rPr lang="en"/>
                        <a:t>1</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Anya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Kovach</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anya@sisbschool.</a:t>
                      </a:r>
                      <a:r>
                        <a:rPr lang="en">
                          <a:solidFill>
                            <a:schemeClr val="dk2"/>
                          </a:solidFill>
                        </a:rPr>
                        <a:t>com</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t>2</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Boon</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Sriwong</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boon@</a:t>
                      </a:r>
                      <a:r>
                        <a:rPr lang="en">
                          <a:solidFill>
                            <a:schemeClr val="dk2"/>
                          </a:solidFill>
                        </a:rPr>
                        <a:t>sisb</a:t>
                      </a:r>
                      <a:r>
                        <a:rPr lang="en"/>
                        <a:t>school.</a:t>
                      </a:r>
                      <a:r>
                        <a:rPr lang="en">
                          <a:solidFill>
                            <a:schemeClr val="dk2"/>
                          </a:solidFill>
                        </a:rPr>
                        <a:t>com</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t>3</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Chloe</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Park</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chloe@</a:t>
                      </a:r>
                      <a:r>
                        <a:rPr lang="en">
                          <a:solidFill>
                            <a:schemeClr val="dk2"/>
                          </a:solidFill>
                        </a:rPr>
                        <a:t>sisb</a:t>
                      </a:r>
                      <a:r>
                        <a:rPr lang="en"/>
                        <a:t>school.</a:t>
                      </a:r>
                      <a:r>
                        <a:rPr lang="en">
                          <a:solidFill>
                            <a:schemeClr val="dk2"/>
                          </a:solidFill>
                        </a:rPr>
                        <a:t>com</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t>4</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Dev</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Patel</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dev@</a:t>
                      </a:r>
                      <a:r>
                        <a:rPr lang="en">
                          <a:solidFill>
                            <a:schemeClr val="dk2"/>
                          </a:solidFill>
                        </a:rPr>
                        <a:t>sisb</a:t>
                      </a:r>
                      <a:r>
                        <a:rPr lang="en"/>
                        <a:t>school.com</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pic>
        <p:nvPicPr>
          <p:cNvPr id="198" name="Google Shape;198;p31"/>
          <p:cNvPicPr preferRelativeResize="0"/>
          <p:nvPr/>
        </p:nvPicPr>
        <p:blipFill>
          <a:blip r:embed="rId3">
            <a:alphaModFix/>
          </a:blip>
          <a:stretch>
            <a:fillRect/>
          </a:stretch>
        </p:blipFill>
        <p:spPr>
          <a:xfrm>
            <a:off x="5703021" y="2926478"/>
            <a:ext cx="3001350" cy="1586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Clause</a:t>
            </a:r>
            <a:endParaRPr/>
          </a:p>
        </p:txBody>
      </p:sp>
      <p:sp>
        <p:nvSpPr>
          <p:cNvPr id="204" name="Google Shape;204;p3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32"/>
          <p:cNvPicPr preferRelativeResize="0"/>
          <p:nvPr/>
        </p:nvPicPr>
        <p:blipFill>
          <a:blip r:embed="rId3">
            <a:alphaModFix/>
          </a:blip>
          <a:stretch>
            <a:fillRect/>
          </a:stretch>
        </p:blipFill>
        <p:spPr>
          <a:xfrm>
            <a:off x="6087646" y="158338"/>
            <a:ext cx="2209800" cy="2028825"/>
          </a:xfrm>
          <a:prstGeom prst="rect">
            <a:avLst/>
          </a:prstGeom>
          <a:noFill/>
          <a:ln>
            <a:noFill/>
          </a:ln>
        </p:spPr>
      </p:pic>
      <p:graphicFrame>
        <p:nvGraphicFramePr>
          <p:cNvPr id="206" name="Google Shape;206;p32"/>
          <p:cNvGraphicFramePr/>
          <p:nvPr/>
        </p:nvGraphicFramePr>
        <p:xfrm>
          <a:off x="625038" y="2312800"/>
          <a:ext cx="3000000" cy="3000000"/>
        </p:xfrm>
        <a:graphic>
          <a:graphicData uri="http://schemas.openxmlformats.org/drawingml/2006/table">
            <a:tbl>
              <a:tblPr>
                <a:noFill/>
                <a:tableStyleId>{37344A4C-0A25-4AE6-97F8-B57DEE62A804}</a:tableStyleId>
              </a:tblPr>
              <a:tblGrid>
                <a:gridCol w="3014500"/>
                <a:gridCol w="3014500"/>
                <a:gridCol w="1864900"/>
              </a:tblGrid>
              <a:tr h="342900">
                <a:tc>
                  <a:txBody>
                    <a:bodyPr/>
                    <a:lstStyle/>
                    <a:p>
                      <a:pPr indent="0" lvl="0" marL="0" rtl="0" algn="l">
                        <a:lnSpc>
                          <a:spcPct val="115000"/>
                        </a:lnSpc>
                        <a:spcBef>
                          <a:spcPts val="0"/>
                        </a:spcBef>
                        <a:spcAft>
                          <a:spcPts val="0"/>
                        </a:spcAft>
                        <a:buNone/>
                      </a:pPr>
                      <a:r>
                        <a:rPr b="1" lang="en" sz="1100"/>
                        <a:t>student_id</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first_name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grade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71475">
                <a:tc>
                  <a:txBody>
                    <a:bodyPr/>
                    <a:lstStyle/>
                    <a:p>
                      <a:pPr indent="0" lvl="0" marL="0" rtl="0" algn="l">
                        <a:lnSpc>
                          <a:spcPct val="115000"/>
                        </a:lnSpc>
                        <a:spcBef>
                          <a:spcPts val="0"/>
                        </a:spcBef>
                        <a:spcAft>
                          <a:spcPts val="0"/>
                        </a:spcAft>
                        <a:buNone/>
                      </a:pPr>
                      <a:r>
                        <a:rPr lang="en"/>
                        <a:t>✅ 1</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Anya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2</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Boon</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3</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Chloe</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4</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Dev</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Clause</a:t>
            </a:r>
            <a:endParaRPr/>
          </a:p>
        </p:txBody>
      </p:sp>
      <p:sp>
        <p:nvSpPr>
          <p:cNvPr id="212" name="Google Shape;212;p3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13" name="Google Shape;213;p33"/>
          <p:cNvPicPr preferRelativeResize="0"/>
          <p:nvPr/>
        </p:nvPicPr>
        <p:blipFill>
          <a:blip r:embed="rId3">
            <a:alphaModFix/>
          </a:blip>
          <a:stretch>
            <a:fillRect/>
          </a:stretch>
        </p:blipFill>
        <p:spPr>
          <a:xfrm>
            <a:off x="6552600" y="206201"/>
            <a:ext cx="2359000" cy="2165800"/>
          </a:xfrm>
          <a:prstGeom prst="rect">
            <a:avLst/>
          </a:prstGeom>
          <a:noFill/>
          <a:ln>
            <a:noFill/>
          </a:ln>
        </p:spPr>
      </p:pic>
      <p:graphicFrame>
        <p:nvGraphicFramePr>
          <p:cNvPr id="214" name="Google Shape;214;p33"/>
          <p:cNvGraphicFramePr/>
          <p:nvPr/>
        </p:nvGraphicFramePr>
        <p:xfrm>
          <a:off x="549663" y="2620525"/>
          <a:ext cx="3000000" cy="3000000"/>
        </p:xfrm>
        <a:graphic>
          <a:graphicData uri="http://schemas.openxmlformats.org/drawingml/2006/table">
            <a:tbl>
              <a:tblPr>
                <a:noFill/>
                <a:tableStyleId>{37344A4C-0A25-4AE6-97F8-B57DEE62A804}</a:tableStyleId>
              </a:tblPr>
              <a:tblGrid>
                <a:gridCol w="3014500"/>
                <a:gridCol w="3014500"/>
                <a:gridCol w="1864900"/>
              </a:tblGrid>
              <a:tr h="342900">
                <a:tc>
                  <a:txBody>
                    <a:bodyPr/>
                    <a:lstStyle/>
                    <a:p>
                      <a:pPr indent="0" lvl="0" marL="0" rtl="0" algn="l">
                        <a:lnSpc>
                          <a:spcPct val="115000"/>
                        </a:lnSpc>
                        <a:spcBef>
                          <a:spcPts val="0"/>
                        </a:spcBef>
                        <a:spcAft>
                          <a:spcPts val="0"/>
                        </a:spcAft>
                        <a:buNone/>
                      </a:pPr>
                      <a:r>
                        <a:rPr b="1" lang="en" sz="1100"/>
                        <a:t>student_id</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first_name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grade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71475">
                <a:tc>
                  <a:txBody>
                    <a:bodyPr/>
                    <a:lstStyle/>
                    <a:p>
                      <a:pPr indent="0" lvl="0" marL="0" rtl="0" algn="l">
                        <a:lnSpc>
                          <a:spcPct val="115000"/>
                        </a:lnSpc>
                        <a:spcBef>
                          <a:spcPts val="0"/>
                        </a:spcBef>
                        <a:spcAft>
                          <a:spcPts val="0"/>
                        </a:spcAft>
                        <a:buNone/>
                      </a:pPr>
                      <a:r>
                        <a:rPr lang="en"/>
                        <a:t>✅ 1</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Anya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2</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Boon</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B</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3</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Chloe</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t>❌ 4</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Dev</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graphicFrame>
        <p:nvGraphicFramePr>
          <p:cNvPr id="215" name="Google Shape;215;p33"/>
          <p:cNvGraphicFramePr/>
          <p:nvPr/>
        </p:nvGraphicFramePr>
        <p:xfrm>
          <a:off x="2350484" y="146096"/>
          <a:ext cx="3000000" cy="3000000"/>
        </p:xfrm>
        <a:graphic>
          <a:graphicData uri="http://schemas.openxmlformats.org/drawingml/2006/table">
            <a:tbl>
              <a:tblPr>
                <a:noFill/>
                <a:tableStyleId>{37344A4C-0A25-4AE6-97F8-B57DEE62A804}</a:tableStyleId>
              </a:tblPr>
              <a:tblGrid>
                <a:gridCol w="1059725"/>
                <a:gridCol w="3037900"/>
              </a:tblGrid>
              <a:tr h="251525">
                <a:tc>
                  <a:txBody>
                    <a:bodyPr/>
                    <a:lstStyle/>
                    <a:p>
                      <a:pPr indent="0" lvl="0" marL="0" rtl="0" algn="l">
                        <a:lnSpc>
                          <a:spcPct val="115000"/>
                        </a:lnSpc>
                        <a:spcBef>
                          <a:spcPts val="0"/>
                        </a:spcBef>
                        <a:spcAft>
                          <a:spcPts val="0"/>
                        </a:spcAft>
                        <a:buNone/>
                      </a:pPr>
                      <a:r>
                        <a:rPr b="1" lang="en" sz="1100"/>
                        <a:t>Operator</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t>Meaning</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293450">
                <a:tc>
                  <a:txBody>
                    <a:bodyPr/>
                    <a:lstStyle/>
                    <a:p>
                      <a:pPr indent="0" lvl="0" marL="0" rtl="0" algn="l">
                        <a:lnSpc>
                          <a:spcPct val="115000"/>
                        </a:lnSpc>
                        <a:spcBef>
                          <a:spcPts val="0"/>
                        </a:spcBef>
                        <a:spcAft>
                          <a:spcPts val="0"/>
                        </a:spcAft>
                        <a:buNone/>
                      </a:pPr>
                      <a:r>
                        <a:rPr lang="e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Equals</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93450">
                <a:tc>
                  <a:txBody>
                    <a:bodyPr/>
                    <a:lstStyle/>
                    <a:p>
                      <a:pPr indent="0" lvl="0" marL="0" rtl="0" algn="l">
                        <a:lnSpc>
                          <a:spcPct val="115000"/>
                        </a:lnSpc>
                        <a:spcBef>
                          <a:spcPts val="0"/>
                        </a:spcBef>
                        <a:spcAft>
                          <a:spcPts val="0"/>
                        </a:spcAft>
                        <a:buNone/>
                      </a:pPr>
                      <a:r>
                        <a:rPr lang="en" sz="1100">
                          <a:solidFill>
                            <a:srgbClr val="188038"/>
                          </a:solidFill>
                          <a:latin typeface="Roboto Mono"/>
                          <a:ea typeface="Roboto Mono"/>
                          <a:cs typeface="Roboto Mono"/>
                          <a:sym typeface="Roboto Mono"/>
                        </a:rPr>
                        <a:t>&lt;&gt;</a:t>
                      </a:r>
                      <a:endParaRPr sz="1100">
                        <a:solidFill>
                          <a:srgbClr val="188038"/>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Not equals</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93450">
                <a:tc>
                  <a:txBody>
                    <a:bodyPr/>
                    <a:lstStyle/>
                    <a:p>
                      <a:pPr indent="0" lvl="0" marL="0" rtl="0" algn="l">
                        <a:lnSpc>
                          <a:spcPct val="115000"/>
                        </a:lnSpc>
                        <a:spcBef>
                          <a:spcPts val="0"/>
                        </a:spcBef>
                        <a:spcAft>
                          <a:spcPts val="0"/>
                        </a:spcAft>
                        <a:buNone/>
                      </a:pPr>
                      <a:r>
                        <a:rPr lang="en" sz="1100">
                          <a:solidFill>
                            <a:srgbClr val="188038"/>
                          </a:solidFill>
                          <a:latin typeface="Roboto Mono"/>
                          <a:ea typeface="Roboto Mono"/>
                          <a:cs typeface="Roboto Mono"/>
                          <a:sym typeface="Roboto Mono"/>
                        </a:rPr>
                        <a:t>&gt;</a:t>
                      </a:r>
                      <a:r>
                        <a:rPr lang="en" sz="1100"/>
                        <a:t> / </a:t>
                      </a:r>
                      <a:r>
                        <a:rPr lang="en" sz="1100">
                          <a:solidFill>
                            <a:srgbClr val="188038"/>
                          </a:solidFill>
                          <a:latin typeface="Roboto Mono"/>
                          <a:ea typeface="Roboto Mono"/>
                          <a:cs typeface="Roboto Mono"/>
                          <a:sym typeface="Roboto Mono"/>
                        </a:rPr>
                        <a:t>&lt;</a:t>
                      </a:r>
                      <a:endParaRPr sz="1100">
                        <a:solidFill>
                          <a:srgbClr val="188038"/>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Greater / Less than</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93450">
                <a:tc>
                  <a:txBody>
                    <a:bodyPr/>
                    <a:lstStyle/>
                    <a:p>
                      <a:pPr indent="0" lvl="0" marL="0" rtl="0" algn="l">
                        <a:lnSpc>
                          <a:spcPct val="115000"/>
                        </a:lnSpc>
                        <a:spcBef>
                          <a:spcPts val="0"/>
                        </a:spcBef>
                        <a:spcAft>
                          <a:spcPts val="0"/>
                        </a:spcAft>
                        <a:buNone/>
                      </a:pPr>
                      <a:r>
                        <a:rPr lang="en" sz="1100">
                          <a:solidFill>
                            <a:srgbClr val="188038"/>
                          </a:solidFill>
                          <a:latin typeface="Roboto Mono"/>
                          <a:ea typeface="Roboto Mono"/>
                          <a:cs typeface="Roboto Mono"/>
                          <a:sym typeface="Roboto Mono"/>
                        </a:rPr>
                        <a:t>&gt;=</a:t>
                      </a:r>
                      <a:r>
                        <a:rPr lang="en" sz="1100"/>
                        <a:t> / </a:t>
                      </a:r>
                      <a:r>
                        <a:rPr lang="en" sz="1100">
                          <a:solidFill>
                            <a:srgbClr val="188038"/>
                          </a:solidFill>
                          <a:latin typeface="Roboto Mono"/>
                          <a:ea typeface="Roboto Mono"/>
                          <a:cs typeface="Roboto Mono"/>
                          <a:sym typeface="Roboto Mono"/>
                        </a:rPr>
                        <a:t>&lt;=</a:t>
                      </a:r>
                      <a:endParaRPr sz="1100">
                        <a:solidFill>
                          <a:srgbClr val="188038"/>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Greater or equal / Less or equal</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51525">
                <a:tc>
                  <a:txBody>
                    <a:bodyPr/>
                    <a:lstStyle/>
                    <a:p>
                      <a:pPr indent="0" lvl="0" marL="0" rtl="0" algn="l">
                        <a:lnSpc>
                          <a:spcPct val="115000"/>
                        </a:lnSpc>
                        <a:spcBef>
                          <a:spcPts val="0"/>
                        </a:spcBef>
                        <a:spcAft>
                          <a:spcPts val="0"/>
                        </a:spcAft>
                        <a:buNone/>
                      </a:pPr>
                      <a:r>
                        <a:rPr lang="en" sz="1100">
                          <a:solidFill>
                            <a:srgbClr val="188038"/>
                          </a:solidFill>
                          <a:latin typeface="Roboto Mono"/>
                          <a:ea typeface="Roboto Mono"/>
                          <a:cs typeface="Roboto Mono"/>
                          <a:sym typeface="Roboto Mono"/>
                        </a:rPr>
                        <a:t>LIKE</a:t>
                      </a:r>
                      <a:endParaRPr sz="1100">
                        <a:solidFill>
                          <a:srgbClr val="188038"/>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Pattern match (e.g. </a:t>
                      </a:r>
                      <a:r>
                        <a:rPr lang="en" sz="1100">
                          <a:solidFill>
                            <a:srgbClr val="188038"/>
                          </a:solidFill>
                          <a:latin typeface="Roboto Mono"/>
                          <a:ea typeface="Roboto Mono"/>
                          <a:cs typeface="Roboto Mono"/>
                          <a:sym typeface="Roboto Mono"/>
                        </a:rPr>
                        <a:t>'A%'</a:t>
                      </a:r>
                      <a:r>
                        <a:rPr lang="en" sz="1100"/>
                        <a:t>)</a:t>
                      </a:r>
                      <a:endParaRPr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graphicFrame>
        <p:nvGraphicFramePr>
          <p:cNvPr id="216" name="Google Shape;216;p33"/>
          <p:cNvGraphicFramePr/>
          <p:nvPr/>
        </p:nvGraphicFramePr>
        <p:xfrm>
          <a:off x="589228" y="2620520"/>
          <a:ext cx="3000000" cy="3000000"/>
        </p:xfrm>
        <a:graphic>
          <a:graphicData uri="http://schemas.openxmlformats.org/drawingml/2006/table">
            <a:tbl>
              <a:tblPr>
                <a:noFill/>
                <a:tableStyleId>{37344A4C-0A25-4AE6-97F8-B57DEE62A804}</a:tableStyleId>
              </a:tblPr>
              <a:tblGrid>
                <a:gridCol w="3014500"/>
                <a:gridCol w="3014500"/>
                <a:gridCol w="1864900"/>
              </a:tblGrid>
              <a:tr h="342900">
                <a:tc>
                  <a:txBody>
                    <a:bodyPr/>
                    <a:lstStyle/>
                    <a:p>
                      <a:pPr indent="0" lvl="0" marL="0" rtl="0" algn="l">
                        <a:lnSpc>
                          <a:spcPct val="115000"/>
                        </a:lnSpc>
                        <a:spcBef>
                          <a:spcPts val="0"/>
                        </a:spcBef>
                        <a:spcAft>
                          <a:spcPts val="0"/>
                        </a:spcAft>
                        <a:buNone/>
                      </a:pPr>
                      <a:r>
                        <a:rPr b="1" lang="en" sz="1100">
                          <a:highlight>
                            <a:srgbClr val="FFFFFF"/>
                          </a:highlight>
                        </a:rPr>
                        <a:t>student_id</a:t>
                      </a:r>
                      <a:endParaRPr b="1" sz="1100">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highlight>
                            <a:srgbClr val="FFFFFF"/>
                          </a:highlight>
                        </a:rPr>
                        <a:t>first_name</a:t>
                      </a:r>
                      <a:endParaRPr b="1" sz="1100">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100">
                          <a:highlight>
                            <a:srgbClr val="FFFFFF"/>
                          </a:highlight>
                        </a:rPr>
                        <a:t>grade</a:t>
                      </a:r>
                      <a:endParaRPr b="1" sz="1100">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93775">
                <a:tc>
                  <a:txBody>
                    <a:bodyPr/>
                    <a:lstStyle/>
                    <a:p>
                      <a:pPr indent="0" lvl="0" marL="0" rtl="0" algn="l">
                        <a:lnSpc>
                          <a:spcPct val="115000"/>
                        </a:lnSpc>
                        <a:spcBef>
                          <a:spcPts val="0"/>
                        </a:spcBef>
                        <a:spcAft>
                          <a:spcPts val="0"/>
                        </a:spcAft>
                        <a:buNone/>
                      </a:pPr>
                      <a:r>
                        <a:rPr lang="en">
                          <a:solidFill>
                            <a:schemeClr val="dk2"/>
                          </a:solidFill>
                          <a:highlight>
                            <a:srgbClr val="FFFFFF"/>
                          </a:highlight>
                        </a:rPr>
                        <a:t>❌ </a:t>
                      </a:r>
                      <a:r>
                        <a:rPr lang="en">
                          <a:highlight>
                            <a:srgbClr val="FFFFFF"/>
                          </a:highlight>
                        </a:rPr>
                        <a:t> 1</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Anya</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A</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highlight>
                            <a:srgbClr val="FFFFFF"/>
                          </a:highlight>
                        </a:rPr>
                        <a:t> </a:t>
                      </a:r>
                      <a:r>
                        <a:rPr lang="en">
                          <a:solidFill>
                            <a:schemeClr val="dk2"/>
                          </a:solidFill>
                          <a:highlight>
                            <a:srgbClr val="FFFFFF"/>
                          </a:highlight>
                        </a:rPr>
                        <a:t>❌ </a:t>
                      </a:r>
                      <a:r>
                        <a:rPr lang="en">
                          <a:highlight>
                            <a:srgbClr val="FFFFFF"/>
                          </a:highlight>
                        </a:rPr>
                        <a:t>2</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Boon</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B</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highlight>
                            <a:srgbClr val="FFFFFF"/>
                          </a:highlight>
                        </a:rPr>
                        <a:t>✅ 3</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Chloe</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A</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
                          <a:solidFill>
                            <a:schemeClr val="dk2"/>
                          </a:solidFill>
                          <a:highlight>
                            <a:srgbClr val="FFFFFF"/>
                          </a:highlight>
                        </a:rPr>
                        <a:t>✅</a:t>
                      </a:r>
                      <a:r>
                        <a:rPr lang="en">
                          <a:highlight>
                            <a:srgbClr val="FFFFFF"/>
                          </a:highlight>
                        </a:rPr>
                        <a:t>4</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Dev</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highlight>
                            <a:srgbClr val="FFFFFF"/>
                          </a:highlight>
                        </a:rPr>
                        <a:t>C</a:t>
                      </a:r>
                      <a:endParaRPr>
                        <a:highlight>
                          <a:srgbClr val="FFFFFF"/>
                        </a:highlight>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 OR + Full Syntax</a:t>
            </a:r>
            <a:endParaRPr/>
          </a:p>
        </p:txBody>
      </p:sp>
      <p:sp>
        <p:nvSpPr>
          <p:cNvPr id="222" name="Google Shape;222;p3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a:solidFill>
                  <a:srgbClr val="0000FF"/>
                </a:solidFill>
                <a:latin typeface="Courier New"/>
                <a:ea typeface="Courier New"/>
                <a:cs typeface="Courier New"/>
                <a:sym typeface="Courier New"/>
              </a:rPr>
              <a:t>SELECT </a:t>
            </a:r>
            <a:r>
              <a:rPr lang="en">
                <a:latin typeface="Courier New"/>
                <a:ea typeface="Courier New"/>
                <a:cs typeface="Courier New"/>
                <a:sym typeface="Courier New"/>
              </a:rPr>
              <a:t>column1, column2</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
                <a:solidFill>
                  <a:srgbClr val="0000FF"/>
                </a:solidFill>
                <a:latin typeface="Courier New"/>
                <a:ea typeface="Courier New"/>
                <a:cs typeface="Courier New"/>
                <a:sym typeface="Courier New"/>
              </a:rPr>
              <a:t>FROM </a:t>
            </a:r>
            <a:r>
              <a:rPr lang="en">
                <a:latin typeface="Courier New"/>
                <a:ea typeface="Courier New"/>
                <a:cs typeface="Courier New"/>
                <a:sym typeface="Courier New"/>
              </a:rPr>
              <a:t>  table_name</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
                <a:solidFill>
                  <a:srgbClr val="990000"/>
                </a:solidFill>
                <a:latin typeface="Courier New"/>
                <a:ea typeface="Courier New"/>
                <a:cs typeface="Courier New"/>
                <a:sym typeface="Courier New"/>
              </a:rPr>
              <a:t>WHERE </a:t>
            </a:r>
            <a:r>
              <a:rPr lang="en">
                <a:latin typeface="Courier New"/>
                <a:ea typeface="Courier New"/>
                <a:cs typeface="Courier New"/>
                <a:sym typeface="Courier New"/>
              </a:rPr>
              <a:t> condition;</a:t>
            </a:r>
            <a:endParaRPr>
              <a:latin typeface="Courier New"/>
              <a:ea typeface="Courier New"/>
              <a:cs typeface="Courier New"/>
              <a:sym typeface="Courier New"/>
            </a:endParaRPr>
          </a:p>
          <a:p>
            <a:pPr indent="0" lvl="0" marL="0" rtl="0" algn="l">
              <a:spcBef>
                <a:spcPts val="0"/>
              </a:spcBef>
              <a:spcAft>
                <a:spcPts val="0"/>
              </a:spcAft>
              <a:buNone/>
            </a:pPr>
            <a:r>
              <a:t/>
            </a:r>
            <a:endParaRPr/>
          </a:p>
        </p:txBody>
      </p:sp>
      <p:pic>
        <p:nvPicPr>
          <p:cNvPr id="223" name="Google Shape;223;p34"/>
          <p:cNvPicPr preferRelativeResize="0"/>
          <p:nvPr/>
        </p:nvPicPr>
        <p:blipFill>
          <a:blip r:embed="rId3">
            <a:alphaModFix/>
          </a:blip>
          <a:stretch>
            <a:fillRect/>
          </a:stretch>
        </p:blipFill>
        <p:spPr>
          <a:xfrm>
            <a:off x="4991663" y="224463"/>
            <a:ext cx="3648075" cy="2600325"/>
          </a:xfrm>
          <a:prstGeom prst="rect">
            <a:avLst/>
          </a:prstGeom>
          <a:noFill/>
          <a:ln>
            <a:noFill/>
          </a:ln>
        </p:spPr>
      </p:pic>
      <p:graphicFrame>
        <p:nvGraphicFramePr>
          <p:cNvPr id="224" name="Google Shape;224;p34"/>
          <p:cNvGraphicFramePr/>
          <p:nvPr/>
        </p:nvGraphicFramePr>
        <p:xfrm>
          <a:off x="4309925" y="3066426"/>
          <a:ext cx="3000000" cy="3000000"/>
        </p:xfrm>
        <a:graphic>
          <a:graphicData uri="http://schemas.openxmlformats.org/drawingml/2006/table">
            <a:tbl>
              <a:tblPr>
                <a:noFill/>
                <a:tableStyleId>{37344A4C-0A25-4AE6-97F8-B57DEE62A804}</a:tableStyleId>
              </a:tblPr>
              <a:tblGrid>
                <a:gridCol w="1367600"/>
                <a:gridCol w="1362550"/>
                <a:gridCol w="1970375"/>
              </a:tblGrid>
              <a:tr h="342900">
                <a:tc>
                  <a:txBody>
                    <a:bodyPr/>
                    <a:lstStyle/>
                    <a:p>
                      <a:pPr indent="0" lvl="0" marL="0" rtl="0" algn="l">
                        <a:spcBef>
                          <a:spcPts val="0"/>
                        </a:spcBef>
                        <a:spcAft>
                          <a:spcPts val="0"/>
                        </a:spcAft>
                        <a:buNone/>
                      </a:pPr>
                      <a:r>
                        <a:t/>
                      </a:r>
                      <a:endParaRPr sz="22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900">
                          <a:latin typeface="Questrial"/>
                          <a:ea typeface="Questrial"/>
                          <a:cs typeface="Questrial"/>
                          <a:sym typeface="Questrial"/>
                        </a:rPr>
                        <a:t>AND</a:t>
                      </a:r>
                      <a:endParaRPr b="1" sz="19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900">
                          <a:latin typeface="Questrial"/>
                          <a:ea typeface="Questrial"/>
                          <a:cs typeface="Questrial"/>
                          <a:sym typeface="Questrial"/>
                        </a:rPr>
                        <a:t>OR</a:t>
                      </a:r>
                      <a:endParaRPr b="1" sz="19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342900">
                <a:tc>
                  <a:txBody>
                    <a:bodyPr/>
                    <a:lstStyle/>
                    <a:p>
                      <a:pPr indent="0" lvl="0" marL="0" rtl="0" algn="l">
                        <a:lnSpc>
                          <a:spcPct val="115000"/>
                        </a:lnSpc>
                        <a:spcBef>
                          <a:spcPts val="0"/>
                        </a:spcBef>
                        <a:spcAft>
                          <a:spcPts val="0"/>
                        </a:spcAft>
                        <a:buNone/>
                      </a:pPr>
                      <a:r>
                        <a:rPr i="1" lang="en" sz="1100">
                          <a:latin typeface="Questrial"/>
                          <a:ea typeface="Questrial"/>
                          <a:cs typeface="Questrial"/>
                          <a:sym typeface="Questrial"/>
                        </a:rPr>
                        <a:t>Condition required</a:t>
                      </a:r>
                      <a:endParaRPr i="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Both</a:t>
                      </a:r>
                      <a:r>
                        <a:rPr lang="en" sz="1100">
                          <a:latin typeface="Questrial"/>
                          <a:ea typeface="Questrial"/>
                          <a:cs typeface="Questrial"/>
                          <a:sym typeface="Questrial"/>
                        </a:rPr>
                        <a:t> must be true</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Either</a:t>
                      </a:r>
                      <a:r>
                        <a:rPr lang="en" sz="1100">
                          <a:latin typeface="Questrial"/>
                          <a:ea typeface="Questrial"/>
                          <a:cs typeface="Questrial"/>
                          <a:sym typeface="Questrial"/>
                        </a:rPr>
                        <a:t> can be true</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i="1" lang="en" sz="1100">
                          <a:latin typeface="Questrial"/>
                          <a:ea typeface="Questrial"/>
                          <a:cs typeface="Questrial"/>
                          <a:sym typeface="Questrial"/>
                        </a:rPr>
                        <a:t>Rows returned</a:t>
                      </a:r>
                      <a:endParaRPr i="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latin typeface="Questrial"/>
                          <a:ea typeface="Questrial"/>
                          <a:cs typeface="Questrial"/>
                          <a:sym typeface="Questrial"/>
                        </a:rPr>
                        <a:t>Fewer (narrower)</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latin typeface="Questrial"/>
                          <a:ea typeface="Questrial"/>
                          <a:cs typeface="Questrial"/>
                          <a:sym typeface="Questrial"/>
                        </a:rPr>
                        <a:t>More (broader)</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i="1" lang="en" sz="1100">
                          <a:latin typeface="Questrial"/>
                          <a:ea typeface="Questrial"/>
                          <a:cs typeface="Questrial"/>
                          <a:sym typeface="Questrial"/>
                        </a:rPr>
                        <a:t>Example result</a:t>
                      </a:r>
                      <a:endParaRPr i="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latin typeface="Questrial"/>
                          <a:ea typeface="Questrial"/>
                          <a:cs typeface="Questrial"/>
                          <a:sym typeface="Questrial"/>
                        </a:rPr>
                        <a:t>Chloe only (1 row)</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latin typeface="Questrial"/>
                          <a:ea typeface="Questrial"/>
                          <a:cs typeface="Questrial"/>
                          <a:sym typeface="Questrial"/>
                        </a:rPr>
                        <a:t>Anya, Boon, Chloe (3 rows)</a:t>
                      </a:r>
                      <a:endParaRPr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Worked Example</a:t>
            </a:r>
            <a:endParaRPr/>
          </a:p>
        </p:txBody>
      </p:sp>
      <p:graphicFrame>
        <p:nvGraphicFramePr>
          <p:cNvPr id="230" name="Google Shape;230;p35"/>
          <p:cNvGraphicFramePr/>
          <p:nvPr/>
        </p:nvGraphicFramePr>
        <p:xfrm>
          <a:off x="975100" y="1072075"/>
          <a:ext cx="3000000" cy="3000000"/>
        </p:xfrm>
        <a:graphic>
          <a:graphicData uri="http://schemas.openxmlformats.org/drawingml/2006/table">
            <a:tbl>
              <a:tblPr>
                <a:noFill/>
                <a:tableStyleId>{37344A4C-0A25-4AE6-97F8-B57DEE62A804}</a:tableStyleId>
              </a:tblPr>
              <a:tblGrid>
                <a:gridCol w="1406425"/>
                <a:gridCol w="1215350"/>
                <a:gridCol w="1177125"/>
                <a:gridCol w="1291775"/>
                <a:gridCol w="779650"/>
                <a:gridCol w="1222975"/>
              </a:tblGrid>
              <a:tr h="342900">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employee_id</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first_name</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last_name</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department</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salary</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hire_date</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1</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Sara</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Malone</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Marketing</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45000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2021-03-15</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James</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Tran</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IT</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72000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2019-07-01</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3</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Priya</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Nair</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HR</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38000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2022-11-20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4</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Kevin</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Wong</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IT</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68000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2020-05-10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5</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Laura</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Smith</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Marketing</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51000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2018-01-30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6</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Ahmed</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Hassan</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HR</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41000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2023-02-14</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Worked Example</a:t>
            </a:r>
            <a:endParaRPr/>
          </a:p>
        </p:txBody>
      </p:sp>
      <p:sp>
        <p:nvSpPr>
          <p:cNvPr id="236" name="Google Shape;236;p36"/>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Task: Retrieve only the first name, </a:t>
            </a:r>
            <a:br>
              <a:rPr lang="en" sz="2100"/>
            </a:br>
            <a:r>
              <a:rPr lang="en" sz="2100"/>
              <a:t>last name, and department of all </a:t>
            </a:r>
            <a:br>
              <a:rPr lang="en" sz="2100"/>
            </a:br>
            <a:r>
              <a:rPr lang="en" sz="2100"/>
              <a:t>employees.</a:t>
            </a:r>
            <a:endParaRPr sz="2100"/>
          </a:p>
          <a:p>
            <a:pPr indent="0" lvl="0" marL="0" rtl="0" algn="l">
              <a:spcBef>
                <a:spcPts val="0"/>
              </a:spcBef>
              <a:spcAft>
                <a:spcPts val="0"/>
              </a:spcAft>
              <a:buNone/>
            </a:pPr>
            <a:r>
              <a:t/>
            </a:r>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SELECT </a:t>
            </a:r>
            <a:r>
              <a:rPr lang="en">
                <a:latin typeface="Courier New"/>
                <a:ea typeface="Courier New"/>
                <a:cs typeface="Courier New"/>
                <a:sym typeface="Courier New"/>
              </a:rPr>
              <a:t>first_name, last_name, department</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FROM </a:t>
            </a:r>
            <a:r>
              <a:rPr lang="en">
                <a:latin typeface="Courier New"/>
                <a:ea typeface="Courier New"/>
                <a:cs typeface="Courier New"/>
                <a:sym typeface="Courier New"/>
              </a:rPr>
              <a:t>  employees;</a:t>
            </a:r>
            <a:endParaRPr>
              <a:latin typeface="Courier New"/>
              <a:ea typeface="Courier New"/>
              <a:cs typeface="Courier New"/>
              <a:sym typeface="Courier New"/>
            </a:endParaRPr>
          </a:p>
        </p:txBody>
      </p:sp>
      <p:graphicFrame>
        <p:nvGraphicFramePr>
          <p:cNvPr id="237" name="Google Shape;237;p36"/>
          <p:cNvGraphicFramePr/>
          <p:nvPr/>
        </p:nvGraphicFramePr>
        <p:xfrm>
          <a:off x="4462250" y="2880213"/>
          <a:ext cx="3000000" cy="3000000"/>
        </p:xfrm>
        <a:graphic>
          <a:graphicData uri="http://schemas.openxmlformats.org/drawingml/2006/table">
            <a:tbl>
              <a:tblPr>
                <a:noFill/>
                <a:tableStyleId>{37344A4C-0A25-4AE6-97F8-B57DEE62A804}</a:tableStyleId>
              </a:tblPr>
              <a:tblGrid>
                <a:gridCol w="1284900"/>
                <a:gridCol w="1247125"/>
                <a:gridCol w="1364675"/>
              </a:tblGrid>
              <a:tr h="230275">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first_name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last_name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department</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Sara</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Malone</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Marketing</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James</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Tran</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IT</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Priya</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Nair</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HR</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Kevin</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Wong</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IT</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Laura</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Smith</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Marketing</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r h="313025">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Ahmed</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Hassan</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Questrial"/>
                          <a:ea typeface="Questrial"/>
                          <a:cs typeface="Questrial"/>
                          <a:sym typeface="Questrial"/>
                        </a:rPr>
                        <a:t>HR</a:t>
                      </a:r>
                      <a:endParaRPr sz="10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FFFFF"/>
                    </a:solidFill>
                  </a:tcPr>
                </a:tc>
              </a:tr>
            </a:tbl>
          </a:graphicData>
        </a:graphic>
      </p:graphicFrame>
      <p:graphicFrame>
        <p:nvGraphicFramePr>
          <p:cNvPr id="238" name="Google Shape;238;p36"/>
          <p:cNvGraphicFramePr/>
          <p:nvPr/>
        </p:nvGraphicFramePr>
        <p:xfrm>
          <a:off x="5157755" y="129985"/>
          <a:ext cx="3000000" cy="3000000"/>
        </p:xfrm>
        <a:graphic>
          <a:graphicData uri="http://schemas.openxmlformats.org/drawingml/2006/table">
            <a:tbl>
              <a:tblPr>
                <a:noFill/>
                <a:tableStyleId>{37344A4C-0A25-4AE6-97F8-B57DEE62A804}</a:tableStyleId>
              </a:tblPr>
              <a:tblGrid>
                <a:gridCol w="724525"/>
                <a:gridCol w="648550"/>
                <a:gridCol w="604800"/>
                <a:gridCol w="654225"/>
                <a:gridCol w="477900"/>
                <a:gridCol w="786650"/>
              </a:tblGrid>
              <a:tr h="254900">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employee_id</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first_name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last_name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department</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salary</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hire_date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Sara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Malone</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45000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2021-03-15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James</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Tran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72000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2019-07-01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Priya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Nair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2022-11-20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Kevin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Wong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2020-05-10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Laura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Smith</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2018-01-30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Ahmed</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Hassan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2023-02-14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2</a:t>
            </a:r>
            <a:endParaRPr/>
          </a:p>
        </p:txBody>
      </p:sp>
      <p:sp>
        <p:nvSpPr>
          <p:cNvPr id="244" name="Google Shape;244;p3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 all employees who work in the </a:t>
            </a:r>
            <a:br>
              <a:rPr lang="en"/>
            </a:br>
            <a:r>
              <a:rPr lang="en"/>
              <a:t>IT department.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SELECT </a:t>
            </a:r>
            <a:r>
              <a:rPr lang="en">
                <a:latin typeface="Courier New"/>
                <a:ea typeface="Courier New"/>
                <a:cs typeface="Courier New"/>
                <a:sym typeface="Courier New"/>
              </a:rPr>
              <a:t>first_name, last_name, salary</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FROM </a:t>
            </a:r>
            <a:r>
              <a:rPr lang="en">
                <a:latin typeface="Courier New"/>
                <a:ea typeface="Courier New"/>
                <a:cs typeface="Courier New"/>
                <a:sym typeface="Courier New"/>
              </a:rPr>
              <a:t>  employees</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WHERE </a:t>
            </a:r>
            <a:r>
              <a:rPr lang="en">
                <a:latin typeface="Courier New"/>
                <a:ea typeface="Courier New"/>
                <a:cs typeface="Courier New"/>
                <a:sym typeface="Courier New"/>
              </a:rPr>
              <a:t> department = 'IT';</a:t>
            </a:r>
            <a:endParaRPr>
              <a:latin typeface="Courier New"/>
              <a:ea typeface="Courier New"/>
              <a:cs typeface="Courier New"/>
              <a:sym typeface="Courier New"/>
            </a:endParaRPr>
          </a:p>
          <a:p>
            <a:pPr indent="0" lvl="0" marL="0" rtl="0" algn="l">
              <a:spcBef>
                <a:spcPts val="0"/>
              </a:spcBef>
              <a:spcAft>
                <a:spcPts val="0"/>
              </a:spcAft>
              <a:buNone/>
            </a:pPr>
            <a:r>
              <a:t/>
            </a:r>
            <a:endParaRPr/>
          </a:p>
        </p:txBody>
      </p:sp>
      <p:graphicFrame>
        <p:nvGraphicFramePr>
          <p:cNvPr id="245" name="Google Shape;245;p37"/>
          <p:cNvGraphicFramePr/>
          <p:nvPr/>
        </p:nvGraphicFramePr>
        <p:xfrm>
          <a:off x="4713530" y="2934561"/>
          <a:ext cx="3000000" cy="3000000"/>
        </p:xfrm>
        <a:graphic>
          <a:graphicData uri="http://schemas.openxmlformats.org/drawingml/2006/table">
            <a:tbl>
              <a:tblPr>
                <a:noFill/>
                <a:tableStyleId>{37344A4C-0A25-4AE6-97F8-B57DEE62A804}</a:tableStyleId>
              </a:tblPr>
              <a:tblGrid>
                <a:gridCol w="1529550"/>
                <a:gridCol w="1490675"/>
                <a:gridCol w="989450"/>
              </a:tblGrid>
              <a:tr h="301450">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first_name</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last_name</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latin typeface="Questrial"/>
                          <a:ea typeface="Questrial"/>
                          <a:cs typeface="Questrial"/>
                          <a:sym typeface="Questrial"/>
                        </a:rPr>
                        <a:t>salary</a:t>
                      </a:r>
                      <a:endParaRPr b="1" sz="11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61545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James</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Tran</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72000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615450">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Kevin</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Wong</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68000</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graphicFrame>
        <p:nvGraphicFramePr>
          <p:cNvPr id="246" name="Google Shape;246;p37"/>
          <p:cNvGraphicFramePr/>
          <p:nvPr/>
        </p:nvGraphicFramePr>
        <p:xfrm>
          <a:off x="5157755" y="129985"/>
          <a:ext cx="3000000" cy="3000000"/>
        </p:xfrm>
        <a:graphic>
          <a:graphicData uri="http://schemas.openxmlformats.org/drawingml/2006/table">
            <a:tbl>
              <a:tblPr>
                <a:noFill/>
                <a:tableStyleId>{37344A4C-0A25-4AE6-97F8-B57DEE62A804}</a:tableStyleId>
              </a:tblPr>
              <a:tblGrid>
                <a:gridCol w="724525"/>
                <a:gridCol w="648550"/>
                <a:gridCol w="604800"/>
                <a:gridCol w="654225"/>
                <a:gridCol w="477900"/>
                <a:gridCol w="786650"/>
              </a:tblGrid>
              <a:tr h="254900">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employee_id</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first_name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last_name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department</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salary</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hire_date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Sara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Malone</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45000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2021-03-15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James</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Tran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72000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2019-07-01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Priya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Nair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2022-11-20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Kevin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Wong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2020-05-10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Laura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Smith</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2018-01-30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Ahmed</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Hassan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2023-02-14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
        <p:nvSpPr>
          <p:cNvPr id="247" name="Google Shape;247;p37"/>
          <p:cNvSpPr/>
          <p:nvPr/>
        </p:nvSpPr>
        <p:spPr>
          <a:xfrm>
            <a:off x="232350" y="2419300"/>
            <a:ext cx="8679300" cy="22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latin typeface="Questrial"/>
                <a:ea typeface="Questrial"/>
                <a:cs typeface="Questrial"/>
                <a:sym typeface="Questrial"/>
              </a:rPr>
              <a:t>SQL + Table Results?</a:t>
            </a:r>
            <a:endParaRPr sz="3400">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3</a:t>
            </a:r>
            <a:endParaRPr/>
          </a:p>
        </p:txBody>
      </p:sp>
      <p:sp>
        <p:nvSpPr>
          <p:cNvPr id="253" name="Google Shape;253;p3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Find employees in Marketing </a:t>
            </a:r>
            <a:br>
              <a:rPr lang="en"/>
            </a:br>
            <a:r>
              <a:rPr lang="en"/>
              <a:t>who earn more than 48,000.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900">
                <a:solidFill>
                  <a:srgbClr val="0000FF"/>
                </a:solidFill>
                <a:latin typeface="Courier New"/>
                <a:ea typeface="Courier New"/>
                <a:cs typeface="Courier New"/>
                <a:sym typeface="Courier New"/>
              </a:rPr>
              <a:t>SELECT </a:t>
            </a:r>
            <a:r>
              <a:rPr lang="en" sz="1900">
                <a:latin typeface="Courier New"/>
                <a:ea typeface="Courier New"/>
                <a:cs typeface="Courier New"/>
                <a:sym typeface="Courier New"/>
              </a:rPr>
              <a:t>first_name, last_name, department, salary</a:t>
            </a:r>
            <a:endParaRPr sz="1900">
              <a:latin typeface="Courier New"/>
              <a:ea typeface="Courier New"/>
              <a:cs typeface="Courier New"/>
              <a:sym typeface="Courier New"/>
            </a:endParaRPr>
          </a:p>
          <a:p>
            <a:pPr indent="0" lvl="0" marL="0" rtl="0" algn="l">
              <a:spcBef>
                <a:spcPts val="0"/>
              </a:spcBef>
              <a:spcAft>
                <a:spcPts val="0"/>
              </a:spcAft>
              <a:buNone/>
            </a:pPr>
            <a:r>
              <a:rPr b="1" lang="en" sz="1900">
                <a:solidFill>
                  <a:srgbClr val="0000FF"/>
                </a:solidFill>
                <a:latin typeface="Courier New"/>
                <a:ea typeface="Courier New"/>
                <a:cs typeface="Courier New"/>
                <a:sym typeface="Courier New"/>
              </a:rPr>
              <a:t>FROM </a:t>
            </a:r>
            <a:r>
              <a:rPr lang="en" sz="1900">
                <a:latin typeface="Courier New"/>
                <a:ea typeface="Courier New"/>
                <a:cs typeface="Courier New"/>
                <a:sym typeface="Courier New"/>
              </a:rPr>
              <a:t>  employees</a:t>
            </a:r>
            <a:endParaRPr sz="1900">
              <a:latin typeface="Courier New"/>
              <a:ea typeface="Courier New"/>
              <a:cs typeface="Courier New"/>
              <a:sym typeface="Courier New"/>
            </a:endParaRPr>
          </a:p>
          <a:p>
            <a:pPr indent="0" lvl="0" marL="0" rtl="0" algn="l">
              <a:spcBef>
                <a:spcPts val="0"/>
              </a:spcBef>
              <a:spcAft>
                <a:spcPts val="0"/>
              </a:spcAft>
              <a:buNone/>
            </a:pPr>
            <a:r>
              <a:rPr b="1" lang="en" sz="1900">
                <a:solidFill>
                  <a:srgbClr val="0000FF"/>
                </a:solidFill>
                <a:latin typeface="Courier New"/>
                <a:ea typeface="Courier New"/>
                <a:cs typeface="Courier New"/>
                <a:sym typeface="Courier New"/>
              </a:rPr>
              <a:t>WHERE </a:t>
            </a:r>
            <a:r>
              <a:rPr lang="en" sz="1900">
                <a:latin typeface="Courier New"/>
                <a:ea typeface="Courier New"/>
                <a:cs typeface="Courier New"/>
                <a:sym typeface="Courier New"/>
              </a:rPr>
              <a:t> department = 'Marketing'</a:t>
            </a:r>
            <a:endParaRPr sz="1900">
              <a:latin typeface="Courier New"/>
              <a:ea typeface="Courier New"/>
              <a:cs typeface="Courier New"/>
              <a:sym typeface="Courier New"/>
            </a:endParaRPr>
          </a:p>
          <a:p>
            <a:pPr indent="0" lvl="0" marL="0" rtl="0" algn="l">
              <a:spcBef>
                <a:spcPts val="0"/>
              </a:spcBef>
              <a:spcAft>
                <a:spcPts val="0"/>
              </a:spcAft>
              <a:buNone/>
            </a:pPr>
            <a:r>
              <a:rPr lang="en" sz="1900">
                <a:latin typeface="Courier New"/>
                <a:ea typeface="Courier New"/>
                <a:cs typeface="Courier New"/>
                <a:sym typeface="Courier New"/>
              </a:rPr>
              <a:t>  </a:t>
            </a:r>
            <a:r>
              <a:rPr b="1" lang="en" sz="1900">
                <a:solidFill>
                  <a:srgbClr val="0000FF"/>
                </a:solidFill>
                <a:latin typeface="Courier New"/>
                <a:ea typeface="Courier New"/>
                <a:cs typeface="Courier New"/>
                <a:sym typeface="Courier New"/>
              </a:rPr>
              <a:t>AND </a:t>
            </a:r>
            <a:r>
              <a:rPr lang="en" sz="1900">
                <a:latin typeface="Courier New"/>
                <a:ea typeface="Courier New"/>
                <a:cs typeface="Courier New"/>
                <a:sym typeface="Courier New"/>
              </a:rPr>
              <a:t> salary &gt; 48000;</a:t>
            </a:r>
            <a:r>
              <a:rPr lang="en" sz="1900">
                <a:latin typeface="Arial"/>
                <a:ea typeface="Arial"/>
                <a:cs typeface="Arial"/>
                <a:sym typeface="Arial"/>
              </a:rPr>
              <a:t> </a:t>
            </a:r>
            <a:endParaRPr sz="3100"/>
          </a:p>
        </p:txBody>
      </p:sp>
      <p:graphicFrame>
        <p:nvGraphicFramePr>
          <p:cNvPr id="254" name="Google Shape;254;p38"/>
          <p:cNvGraphicFramePr/>
          <p:nvPr/>
        </p:nvGraphicFramePr>
        <p:xfrm>
          <a:off x="2155775" y="3882295"/>
          <a:ext cx="3000000" cy="3000000"/>
        </p:xfrm>
        <a:graphic>
          <a:graphicData uri="http://schemas.openxmlformats.org/drawingml/2006/table">
            <a:tbl>
              <a:tblPr>
                <a:noFill/>
                <a:tableStyleId>{37344A4C-0A25-4AE6-97F8-B57DEE62A804}</a:tableStyleId>
              </a:tblPr>
              <a:tblGrid>
                <a:gridCol w="1805300"/>
                <a:gridCol w="1755150"/>
                <a:gridCol w="1919925"/>
                <a:gridCol w="1167725"/>
              </a:tblGrid>
              <a:tr h="342900">
                <a:tc>
                  <a:txBody>
                    <a:bodyPr/>
                    <a:lstStyle/>
                    <a:p>
                      <a:pPr indent="0" lvl="0" marL="0" rtl="0" algn="l">
                        <a:lnSpc>
                          <a:spcPct val="115000"/>
                        </a:lnSpc>
                        <a:spcBef>
                          <a:spcPts val="0"/>
                        </a:spcBef>
                        <a:spcAft>
                          <a:spcPts val="0"/>
                        </a:spcAft>
                        <a:buNone/>
                      </a:pPr>
                      <a:r>
                        <a:rPr b="1" lang="en" sz="1100"/>
                        <a:t>first_name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t>last_name</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t>department</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1100"/>
                        <a:t>salary</a:t>
                      </a:r>
                      <a:endParaRPr b="1" sz="1100"/>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342900">
                <a:tc>
                  <a:txBody>
                    <a:bodyPr/>
                    <a:lstStyle/>
                    <a:p>
                      <a:pPr indent="0" lvl="0" marL="0" rtl="0" algn="l">
                        <a:lnSpc>
                          <a:spcPct val="115000"/>
                        </a:lnSpc>
                        <a:spcBef>
                          <a:spcPts val="0"/>
                        </a:spcBef>
                        <a:spcAft>
                          <a:spcPts val="0"/>
                        </a:spcAft>
                        <a:buNone/>
                      </a:pPr>
                      <a:r>
                        <a:rPr lang="en"/>
                        <a:t>Laura</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Smith</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Marketing</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51000</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
        <p:nvSpPr>
          <p:cNvPr id="255" name="Google Shape;255;p38"/>
          <p:cNvSpPr/>
          <p:nvPr/>
        </p:nvSpPr>
        <p:spPr>
          <a:xfrm>
            <a:off x="286950" y="2177847"/>
            <a:ext cx="8679300" cy="265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latin typeface="Questrial"/>
                <a:ea typeface="Questrial"/>
                <a:cs typeface="Questrial"/>
                <a:sym typeface="Questrial"/>
              </a:rPr>
              <a:t>SQL + Table Results?</a:t>
            </a:r>
            <a:endParaRPr sz="3400">
              <a:latin typeface="Questrial"/>
              <a:ea typeface="Questrial"/>
              <a:cs typeface="Questrial"/>
              <a:sym typeface="Questrial"/>
            </a:endParaRPr>
          </a:p>
        </p:txBody>
      </p:sp>
      <p:graphicFrame>
        <p:nvGraphicFramePr>
          <p:cNvPr id="256" name="Google Shape;256;p38"/>
          <p:cNvGraphicFramePr/>
          <p:nvPr/>
        </p:nvGraphicFramePr>
        <p:xfrm>
          <a:off x="5157755" y="129985"/>
          <a:ext cx="3000000" cy="3000000"/>
        </p:xfrm>
        <a:graphic>
          <a:graphicData uri="http://schemas.openxmlformats.org/drawingml/2006/table">
            <a:tbl>
              <a:tblPr>
                <a:noFill/>
                <a:tableStyleId>{37344A4C-0A25-4AE6-97F8-B57DEE62A804}</a:tableStyleId>
              </a:tblPr>
              <a:tblGrid>
                <a:gridCol w="724525"/>
                <a:gridCol w="648550"/>
                <a:gridCol w="604800"/>
                <a:gridCol w="654225"/>
                <a:gridCol w="477900"/>
                <a:gridCol w="786650"/>
              </a:tblGrid>
              <a:tr h="254900">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employee_id</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first_name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last_name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department</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salary</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 sz="700">
                          <a:latin typeface="Questrial"/>
                          <a:ea typeface="Questrial"/>
                          <a:cs typeface="Questrial"/>
                          <a:sym typeface="Questrial"/>
                        </a:rPr>
                        <a:t>hire_date</a:t>
                      </a:r>
                      <a:endParaRPr b="1" sz="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CFE2F3"/>
                    </a:solidFill>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Sara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Malone</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45000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2021-03-15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James</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Tran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72000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2019-07-01</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Priya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Nair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38000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2022-11-20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Kevin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Wong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IT</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68000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2020-05-10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Laura</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Smith</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Marketing</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51000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2018-01-30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279175">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6</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Ahmed</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Hassan</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HR</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41000</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Questrial"/>
                          <a:ea typeface="Questrial"/>
                          <a:cs typeface="Questrial"/>
                          <a:sym typeface="Questrial"/>
                        </a:rPr>
                        <a:t>2023-02-14</a:t>
                      </a:r>
                      <a:endParaRPr sz="8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a:t>
            </a:r>
            <a:endParaRPr/>
          </a:p>
        </p:txBody>
      </p:sp>
      <p:sp>
        <p:nvSpPr>
          <p:cNvPr id="262" name="Google Shape;262;p3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100"/>
          </a:p>
        </p:txBody>
      </p:sp>
      <p:pic>
        <p:nvPicPr>
          <p:cNvPr id="263" name="Google Shape;263;p39"/>
          <p:cNvPicPr preferRelativeResize="0"/>
          <p:nvPr/>
        </p:nvPicPr>
        <p:blipFill>
          <a:blip r:embed="rId3">
            <a:alphaModFix/>
          </a:blip>
          <a:stretch>
            <a:fillRect/>
          </a:stretch>
        </p:blipFill>
        <p:spPr>
          <a:xfrm>
            <a:off x="977475" y="1390075"/>
            <a:ext cx="6859750" cy="2041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 Yourself</a:t>
            </a:r>
            <a:endParaRPr/>
          </a:p>
        </p:txBody>
      </p:sp>
      <p:sp>
        <p:nvSpPr>
          <p:cNvPr id="269" name="Google Shape;269;p4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a:solidFill>
                  <a:srgbClr val="0000FF"/>
                </a:solidFill>
                <a:latin typeface="Courier New"/>
                <a:ea typeface="Courier New"/>
                <a:cs typeface="Courier New"/>
                <a:sym typeface="Courier New"/>
              </a:rPr>
              <a:t>CREATE TABLE</a:t>
            </a:r>
            <a:r>
              <a:rPr lang="en">
                <a:latin typeface="Courier New"/>
                <a:ea typeface="Courier New"/>
                <a:cs typeface="Courier New"/>
                <a:sym typeface="Courier New"/>
              </a:rPr>
              <a:t> employees (</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employee_id  INT           PRIMARY KEY,</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first_name   VARCHAR(50)   NOT NULL,</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last_name    VARCHAR(50)   NOT NULL,</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department   VARCHAR(50),</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salary       DECIMAL(10,2),</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    hire_date    DATE</a:t>
            </a:r>
            <a:endParaRPr>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Logic</a:t>
            </a:r>
            <a:endParaRPr/>
          </a:p>
        </p:txBody>
      </p:sp>
      <p:sp>
        <p:nvSpPr>
          <p:cNvPr id="275" name="Google Shape;275;p4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 Insert all employees one by one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(1, 'Sara', 'Malone', 'Marketing', 45000, '2021-03-15');</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(2, 'James', 'Tran', 'IT',  72000, '2019-07-01');</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(3, 'Priya', 'Nair', 'HR',  38000, '2022-11-20');</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(4, 'Kevin', 'Wong',  'IT',  68000, '2020-05-10');</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(5, 'Laura', 'Smith', 'Marketing', 51000, '2018-01-30');</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INSERT INTO employees (employee_id, first_name, last_name, department, salary, hire_date)</a:t>
            </a:r>
            <a:endParaRPr sz="12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200">
                <a:latin typeface="Courier New"/>
                <a:ea typeface="Courier New"/>
                <a:cs typeface="Courier New"/>
                <a:sym typeface="Courier New"/>
              </a:rPr>
              <a:t>VALUES (6, 'Ahmed', 'Hassan',  'HR',   41000, '2023-02-14');</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pic>
        <p:nvPicPr>
          <p:cNvPr id="276" name="Google Shape;276;p41"/>
          <p:cNvPicPr preferRelativeResize="0"/>
          <p:nvPr/>
        </p:nvPicPr>
        <p:blipFill>
          <a:blip r:embed="rId3">
            <a:alphaModFix/>
          </a:blip>
          <a:stretch>
            <a:fillRect/>
          </a:stretch>
        </p:blipFill>
        <p:spPr>
          <a:xfrm>
            <a:off x="5852725" y="74750"/>
            <a:ext cx="3291274" cy="940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Logic - more efficient</a:t>
            </a:r>
            <a:endParaRPr/>
          </a:p>
        </p:txBody>
      </p:sp>
      <p:sp>
        <p:nvSpPr>
          <p:cNvPr id="282" name="Google Shape;282;p4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Insert all 6 rows in a single statement</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INSERT INTO employees (employee_id, first_name, last_name, department, salary, hire_date)</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VALUES</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(1, 'Sara',  'Malone',  'Marketing', 45000, '2021-03-15'),</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(2, 'James', 'Tran',    'IT',        72000, '2019-07-01'),</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(3, 'Priya', 'Nair',    'HR',        38000, '2022-11-20'),</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(4, 'Kevin', 'Wong',    'IT',        68000, '2020-05-10'),</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(5, 'Laura', 'Smith',   'Marketing', 51000, '2018-01-30'),</a:t>
            </a:r>
            <a:endParaRPr sz="16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600">
                <a:latin typeface="Courier New"/>
                <a:ea typeface="Courier New"/>
                <a:cs typeface="Courier New"/>
                <a:sym typeface="Courier New"/>
              </a:rPr>
              <a:t>    (6, 'Ahmed', 'Hassan',  'HR',        41000, '2023-02-14');</a:t>
            </a:r>
            <a:endParaRPr sz="1600">
              <a:latin typeface="Courier New"/>
              <a:ea typeface="Courier New"/>
              <a:cs typeface="Courier New"/>
              <a:sym typeface="Courier New"/>
            </a:endParaRPr>
          </a:p>
          <a:p>
            <a:pPr indent="0" lvl="0" marL="0" rtl="0" algn="l">
              <a:spcBef>
                <a:spcPts val="0"/>
              </a:spcBef>
              <a:spcAft>
                <a:spcPts val="0"/>
              </a:spcAft>
              <a:buNone/>
            </a:pPr>
            <a:r>
              <a:t/>
            </a:r>
            <a:endParaRPr sz="1600">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 Questions (Section 4)</a:t>
            </a:r>
            <a:endParaRPr/>
          </a:p>
        </p:txBody>
      </p:sp>
      <p:sp>
        <p:nvSpPr>
          <p:cNvPr id="288" name="Google Shape;288;p4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 Practice: Worksheet Section 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Q1: State what is meant by DDL. [2]</a:t>
            </a:r>
            <a:endParaRPr/>
          </a:p>
          <a:p>
            <a:pPr indent="0" lvl="0" marL="0" rtl="0" algn="l">
              <a:spcBef>
                <a:spcPts val="0"/>
              </a:spcBef>
              <a:spcAft>
                <a:spcPts val="0"/>
              </a:spcAft>
              <a:buNone/>
            </a:pPr>
            <a:r>
              <a:rPr lang="en"/>
              <a:t>Q2: Outline the difference between DDL and DML in SQL. [4]</a:t>
            </a:r>
            <a:endParaRPr/>
          </a:p>
          <a:p>
            <a:pPr indent="0" lvl="0" marL="0" rtl="0" algn="l">
              <a:spcBef>
                <a:spcPts val="0"/>
              </a:spcBef>
              <a:spcAft>
                <a:spcPts val="0"/>
              </a:spcAft>
              <a:buNone/>
            </a:pPr>
            <a:r>
              <a:rPr lang="en"/>
              <a:t>Q3: Police force scenario: identify sub-language, write ALTER, explain data types. [7]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Plenary: </a:t>
            </a:r>
            <a:endParaRPr/>
          </a:p>
        </p:txBody>
      </p:sp>
      <p:sp>
        <p:nvSpPr>
          <p:cNvPr id="294" name="Google Shape;294;p44"/>
          <p:cNvSpPr txBox="1"/>
          <p:nvPr>
            <p:ph idx="1" type="body"/>
          </p:nvPr>
        </p:nvSpPr>
        <p:spPr>
          <a:xfrm>
            <a:off x="183775" y="776275"/>
            <a:ext cx="84195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Before you go, answer these on your worksheet:</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AutoNum type="arabicPeriod"/>
            </a:pPr>
            <a:r>
              <a:rPr lang="en" sz="2100"/>
              <a:t>What is the difference between DDL and DML?</a:t>
            </a:r>
            <a:endParaRPr sz="2100"/>
          </a:p>
          <a:p>
            <a:pPr indent="-361950" lvl="0" marL="457200" rtl="0" algn="l">
              <a:spcBef>
                <a:spcPts val="0"/>
              </a:spcBef>
              <a:spcAft>
                <a:spcPts val="0"/>
              </a:spcAft>
              <a:buSzPts val="2100"/>
              <a:buAutoNum type="arabicPeriod"/>
            </a:pPr>
            <a:r>
              <a:rPr lang="en" sz="2100"/>
              <a:t>Write one DDL statement from today's lesson and explain what it did.</a:t>
            </a:r>
            <a:endParaRPr sz="2100"/>
          </a:p>
          <a:p>
            <a:pPr indent="-361950" lvl="0" marL="457200" rtl="0" algn="l">
              <a:spcBef>
                <a:spcPts val="0"/>
              </a:spcBef>
              <a:spcAft>
                <a:spcPts val="0"/>
              </a:spcAft>
              <a:buSzPts val="2100"/>
              <a:buAutoNum type="arabicPeriod"/>
            </a:pPr>
            <a:r>
              <a:rPr lang="en" sz="2100"/>
              <a:t>Why would you use ALTER rather than DROP and re-create a table?</a:t>
            </a:r>
            <a:endParaRPr sz="2100"/>
          </a:p>
        </p:txBody>
      </p:sp>
      <p:sp>
        <p:nvSpPr>
          <p:cNvPr id="295" name="Google Shape;295;p44"/>
          <p:cNvSpPr txBox="1"/>
          <p:nvPr/>
        </p:nvSpPr>
        <p:spPr>
          <a:xfrm>
            <a:off x="6891004" y="186131"/>
            <a:ext cx="2253000" cy="1280700"/>
          </a:xfrm>
          <a:prstGeom prst="rect">
            <a:avLst/>
          </a:prstGeom>
          <a:solidFill>
            <a:schemeClr val="dk1"/>
          </a:solidFill>
          <a:ln cap="flat" cmpd="sng" w="7620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 Exit Ticket:</a:t>
            </a:r>
            <a:endParaRPr sz="1600">
              <a:solidFill>
                <a:schemeClr val="dk2"/>
              </a:solidFill>
              <a:latin typeface="Questrial"/>
              <a:ea typeface="Questrial"/>
              <a:cs typeface="Questrial"/>
              <a:sym typeface="Questrial"/>
            </a:endParaRPr>
          </a:p>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On a scale of 1-5, how confident are you?</a:t>
            </a:r>
            <a:endParaRPr sz="1600">
              <a:solidFill>
                <a:schemeClr val="dk2"/>
              </a:solidFill>
              <a:latin typeface="Questrial"/>
              <a:ea typeface="Questrial"/>
              <a:cs typeface="Questrial"/>
              <a:sym typeface="Questrial"/>
            </a:endParaRPr>
          </a:p>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1 □  2 □  3 □  4 □  5 □</a:t>
            </a:r>
            <a:endParaRPr sz="1900">
              <a:solidFill>
                <a:schemeClr val="dk2"/>
              </a:solidFill>
              <a:latin typeface="Questrial"/>
              <a:ea typeface="Questrial"/>
              <a:cs typeface="Questrial"/>
              <a:sym typeface="Quest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SQL JOIN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L7 - Syllabus Links</a:t>
            </a:r>
            <a:endParaRPr sz="2800"/>
          </a:p>
        </p:txBody>
      </p:sp>
      <p:sp>
        <p:nvSpPr>
          <p:cNvPr id="306" name="Google Shape;306;p46"/>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lnSpc>
                <a:spcPct val="130000"/>
              </a:lnSpc>
              <a:spcBef>
                <a:spcPts val="1800"/>
              </a:spcBef>
              <a:spcAft>
                <a:spcPts val="0"/>
              </a:spcAft>
              <a:buClr>
                <a:schemeClr val="dk2"/>
              </a:buClr>
              <a:buSzPts val="1100"/>
              <a:buFont typeface="Arial"/>
              <a:buNone/>
            </a:pPr>
            <a:r>
              <a:rPr b="1" lang="en" sz="3000"/>
              <a:t>SQL joins</a:t>
            </a:r>
            <a:endParaRPr b="1" sz="3000"/>
          </a:p>
          <a:p>
            <a:pPr indent="0" lvl="0" marL="0" rtl="0" algn="l">
              <a:spcBef>
                <a:spcPts val="400"/>
              </a:spcBef>
              <a:spcAft>
                <a:spcPts val="0"/>
              </a:spcAft>
              <a:buClr>
                <a:schemeClr val="dk2"/>
              </a:buClr>
              <a:buSzPts val="1100"/>
              <a:buFont typeface="Arial"/>
              <a:buNone/>
            </a:pPr>
            <a:r>
              <a:rPr lang="en" sz="2000"/>
              <a:t>A3.3.2 Construct queries between two tables in SQL.</a:t>
            </a:r>
            <a:endParaRPr sz="2000"/>
          </a:p>
          <a:p>
            <a:pPr indent="-355600" lvl="0" marL="457200" rtl="0" algn="l">
              <a:spcBef>
                <a:spcPts val="1200"/>
              </a:spcBef>
              <a:spcAft>
                <a:spcPts val="0"/>
              </a:spcAft>
              <a:buClr>
                <a:schemeClr val="dk2"/>
              </a:buClr>
              <a:buSzPts val="2000"/>
              <a:buFont typeface="Questrial"/>
              <a:buChar char="●"/>
            </a:pPr>
            <a:r>
              <a:rPr lang="en" sz="2000"/>
              <a:t>Queries must include joins, relational operators, filtering, pattern matching, and ordering data</a:t>
            </a:r>
            <a:endParaRPr sz="2000"/>
          </a:p>
          <a:p>
            <a:pPr indent="-355600" lvl="0" marL="457200" rtl="0" algn="l">
              <a:spcBef>
                <a:spcPts val="0"/>
              </a:spcBef>
              <a:spcAft>
                <a:spcPts val="0"/>
              </a:spcAft>
              <a:buClr>
                <a:schemeClr val="dk2"/>
              </a:buClr>
              <a:buSzPts val="2000"/>
              <a:buFont typeface="Questrial"/>
              <a:buChar char="●"/>
            </a:pPr>
            <a:r>
              <a:rPr lang="en" sz="2000"/>
              <a:t>SQL commands: SELECT, DISTINCT, FROM, WHERE, BETWEEN, ORDER BY, GROUP BY, HAVING, ASC, DESC, JOIN, LIKE with % wildcard, AND, OR, NOT (note: Syntax may vary in different database systems)</a:t>
            </a:r>
            <a:endParaRPr b="1" sz="29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lesson, we build on that knowledge with commands that make queries more powerful and more precise: </a:t>
            </a:r>
            <a:endParaRPr/>
          </a:p>
          <a:p>
            <a:pPr indent="0" lvl="0" marL="457200" rtl="0" algn="l">
              <a:spcBef>
                <a:spcPts val="0"/>
              </a:spcBef>
              <a:spcAft>
                <a:spcPts val="0"/>
              </a:spcAft>
              <a:buNone/>
            </a:pPr>
            <a:r>
              <a:t/>
            </a:r>
            <a:endParaRPr/>
          </a:p>
          <a:p>
            <a:pPr indent="-374650" lvl="0" marL="457200" rtl="0" algn="l">
              <a:spcBef>
                <a:spcPts val="0"/>
              </a:spcBef>
              <a:spcAft>
                <a:spcPts val="0"/>
              </a:spcAft>
              <a:buSzPts val="2300"/>
              <a:buChar char="●"/>
            </a:pPr>
            <a:r>
              <a:rPr lang="en"/>
              <a:t>DISTINCT (remove duplicates)</a:t>
            </a:r>
            <a:endParaRPr/>
          </a:p>
          <a:p>
            <a:pPr indent="-374650" lvl="0" marL="457200" rtl="0" algn="l">
              <a:spcBef>
                <a:spcPts val="0"/>
              </a:spcBef>
              <a:spcAft>
                <a:spcPts val="0"/>
              </a:spcAft>
              <a:buSzPts val="2300"/>
              <a:buChar char="●"/>
            </a:pPr>
            <a:r>
              <a:rPr lang="en"/>
              <a:t>BETWEEN, ORDER BY, </a:t>
            </a:r>
            <a:endParaRPr/>
          </a:p>
          <a:p>
            <a:pPr indent="-374650" lvl="0" marL="457200" rtl="0" algn="l">
              <a:spcBef>
                <a:spcPts val="0"/>
              </a:spcBef>
              <a:spcAft>
                <a:spcPts val="0"/>
              </a:spcAft>
              <a:buSzPts val="2300"/>
              <a:buChar char="●"/>
            </a:pPr>
            <a:r>
              <a:rPr lang="en"/>
              <a:t>GROUP BY, HAVING, (summarise)</a:t>
            </a:r>
            <a:endParaRPr/>
          </a:p>
          <a:p>
            <a:pPr indent="-374650" lvl="0" marL="457200" rtl="0" algn="l">
              <a:spcBef>
                <a:spcPts val="0"/>
              </a:spcBef>
              <a:spcAft>
                <a:spcPts val="0"/>
              </a:spcAft>
              <a:buSzPts val="2300"/>
              <a:buChar char="●"/>
            </a:pPr>
            <a:r>
              <a:rPr lang="en"/>
              <a:t>ASC, DESC,  (sort)</a:t>
            </a:r>
            <a:endParaRPr/>
          </a:p>
          <a:p>
            <a:pPr indent="-374650" lvl="0" marL="457200" rtl="0" algn="l">
              <a:spcBef>
                <a:spcPts val="0"/>
              </a:spcBef>
              <a:spcAft>
                <a:spcPts val="0"/>
              </a:spcAft>
              <a:buSzPts val="2300"/>
              <a:buChar char="●"/>
            </a:pPr>
            <a:r>
              <a:rPr lang="en"/>
              <a:t>JOIN, (link tables)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16" name="Shape 316"/>
        <p:cNvGrpSpPr/>
        <p:nvPr/>
      </p:nvGrpSpPr>
      <p:grpSpPr>
        <a:xfrm>
          <a:off x="0" y="0"/>
          <a:ext cx="0" cy="0"/>
          <a:chOff x="0" y="0"/>
          <a:chExt cx="0" cy="0"/>
        </a:xfrm>
      </p:grpSpPr>
      <p:sp>
        <p:nvSpPr>
          <p:cNvPr id="317" name="Google Shape;317;p4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SELECT Query</a:t>
            </a:r>
            <a:endParaRPr/>
          </a:p>
        </p:txBody>
      </p:sp>
      <p:sp>
        <p:nvSpPr>
          <p:cNvPr id="318" name="Google Shape;318;p4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rgbClr val="FF7B72"/>
                </a:solidFill>
                <a:latin typeface="Courier New"/>
                <a:ea typeface="Courier New"/>
                <a:cs typeface="Courier New"/>
                <a:sym typeface="Courier New"/>
              </a:rPr>
              <a:t>SELECT</a:t>
            </a:r>
            <a:r>
              <a:rPr lang="en" sz="2600">
                <a:solidFill>
                  <a:srgbClr val="D6D0C8"/>
                </a:solidFill>
                <a:latin typeface="Courier New"/>
                <a:ea typeface="Courier New"/>
                <a:cs typeface="Courier New"/>
                <a:sym typeface="Courier New"/>
              </a:rPr>
              <a:t> first_name, last_name, department</a:t>
            </a:r>
            <a:endParaRPr sz="2600">
              <a:solidFill>
                <a:srgbClr val="D6D0C8"/>
              </a:solidFill>
              <a:latin typeface="Courier New"/>
              <a:ea typeface="Courier New"/>
              <a:cs typeface="Courier New"/>
              <a:sym typeface="Courier New"/>
            </a:endParaRPr>
          </a:p>
          <a:p>
            <a:pPr indent="0" lvl="0" marL="0" rtl="0" algn="l">
              <a:spcBef>
                <a:spcPts val="0"/>
              </a:spcBef>
              <a:spcAft>
                <a:spcPts val="0"/>
              </a:spcAft>
              <a:buNone/>
            </a:pPr>
            <a:r>
              <a:rPr lang="en" sz="2600">
                <a:solidFill>
                  <a:srgbClr val="FF7B72"/>
                </a:solidFill>
                <a:latin typeface="Courier New"/>
                <a:ea typeface="Courier New"/>
                <a:cs typeface="Courier New"/>
                <a:sym typeface="Courier New"/>
              </a:rPr>
              <a:t>FROM</a:t>
            </a:r>
            <a:r>
              <a:rPr lang="en" sz="2600">
                <a:solidFill>
                  <a:srgbClr val="D6D0C8"/>
                </a:solidFill>
                <a:latin typeface="Courier New"/>
                <a:ea typeface="Courier New"/>
                <a:cs typeface="Courier New"/>
                <a:sym typeface="Courier New"/>
              </a:rPr>
              <a:t> employees</a:t>
            </a:r>
            <a:endParaRPr sz="2600">
              <a:solidFill>
                <a:srgbClr val="D6D0C8"/>
              </a:solidFill>
              <a:latin typeface="Courier New"/>
              <a:ea typeface="Courier New"/>
              <a:cs typeface="Courier New"/>
              <a:sym typeface="Courier New"/>
            </a:endParaRPr>
          </a:p>
          <a:p>
            <a:pPr indent="0" lvl="0" marL="0" rtl="0" algn="l">
              <a:spcBef>
                <a:spcPts val="0"/>
              </a:spcBef>
              <a:spcAft>
                <a:spcPts val="0"/>
              </a:spcAft>
              <a:buNone/>
            </a:pPr>
            <a:r>
              <a:rPr lang="en" sz="2600">
                <a:solidFill>
                  <a:srgbClr val="FF7B72"/>
                </a:solidFill>
                <a:latin typeface="Courier New"/>
                <a:ea typeface="Courier New"/>
                <a:cs typeface="Courier New"/>
                <a:sym typeface="Courier New"/>
              </a:rPr>
              <a:t>WHERE</a:t>
            </a:r>
            <a:r>
              <a:rPr lang="en" sz="2600">
                <a:solidFill>
                  <a:srgbClr val="D6D0C8"/>
                </a:solidFill>
                <a:latin typeface="Courier New"/>
                <a:ea typeface="Courier New"/>
                <a:cs typeface="Courier New"/>
                <a:sym typeface="Courier New"/>
              </a:rPr>
              <a:t> department = </a:t>
            </a:r>
            <a:r>
              <a:rPr lang="en" sz="2600">
                <a:solidFill>
                  <a:srgbClr val="A5D6FF"/>
                </a:solidFill>
                <a:latin typeface="Courier New"/>
                <a:ea typeface="Courier New"/>
                <a:cs typeface="Courier New"/>
                <a:sym typeface="Courier New"/>
              </a:rPr>
              <a:t>'IT'</a:t>
            </a:r>
            <a:r>
              <a:rPr lang="en" sz="2600">
                <a:solidFill>
                  <a:srgbClr val="D6D0C8"/>
                </a:solidFill>
                <a:latin typeface="Courier New"/>
                <a:ea typeface="Courier New"/>
                <a:cs typeface="Courier New"/>
                <a:sym typeface="Courier New"/>
              </a:rPr>
              <a:t>;</a:t>
            </a:r>
            <a:r>
              <a:rPr lang="en" sz="2600">
                <a:latin typeface="Arial"/>
                <a:ea typeface="Arial"/>
                <a:cs typeface="Arial"/>
                <a:sym typeface="Arial"/>
              </a:rPr>
              <a:t> </a:t>
            </a:r>
            <a:endParaRPr sz="3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2" name="Shape 322"/>
        <p:cNvGrpSpPr/>
        <p:nvPr/>
      </p:nvGrpSpPr>
      <p:grpSpPr>
        <a:xfrm>
          <a:off x="0" y="0"/>
          <a:ext cx="0" cy="0"/>
          <a:chOff x="0" y="0"/>
          <a:chExt cx="0" cy="0"/>
        </a:xfrm>
      </p:grpSpPr>
      <p:sp>
        <p:nvSpPr>
          <p:cNvPr id="323" name="Google Shape;323;p4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DISTINCT, BETWEEN, ORDER BY</a:t>
            </a:r>
            <a:endParaRPr/>
          </a:p>
        </p:txBody>
      </p:sp>
      <p:sp>
        <p:nvSpPr>
          <p:cNvPr id="324" name="Google Shape;324;p49"/>
          <p:cNvSpPr txBox="1"/>
          <p:nvPr>
            <p:ph idx="1" type="body"/>
          </p:nvPr>
        </p:nvSpPr>
        <p:spPr>
          <a:xfrm>
            <a:off x="183775" y="776275"/>
            <a:ext cx="8680800" cy="1597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D6D5D4"/>
              </a:buClr>
              <a:buSzPts val="1200"/>
              <a:buFont typeface="Georgia"/>
              <a:buChar char="●"/>
            </a:pPr>
            <a:r>
              <a:rPr b="1" lang="en" sz="1450">
                <a:solidFill>
                  <a:srgbClr val="D6D5D4"/>
                </a:solidFill>
              </a:rPr>
              <a:t>DISTINCT</a:t>
            </a:r>
            <a:r>
              <a:rPr b="1" lang="en" sz="1600">
                <a:solidFill>
                  <a:srgbClr val="D6D5D4"/>
                </a:solidFill>
              </a:rPr>
              <a:t> </a:t>
            </a:r>
            <a:r>
              <a:rPr lang="en" sz="1600">
                <a:solidFill>
                  <a:srgbClr val="D6D5D4"/>
                </a:solidFill>
              </a:rPr>
              <a:t>removes duplicate values from the results, so each value appears only once.</a:t>
            </a:r>
            <a:endParaRPr sz="1600">
              <a:solidFill>
                <a:srgbClr val="D6D5D4"/>
              </a:solidFill>
            </a:endParaRPr>
          </a:p>
          <a:p>
            <a:pPr indent="-304800" lvl="0" marL="457200" rtl="0" algn="l">
              <a:spcBef>
                <a:spcPts val="0"/>
              </a:spcBef>
              <a:spcAft>
                <a:spcPts val="0"/>
              </a:spcAft>
              <a:buClr>
                <a:srgbClr val="D6D5D4"/>
              </a:buClr>
              <a:buSzPts val="1200"/>
              <a:buFont typeface="Georgia"/>
              <a:buChar char="●"/>
            </a:pPr>
            <a:r>
              <a:rPr b="1" lang="en" sz="1450">
                <a:solidFill>
                  <a:srgbClr val="D6D5D4"/>
                </a:solidFill>
              </a:rPr>
              <a:t>BETWEEN</a:t>
            </a:r>
            <a:r>
              <a:rPr b="1" lang="en" sz="1600">
                <a:solidFill>
                  <a:srgbClr val="D6D5D4"/>
                </a:solidFill>
              </a:rPr>
              <a:t> </a:t>
            </a:r>
            <a:r>
              <a:rPr lang="en" sz="1600">
                <a:solidFill>
                  <a:srgbClr val="D6D5D4"/>
                </a:solidFill>
              </a:rPr>
              <a:t>selects values inside a range, usually numbers, dates, or alphabetical values.</a:t>
            </a:r>
            <a:endParaRPr sz="1600">
              <a:solidFill>
                <a:srgbClr val="D6D5D4"/>
              </a:solidFill>
            </a:endParaRPr>
          </a:p>
          <a:p>
            <a:pPr indent="-304800" lvl="0" marL="457200" rtl="0" algn="l">
              <a:spcBef>
                <a:spcPts val="0"/>
              </a:spcBef>
              <a:spcAft>
                <a:spcPts val="0"/>
              </a:spcAft>
              <a:buClr>
                <a:srgbClr val="D6D5D4"/>
              </a:buClr>
              <a:buSzPts val="1200"/>
              <a:buFont typeface="Georgia"/>
              <a:buChar char="●"/>
            </a:pPr>
            <a:r>
              <a:rPr b="1" lang="en" sz="1450">
                <a:solidFill>
                  <a:srgbClr val="D6D5D4"/>
                </a:solidFill>
              </a:rPr>
              <a:t>ORDER BY</a:t>
            </a:r>
            <a:r>
              <a:rPr b="1" lang="en" sz="1600">
                <a:solidFill>
                  <a:srgbClr val="D6D5D4"/>
                </a:solidFill>
              </a:rPr>
              <a:t> </a:t>
            </a:r>
            <a:r>
              <a:rPr lang="en" sz="1600">
                <a:solidFill>
                  <a:srgbClr val="D6D5D4"/>
                </a:solidFill>
              </a:rPr>
              <a:t>sorts the results.</a:t>
            </a:r>
            <a:endParaRPr sz="1600">
              <a:solidFill>
                <a:srgbClr val="D6D5D4"/>
              </a:solidFill>
            </a:endParaRPr>
          </a:p>
          <a:p>
            <a:pPr indent="-304800" lvl="0" marL="457200" rtl="0" algn="l">
              <a:spcBef>
                <a:spcPts val="0"/>
              </a:spcBef>
              <a:spcAft>
                <a:spcPts val="0"/>
              </a:spcAft>
              <a:buClr>
                <a:srgbClr val="D6D5D4"/>
              </a:buClr>
              <a:buSzPts val="1200"/>
              <a:buFont typeface="Georgia"/>
              <a:buChar char="●"/>
            </a:pPr>
            <a:r>
              <a:rPr b="1" lang="en" sz="1450">
                <a:solidFill>
                  <a:srgbClr val="D6D5D4"/>
                </a:solidFill>
              </a:rPr>
              <a:t>ASC</a:t>
            </a:r>
            <a:r>
              <a:rPr b="1" lang="en" sz="1600">
                <a:solidFill>
                  <a:srgbClr val="D6D5D4"/>
                </a:solidFill>
              </a:rPr>
              <a:t> </a:t>
            </a:r>
            <a:r>
              <a:rPr lang="en" sz="1600">
                <a:solidFill>
                  <a:srgbClr val="D6D5D4"/>
                </a:solidFill>
              </a:rPr>
              <a:t>means ascending order, for example A to Z or smallest to largest.</a:t>
            </a:r>
            <a:endParaRPr sz="1600">
              <a:solidFill>
                <a:srgbClr val="D6D5D4"/>
              </a:solidFill>
            </a:endParaRPr>
          </a:p>
          <a:p>
            <a:pPr indent="-304800" lvl="0" marL="457200" rtl="0" algn="l">
              <a:spcBef>
                <a:spcPts val="0"/>
              </a:spcBef>
              <a:spcAft>
                <a:spcPts val="0"/>
              </a:spcAft>
              <a:buClr>
                <a:srgbClr val="D6D5D4"/>
              </a:buClr>
              <a:buSzPts val="1200"/>
              <a:buFont typeface="Georgia"/>
              <a:buChar char="●"/>
            </a:pPr>
            <a:r>
              <a:rPr b="1" lang="en" sz="1450">
                <a:solidFill>
                  <a:srgbClr val="D6D5D4"/>
                </a:solidFill>
              </a:rPr>
              <a:t>DESC</a:t>
            </a:r>
            <a:r>
              <a:rPr b="1" lang="en" sz="1600">
                <a:solidFill>
                  <a:srgbClr val="D6D5D4"/>
                </a:solidFill>
              </a:rPr>
              <a:t> </a:t>
            </a:r>
            <a:r>
              <a:rPr lang="en" sz="1600">
                <a:solidFill>
                  <a:srgbClr val="D6D5D4"/>
                </a:solidFill>
              </a:rPr>
              <a:t>means descending order, for example Z to A or largest to smallest.</a:t>
            </a:r>
            <a:endParaRPr sz="3000">
              <a:solidFill>
                <a:srgbClr val="FF7B72"/>
              </a:solidFill>
            </a:endParaRPr>
          </a:p>
        </p:txBody>
      </p:sp>
      <p:sp>
        <p:nvSpPr>
          <p:cNvPr id="325" name="Google Shape;325;p49"/>
          <p:cNvSpPr txBox="1"/>
          <p:nvPr/>
        </p:nvSpPr>
        <p:spPr>
          <a:xfrm rot="-355149">
            <a:off x="395120" y="2738773"/>
            <a:ext cx="3714906" cy="70792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SELECT</a:t>
            </a:r>
            <a:r>
              <a:rPr b="1" lang="en" sz="1700">
                <a:solidFill>
                  <a:srgbClr val="D6D0C8"/>
                </a:solidFill>
                <a:latin typeface="Courier New"/>
                <a:ea typeface="Courier New"/>
                <a:cs typeface="Courier New"/>
                <a:sym typeface="Courier New"/>
              </a:rPr>
              <a:t> </a:t>
            </a:r>
            <a:r>
              <a:rPr b="1" lang="en" sz="1700">
                <a:solidFill>
                  <a:srgbClr val="FF7B72"/>
                </a:solidFill>
                <a:latin typeface="Courier New"/>
                <a:ea typeface="Courier New"/>
                <a:cs typeface="Courier New"/>
                <a:sym typeface="Courier New"/>
              </a:rPr>
              <a:t>DISTINCT</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department</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FROM</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employees;</a:t>
            </a:r>
            <a:r>
              <a:rPr lang="en" sz="1700">
                <a:solidFill>
                  <a:schemeClr val="dk2"/>
                </a:solidFill>
              </a:rPr>
              <a:t> </a:t>
            </a:r>
            <a:endParaRPr sz="2000"/>
          </a:p>
        </p:txBody>
      </p:sp>
      <p:sp>
        <p:nvSpPr>
          <p:cNvPr id="326" name="Google Shape;326;p49"/>
          <p:cNvSpPr txBox="1"/>
          <p:nvPr/>
        </p:nvSpPr>
        <p:spPr>
          <a:xfrm rot="642332">
            <a:off x="4361235" y="2894604"/>
            <a:ext cx="4328132" cy="110809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SELECT</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first_name, last_name, salary</a:t>
            </a:r>
            <a:endParaRPr sz="15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FROM</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employees</a:t>
            </a:r>
            <a:endParaRPr sz="15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WHERE</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salary BETWEEN </a:t>
            </a:r>
            <a:r>
              <a:rPr lang="en" sz="1500">
                <a:solidFill>
                  <a:srgbClr val="FFA657"/>
                </a:solidFill>
                <a:latin typeface="Courier New"/>
                <a:ea typeface="Courier New"/>
                <a:cs typeface="Courier New"/>
                <a:sym typeface="Courier New"/>
              </a:rPr>
              <a:t>40000</a:t>
            </a:r>
            <a:r>
              <a:rPr lang="en" sz="1500">
                <a:solidFill>
                  <a:srgbClr val="D6D0C8"/>
                </a:solidFill>
                <a:latin typeface="Courier New"/>
                <a:ea typeface="Courier New"/>
                <a:cs typeface="Courier New"/>
                <a:sym typeface="Courier New"/>
              </a:rPr>
              <a:t> AND </a:t>
            </a:r>
            <a:r>
              <a:rPr lang="en" sz="1500">
                <a:solidFill>
                  <a:srgbClr val="FFA657"/>
                </a:solidFill>
                <a:latin typeface="Courier New"/>
                <a:ea typeface="Courier New"/>
                <a:cs typeface="Courier New"/>
                <a:sym typeface="Courier New"/>
              </a:rPr>
              <a:t>70000</a:t>
            </a:r>
            <a:r>
              <a:rPr lang="en" sz="1500">
                <a:solidFill>
                  <a:srgbClr val="D6D0C8"/>
                </a:solidFill>
                <a:latin typeface="Courier New"/>
                <a:ea typeface="Courier New"/>
                <a:cs typeface="Courier New"/>
                <a:sym typeface="Courier New"/>
              </a:rPr>
              <a:t>;</a:t>
            </a:r>
            <a:r>
              <a:rPr lang="en" sz="1500">
                <a:solidFill>
                  <a:schemeClr val="dk2"/>
                </a:solidFill>
              </a:rPr>
              <a:t> </a:t>
            </a:r>
            <a:endParaRPr sz="1800"/>
          </a:p>
        </p:txBody>
      </p:sp>
      <p:sp>
        <p:nvSpPr>
          <p:cNvPr id="327" name="Google Shape;327;p49"/>
          <p:cNvSpPr txBox="1"/>
          <p:nvPr/>
        </p:nvSpPr>
        <p:spPr>
          <a:xfrm>
            <a:off x="1302583" y="3761775"/>
            <a:ext cx="4707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SELECT</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first_name, last_name, salary</a:t>
            </a:r>
            <a:endParaRPr sz="15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FROM</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employees</a:t>
            </a:r>
            <a:endParaRPr sz="15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500">
                <a:solidFill>
                  <a:srgbClr val="FF7B72"/>
                </a:solidFill>
                <a:latin typeface="Courier New"/>
                <a:ea typeface="Courier New"/>
                <a:cs typeface="Courier New"/>
                <a:sym typeface="Courier New"/>
              </a:rPr>
              <a:t>ORDER</a:t>
            </a:r>
            <a:r>
              <a:rPr b="1" lang="en" sz="1500">
                <a:solidFill>
                  <a:srgbClr val="D6D0C8"/>
                </a:solidFill>
                <a:latin typeface="Courier New"/>
                <a:ea typeface="Courier New"/>
                <a:cs typeface="Courier New"/>
                <a:sym typeface="Courier New"/>
              </a:rPr>
              <a:t> </a:t>
            </a:r>
            <a:r>
              <a:rPr b="1" lang="en" sz="1500">
                <a:solidFill>
                  <a:srgbClr val="FF7B72"/>
                </a:solidFill>
                <a:latin typeface="Courier New"/>
                <a:ea typeface="Courier New"/>
                <a:cs typeface="Courier New"/>
                <a:sym typeface="Courier New"/>
              </a:rPr>
              <a:t>BY</a:t>
            </a:r>
            <a:r>
              <a:rPr b="1" lang="en" sz="1500">
                <a:solidFill>
                  <a:srgbClr val="D6D0C8"/>
                </a:solidFill>
                <a:latin typeface="Courier New"/>
                <a:ea typeface="Courier New"/>
                <a:cs typeface="Courier New"/>
                <a:sym typeface="Courier New"/>
              </a:rPr>
              <a:t> </a:t>
            </a:r>
            <a:r>
              <a:rPr lang="en" sz="1500">
                <a:solidFill>
                  <a:srgbClr val="D6D0C8"/>
                </a:solidFill>
                <a:latin typeface="Courier New"/>
                <a:ea typeface="Courier New"/>
                <a:cs typeface="Courier New"/>
                <a:sym typeface="Courier New"/>
              </a:rPr>
              <a:t>salary </a:t>
            </a:r>
            <a:r>
              <a:rPr b="1" lang="en" sz="1500">
                <a:solidFill>
                  <a:srgbClr val="FF7B72"/>
                </a:solidFill>
                <a:latin typeface="Courier New"/>
                <a:ea typeface="Courier New"/>
                <a:cs typeface="Courier New"/>
                <a:sym typeface="Courier New"/>
              </a:rPr>
              <a:t>DESC</a:t>
            </a:r>
            <a:r>
              <a:rPr lang="en" sz="1500">
                <a:solidFill>
                  <a:srgbClr val="D6D0C8"/>
                </a:solidFill>
                <a:latin typeface="Courier New"/>
                <a:ea typeface="Courier New"/>
                <a:cs typeface="Courier New"/>
                <a:sym typeface="Courier New"/>
              </a:rPr>
              <a:t>;</a:t>
            </a:r>
            <a:r>
              <a:rPr lang="en" sz="1500">
                <a:solidFill>
                  <a:schemeClr val="dk2"/>
                </a:solidFill>
              </a:rPr>
              <a:t> </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1" name="Shape 331"/>
        <p:cNvGrpSpPr/>
        <p:nvPr/>
      </p:nvGrpSpPr>
      <p:grpSpPr>
        <a:xfrm>
          <a:off x="0" y="0"/>
          <a:ext cx="0" cy="0"/>
          <a:chOff x="0" y="0"/>
          <a:chExt cx="0" cy="0"/>
        </a:xfrm>
      </p:grpSpPr>
      <p:sp>
        <p:nvSpPr>
          <p:cNvPr id="332" name="Google Shape;332;p5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BY and HAVING</a:t>
            </a:r>
            <a:endParaRPr/>
          </a:p>
        </p:txBody>
      </p:sp>
      <p:sp>
        <p:nvSpPr>
          <p:cNvPr id="333" name="Google Shape;333;p50"/>
          <p:cNvSpPr txBox="1"/>
          <p:nvPr>
            <p:ph idx="1" type="body"/>
          </p:nvPr>
        </p:nvSpPr>
        <p:spPr>
          <a:xfrm>
            <a:off x="183775" y="776275"/>
            <a:ext cx="8680800" cy="159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D6D5D4"/>
              </a:buClr>
              <a:buSzPts val="1400"/>
              <a:buFont typeface="Georgia"/>
              <a:buChar char="●"/>
            </a:pPr>
            <a:r>
              <a:rPr b="1" lang="en" sz="1650">
                <a:solidFill>
                  <a:schemeClr val="dk1"/>
                </a:solidFill>
                <a:latin typeface="Courier New"/>
                <a:ea typeface="Courier New"/>
                <a:cs typeface="Courier New"/>
                <a:sym typeface="Courier New"/>
              </a:rPr>
              <a:t>GROUP BY </a:t>
            </a:r>
            <a:r>
              <a:rPr lang="en" sz="1650">
                <a:solidFill>
                  <a:srgbClr val="D6D5D4"/>
                </a:solidFill>
              </a:rPr>
              <a:t>puts rows with the same value together into groups.</a:t>
            </a:r>
            <a:endParaRPr sz="1650">
              <a:solidFill>
                <a:srgbClr val="D6D5D4"/>
              </a:solidFill>
            </a:endParaRPr>
          </a:p>
          <a:p>
            <a:pPr indent="-317500" lvl="0" marL="457200" rtl="0" algn="l">
              <a:spcBef>
                <a:spcPts val="0"/>
              </a:spcBef>
              <a:spcAft>
                <a:spcPts val="0"/>
              </a:spcAft>
              <a:buClr>
                <a:srgbClr val="D6D5D4"/>
              </a:buClr>
              <a:buSzPts val="1400"/>
              <a:buFont typeface="Georgia"/>
              <a:buChar char="●"/>
            </a:pPr>
            <a:r>
              <a:rPr lang="en" sz="1650">
                <a:solidFill>
                  <a:srgbClr val="D6D5D4"/>
                </a:solidFill>
              </a:rPr>
              <a:t>It is often used with aggregate functions such as </a:t>
            </a:r>
            <a:r>
              <a:rPr b="1" lang="en" sz="1650">
                <a:solidFill>
                  <a:srgbClr val="D6D5D4"/>
                </a:solidFill>
              </a:rPr>
              <a:t>COUNT</a:t>
            </a:r>
            <a:r>
              <a:rPr lang="en" sz="1650">
                <a:solidFill>
                  <a:srgbClr val="D6D5D4"/>
                </a:solidFill>
              </a:rPr>
              <a:t>(), </a:t>
            </a:r>
            <a:r>
              <a:rPr b="1" lang="en" sz="1650">
                <a:solidFill>
                  <a:srgbClr val="D6D5D4"/>
                </a:solidFill>
              </a:rPr>
              <a:t>SUM</a:t>
            </a:r>
            <a:r>
              <a:rPr lang="en" sz="1650">
                <a:solidFill>
                  <a:srgbClr val="D6D5D4"/>
                </a:solidFill>
              </a:rPr>
              <a:t>(), </a:t>
            </a:r>
            <a:r>
              <a:rPr b="1" lang="en" sz="1650">
                <a:solidFill>
                  <a:srgbClr val="D6D5D4"/>
                </a:solidFill>
              </a:rPr>
              <a:t>AVG</a:t>
            </a:r>
            <a:r>
              <a:rPr lang="en" sz="1650">
                <a:solidFill>
                  <a:srgbClr val="D6D5D4"/>
                </a:solidFill>
              </a:rPr>
              <a:t>(), </a:t>
            </a:r>
            <a:r>
              <a:rPr b="1" lang="en" sz="1650">
                <a:solidFill>
                  <a:srgbClr val="D6D5D4"/>
                </a:solidFill>
              </a:rPr>
              <a:t>MIN</a:t>
            </a:r>
            <a:r>
              <a:rPr lang="en" sz="1650">
                <a:solidFill>
                  <a:srgbClr val="D6D5D4"/>
                </a:solidFill>
              </a:rPr>
              <a:t>(), and MAX().</a:t>
            </a:r>
            <a:endParaRPr sz="1650">
              <a:solidFill>
                <a:srgbClr val="D6D5D4"/>
              </a:solidFill>
            </a:endParaRPr>
          </a:p>
          <a:p>
            <a:pPr indent="-317500" lvl="0" marL="457200" rtl="0" algn="l">
              <a:spcBef>
                <a:spcPts val="0"/>
              </a:spcBef>
              <a:spcAft>
                <a:spcPts val="0"/>
              </a:spcAft>
              <a:buClr>
                <a:srgbClr val="D6D5D4"/>
              </a:buClr>
              <a:buSzPts val="1400"/>
              <a:buFont typeface="Georgia"/>
              <a:buChar char="●"/>
            </a:pPr>
            <a:r>
              <a:rPr b="1" lang="en" sz="1650">
                <a:solidFill>
                  <a:schemeClr val="dk1"/>
                </a:solidFill>
                <a:latin typeface="Courier New"/>
                <a:ea typeface="Courier New"/>
                <a:cs typeface="Courier New"/>
                <a:sym typeface="Courier New"/>
              </a:rPr>
              <a:t>HAVING </a:t>
            </a:r>
            <a:r>
              <a:rPr lang="en" sz="1650">
                <a:solidFill>
                  <a:srgbClr val="D6D5D4"/>
                </a:solidFill>
              </a:rPr>
              <a:t>filters groups after they have been created.</a:t>
            </a:r>
            <a:endParaRPr sz="1650">
              <a:solidFill>
                <a:srgbClr val="D6D5D4"/>
              </a:solidFill>
            </a:endParaRPr>
          </a:p>
          <a:p>
            <a:pPr indent="-317500" lvl="0" marL="457200" rtl="0" algn="l">
              <a:spcBef>
                <a:spcPts val="0"/>
              </a:spcBef>
              <a:spcAft>
                <a:spcPts val="0"/>
              </a:spcAft>
              <a:buClr>
                <a:srgbClr val="D6D5D4"/>
              </a:buClr>
              <a:buSzPts val="1400"/>
              <a:buFont typeface="Georgia"/>
              <a:buChar char="●"/>
            </a:pPr>
            <a:r>
              <a:rPr b="1" lang="en" sz="1650">
                <a:solidFill>
                  <a:schemeClr val="dk1"/>
                </a:solidFill>
                <a:latin typeface="Courier New"/>
                <a:ea typeface="Courier New"/>
                <a:cs typeface="Courier New"/>
                <a:sym typeface="Courier New"/>
              </a:rPr>
              <a:t>WHERE </a:t>
            </a:r>
            <a:r>
              <a:rPr lang="en" sz="1650">
                <a:solidFill>
                  <a:srgbClr val="D6D5D4"/>
                </a:solidFill>
              </a:rPr>
              <a:t>filters individual rows before grouping, but HAVING filters grouped results after grouping.</a:t>
            </a:r>
            <a:endParaRPr sz="1650">
              <a:solidFill>
                <a:srgbClr val="D6D5D4"/>
              </a:solidFill>
            </a:endParaRPr>
          </a:p>
        </p:txBody>
      </p:sp>
      <p:sp>
        <p:nvSpPr>
          <p:cNvPr id="334" name="Google Shape;334;p50"/>
          <p:cNvSpPr txBox="1"/>
          <p:nvPr/>
        </p:nvSpPr>
        <p:spPr>
          <a:xfrm rot="-355149">
            <a:off x="479994" y="2650566"/>
            <a:ext cx="3714906" cy="1231219"/>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SELECT</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department, </a:t>
            </a:r>
            <a:r>
              <a:rPr lang="en" sz="1700">
                <a:solidFill>
                  <a:srgbClr val="D2A8FF"/>
                </a:solidFill>
                <a:latin typeface="Courier New"/>
                <a:ea typeface="Courier New"/>
                <a:cs typeface="Courier New"/>
                <a:sym typeface="Courier New"/>
              </a:rPr>
              <a:t>COUNT</a:t>
            </a:r>
            <a:r>
              <a:rPr lang="en" sz="1700">
                <a:solidFill>
                  <a:srgbClr val="D6D0C8"/>
                </a:solidFill>
                <a:latin typeface="Courier New"/>
                <a:ea typeface="Courier New"/>
                <a:cs typeface="Courier New"/>
                <a:sym typeface="Courier New"/>
              </a:rPr>
              <a:t>(*) </a:t>
            </a:r>
            <a:r>
              <a:rPr b="1" lang="en" sz="1700">
                <a:solidFill>
                  <a:srgbClr val="FF7B72"/>
                </a:solidFill>
                <a:latin typeface="Courier New"/>
                <a:ea typeface="Courier New"/>
                <a:cs typeface="Courier New"/>
                <a:sym typeface="Courier New"/>
              </a:rPr>
              <a:t>AS</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total_staff</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FROM</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employees</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GROUP</a:t>
            </a:r>
            <a:r>
              <a:rPr b="1" lang="en" sz="1700">
                <a:solidFill>
                  <a:srgbClr val="D6D0C8"/>
                </a:solidFill>
                <a:latin typeface="Courier New"/>
                <a:ea typeface="Courier New"/>
                <a:cs typeface="Courier New"/>
                <a:sym typeface="Courier New"/>
              </a:rPr>
              <a:t> </a:t>
            </a:r>
            <a:r>
              <a:rPr b="1" lang="en" sz="1700">
                <a:solidFill>
                  <a:srgbClr val="FF7B72"/>
                </a:solidFill>
                <a:latin typeface="Courier New"/>
                <a:ea typeface="Courier New"/>
                <a:cs typeface="Courier New"/>
                <a:sym typeface="Courier New"/>
              </a:rPr>
              <a:t>BY</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department;</a:t>
            </a:r>
            <a:r>
              <a:rPr lang="en" sz="1700">
                <a:solidFill>
                  <a:schemeClr val="dk2"/>
                </a:solidFill>
              </a:rPr>
              <a:t> </a:t>
            </a:r>
            <a:endParaRPr b="1" sz="2300">
              <a:solidFill>
                <a:srgbClr val="FF7B72"/>
              </a:solidFill>
              <a:latin typeface="Courier New"/>
              <a:ea typeface="Courier New"/>
              <a:cs typeface="Courier New"/>
              <a:sym typeface="Courier New"/>
            </a:endParaRPr>
          </a:p>
        </p:txBody>
      </p:sp>
      <p:sp>
        <p:nvSpPr>
          <p:cNvPr id="335" name="Google Shape;335;p50"/>
          <p:cNvSpPr txBox="1"/>
          <p:nvPr/>
        </p:nvSpPr>
        <p:spPr>
          <a:xfrm rot="642273">
            <a:off x="4666323" y="2753762"/>
            <a:ext cx="4042650" cy="149312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SELECT</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department, </a:t>
            </a:r>
            <a:r>
              <a:rPr lang="en" sz="1700">
                <a:solidFill>
                  <a:srgbClr val="D2A8FF"/>
                </a:solidFill>
                <a:latin typeface="Courier New"/>
                <a:ea typeface="Courier New"/>
                <a:cs typeface="Courier New"/>
                <a:sym typeface="Courier New"/>
              </a:rPr>
              <a:t>COUNT</a:t>
            </a:r>
            <a:r>
              <a:rPr lang="en" sz="1700">
                <a:solidFill>
                  <a:srgbClr val="D6D0C8"/>
                </a:solidFill>
                <a:latin typeface="Courier New"/>
                <a:ea typeface="Courier New"/>
                <a:cs typeface="Courier New"/>
                <a:sym typeface="Courier New"/>
              </a:rPr>
              <a:t>(*) </a:t>
            </a:r>
            <a:r>
              <a:rPr b="1" lang="en" sz="1700">
                <a:solidFill>
                  <a:srgbClr val="FF7B72"/>
                </a:solidFill>
                <a:latin typeface="Courier New"/>
                <a:ea typeface="Courier New"/>
                <a:cs typeface="Courier New"/>
                <a:sym typeface="Courier New"/>
              </a:rPr>
              <a:t>AS</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total_staff</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FROM</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employees</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GROUP</a:t>
            </a:r>
            <a:r>
              <a:rPr b="1" lang="en" sz="1700">
                <a:solidFill>
                  <a:srgbClr val="D6D0C8"/>
                </a:solidFill>
                <a:latin typeface="Courier New"/>
                <a:ea typeface="Courier New"/>
                <a:cs typeface="Courier New"/>
                <a:sym typeface="Courier New"/>
              </a:rPr>
              <a:t> </a:t>
            </a:r>
            <a:r>
              <a:rPr b="1" lang="en" sz="1700">
                <a:solidFill>
                  <a:srgbClr val="FF7B72"/>
                </a:solidFill>
                <a:latin typeface="Courier New"/>
                <a:ea typeface="Courier New"/>
                <a:cs typeface="Courier New"/>
                <a:sym typeface="Courier New"/>
              </a:rPr>
              <a:t>BY</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department</a:t>
            </a:r>
            <a:endParaRPr sz="1700">
              <a:solidFill>
                <a:srgbClr val="D6D0C8"/>
              </a:solidFill>
              <a:latin typeface="Courier New"/>
              <a:ea typeface="Courier New"/>
              <a:cs typeface="Courier New"/>
              <a:sym typeface="Courier New"/>
            </a:endParaRPr>
          </a:p>
          <a:p>
            <a:pPr indent="0" lvl="0" marL="0" rtl="0" algn="l">
              <a:spcBef>
                <a:spcPts val="0"/>
              </a:spcBef>
              <a:spcAft>
                <a:spcPts val="0"/>
              </a:spcAft>
              <a:buNone/>
            </a:pPr>
            <a:r>
              <a:rPr b="1" lang="en" sz="1700">
                <a:solidFill>
                  <a:srgbClr val="FF7B72"/>
                </a:solidFill>
                <a:latin typeface="Courier New"/>
                <a:ea typeface="Courier New"/>
                <a:cs typeface="Courier New"/>
                <a:sym typeface="Courier New"/>
              </a:rPr>
              <a:t>HAVING</a:t>
            </a:r>
            <a:r>
              <a:rPr b="1" lang="en" sz="1700">
                <a:solidFill>
                  <a:srgbClr val="D6D0C8"/>
                </a:solidFill>
                <a:latin typeface="Courier New"/>
                <a:ea typeface="Courier New"/>
                <a:cs typeface="Courier New"/>
                <a:sym typeface="Courier New"/>
              </a:rPr>
              <a:t> </a:t>
            </a:r>
            <a:r>
              <a:rPr lang="en" sz="1700">
                <a:solidFill>
                  <a:srgbClr val="D6D0C8"/>
                </a:solidFill>
                <a:latin typeface="Courier New"/>
                <a:ea typeface="Courier New"/>
                <a:cs typeface="Courier New"/>
                <a:sym typeface="Courier New"/>
              </a:rPr>
              <a:t>total_staff</a:t>
            </a:r>
            <a:r>
              <a:rPr lang="en" sz="1700">
                <a:solidFill>
                  <a:srgbClr val="D6D0C8"/>
                </a:solidFill>
                <a:latin typeface="Courier New"/>
                <a:ea typeface="Courier New"/>
                <a:cs typeface="Courier New"/>
                <a:sym typeface="Courier New"/>
              </a:rPr>
              <a:t> &gt; </a:t>
            </a:r>
            <a:r>
              <a:rPr lang="en" sz="1700">
                <a:solidFill>
                  <a:srgbClr val="FFA657"/>
                </a:solidFill>
                <a:latin typeface="Courier New"/>
                <a:ea typeface="Courier New"/>
                <a:cs typeface="Courier New"/>
                <a:sym typeface="Courier New"/>
              </a:rPr>
              <a:t>1</a:t>
            </a:r>
            <a:r>
              <a:rPr lang="en" sz="1700">
                <a:solidFill>
                  <a:srgbClr val="D6D0C8"/>
                </a:solidFill>
                <a:latin typeface="Courier New"/>
                <a:ea typeface="Courier New"/>
                <a:cs typeface="Courier New"/>
                <a:sym typeface="Courier New"/>
              </a:rPr>
              <a:t>;</a:t>
            </a:r>
            <a:r>
              <a:rPr lang="en" sz="1700">
                <a:solidFill>
                  <a:schemeClr val="dk2"/>
                </a:solidFill>
              </a:rPr>
              <a:t> </a:t>
            </a:r>
            <a:endParaRPr b="1" sz="2100">
              <a:solidFill>
                <a:srgbClr val="FF7B72"/>
              </a:solidFill>
              <a:latin typeface="Courier New"/>
              <a:ea typeface="Courier New"/>
              <a:cs typeface="Courier New"/>
              <a:sym typeface="Courier New"/>
            </a:endParaRPr>
          </a:p>
        </p:txBody>
      </p:sp>
      <p:sp>
        <p:nvSpPr>
          <p:cNvPr id="336" name="Google Shape;336;p50"/>
          <p:cNvSpPr txBox="1"/>
          <p:nvPr/>
        </p:nvSpPr>
        <p:spPr>
          <a:xfrm>
            <a:off x="2257064" y="4070017"/>
            <a:ext cx="37044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50">
                <a:solidFill>
                  <a:schemeClr val="dk1"/>
                </a:solidFill>
                <a:latin typeface="Courier New"/>
                <a:ea typeface="Courier New"/>
                <a:cs typeface="Courier New"/>
                <a:sym typeface="Courier New"/>
              </a:rPr>
              <a:t>WHERE </a:t>
            </a:r>
            <a:r>
              <a:rPr lang="en" sz="1050">
                <a:solidFill>
                  <a:schemeClr val="dk1"/>
                </a:solidFill>
                <a:latin typeface="Courier New"/>
                <a:ea typeface="Courier New"/>
                <a:cs typeface="Courier New"/>
                <a:sym typeface="Courier New"/>
              </a:rPr>
              <a:t>salary &gt; 40000</a:t>
            </a:r>
            <a:r>
              <a:rPr lang="en" sz="1200">
                <a:solidFill>
                  <a:schemeClr val="dk1"/>
                </a:solidFill>
                <a:latin typeface="Georgia"/>
                <a:ea typeface="Georgia"/>
                <a:cs typeface="Georgia"/>
                <a:sym typeface="Georgia"/>
              </a:rPr>
              <a:t> → filters rows.</a:t>
            </a:r>
            <a:endParaRPr sz="1200">
              <a:solidFill>
                <a:schemeClr val="dk1"/>
              </a:solidFill>
              <a:latin typeface="Georgia"/>
              <a:ea typeface="Georgia"/>
              <a:cs typeface="Georgia"/>
              <a:sym typeface="Georgia"/>
            </a:endParaRPr>
          </a:p>
          <a:p>
            <a:pPr indent="0" lvl="0" marL="0" rtl="0" algn="l">
              <a:lnSpc>
                <a:spcPct val="115000"/>
              </a:lnSpc>
              <a:spcBef>
                <a:spcPts val="0"/>
              </a:spcBef>
              <a:spcAft>
                <a:spcPts val="0"/>
              </a:spcAft>
              <a:buNone/>
            </a:pPr>
            <a:r>
              <a:rPr b="1" lang="en" sz="1050">
                <a:solidFill>
                  <a:schemeClr val="dk1"/>
                </a:solidFill>
                <a:latin typeface="Courier New"/>
                <a:ea typeface="Courier New"/>
                <a:cs typeface="Courier New"/>
                <a:sym typeface="Courier New"/>
              </a:rPr>
              <a:t>HAVING </a:t>
            </a:r>
            <a:r>
              <a:rPr lang="en" sz="1050">
                <a:solidFill>
                  <a:schemeClr val="dk1"/>
                </a:solidFill>
                <a:latin typeface="Courier New"/>
                <a:ea typeface="Courier New"/>
                <a:cs typeface="Courier New"/>
                <a:sym typeface="Courier New"/>
              </a:rPr>
              <a:t>COUNT(*) &gt; 2</a:t>
            </a:r>
            <a:r>
              <a:rPr lang="en" sz="1200">
                <a:solidFill>
                  <a:schemeClr val="dk1"/>
                </a:solidFill>
                <a:latin typeface="Georgia"/>
                <a:ea typeface="Georgia"/>
                <a:cs typeface="Georgia"/>
                <a:sym typeface="Georgia"/>
              </a:rPr>
              <a:t> → filters groups.</a:t>
            </a:r>
            <a:endParaRPr sz="1200">
              <a:solidFill>
                <a:schemeClr val="dk1"/>
              </a:solidFill>
              <a:latin typeface="Georgia"/>
              <a:ea typeface="Georgia"/>
              <a:cs typeface="Georgia"/>
              <a:sym typeface="Georgia"/>
            </a:endParaRPr>
          </a:p>
        </p:txBody>
      </p:sp>
      <p:pic>
        <p:nvPicPr>
          <p:cNvPr id="337" name="Google Shape;337;p50"/>
          <p:cNvPicPr preferRelativeResize="0"/>
          <p:nvPr/>
        </p:nvPicPr>
        <p:blipFill>
          <a:blip r:embed="rId3">
            <a:alphaModFix/>
          </a:blip>
          <a:stretch>
            <a:fillRect/>
          </a:stretch>
        </p:blipFill>
        <p:spPr>
          <a:xfrm>
            <a:off x="5822775" y="164700"/>
            <a:ext cx="3188475" cy="16835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41" name="Shape 341"/>
        <p:cNvGrpSpPr/>
        <p:nvPr/>
      </p:nvGrpSpPr>
      <p:grpSpPr>
        <a:xfrm>
          <a:off x="0" y="0"/>
          <a:ext cx="0" cy="0"/>
          <a:chOff x="0" y="0"/>
          <a:chExt cx="0" cy="0"/>
        </a:xfrm>
      </p:grpSpPr>
      <p:sp>
        <p:nvSpPr>
          <p:cNvPr id="342" name="Google Shape;342;p5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BY and HAVING</a:t>
            </a:r>
            <a:endParaRPr/>
          </a:p>
        </p:txBody>
      </p:sp>
      <p:sp>
        <p:nvSpPr>
          <p:cNvPr id="343" name="Google Shape;343;p51"/>
          <p:cNvSpPr txBox="1"/>
          <p:nvPr>
            <p:ph idx="1" type="body"/>
          </p:nvPr>
        </p:nvSpPr>
        <p:spPr>
          <a:xfrm>
            <a:off x="183775" y="776275"/>
            <a:ext cx="8680800" cy="1597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D6D5D4"/>
              </a:buClr>
              <a:buSzPts val="1700"/>
              <a:buFont typeface="Georgia"/>
              <a:buChar char="●"/>
            </a:pPr>
            <a:r>
              <a:rPr b="1" lang="en" sz="1700">
                <a:solidFill>
                  <a:schemeClr val="dk1"/>
                </a:solidFill>
                <a:latin typeface="Courier New"/>
                <a:ea typeface="Courier New"/>
                <a:cs typeface="Courier New"/>
                <a:sym typeface="Courier New"/>
              </a:rPr>
              <a:t>JOIN </a:t>
            </a:r>
            <a:r>
              <a:rPr lang="en" sz="1700">
                <a:solidFill>
                  <a:srgbClr val="D6D5D4"/>
                </a:solidFill>
              </a:rPr>
              <a:t>combines data from two tables into one result.</a:t>
            </a:r>
            <a:endParaRPr sz="1700">
              <a:solidFill>
                <a:srgbClr val="D6D5D4"/>
              </a:solidFill>
            </a:endParaRPr>
          </a:p>
          <a:p>
            <a:pPr indent="-336550" lvl="0" marL="457200" rtl="0" algn="l">
              <a:spcBef>
                <a:spcPts val="0"/>
              </a:spcBef>
              <a:spcAft>
                <a:spcPts val="0"/>
              </a:spcAft>
              <a:buClr>
                <a:srgbClr val="D6D5D4"/>
              </a:buClr>
              <a:buSzPts val="1700"/>
              <a:buFont typeface="Questrial"/>
              <a:buChar char="●"/>
            </a:pPr>
            <a:r>
              <a:rPr lang="en" sz="1700">
                <a:solidFill>
                  <a:srgbClr val="D6D5D4"/>
                </a:solidFill>
              </a:rPr>
              <a:t>It works by matching a related field in both tables, usually a primary key and a foreign key.</a:t>
            </a:r>
            <a:endParaRPr sz="1700">
              <a:solidFill>
                <a:srgbClr val="D6D5D4"/>
              </a:solidFill>
            </a:endParaRPr>
          </a:p>
          <a:p>
            <a:pPr indent="-336550" lvl="0" marL="457200" rtl="0" algn="l">
              <a:spcBef>
                <a:spcPts val="0"/>
              </a:spcBef>
              <a:spcAft>
                <a:spcPts val="0"/>
              </a:spcAft>
              <a:buClr>
                <a:srgbClr val="D6D5D4"/>
              </a:buClr>
              <a:buSzPts val="1700"/>
              <a:buFont typeface="Questrial"/>
              <a:buChar char="●"/>
            </a:pPr>
            <a:r>
              <a:rPr lang="en" sz="1700">
                <a:solidFill>
                  <a:srgbClr val="D6D5D4"/>
                </a:solidFill>
              </a:rPr>
              <a:t>This allows us to display useful information from different tables in a single query.</a:t>
            </a:r>
            <a:endParaRPr sz="1700">
              <a:solidFill>
                <a:srgbClr val="D6D5D4"/>
              </a:solidFill>
            </a:endParaRPr>
          </a:p>
          <a:p>
            <a:pPr indent="-336550" lvl="0" marL="457200" rtl="0" algn="l">
              <a:spcBef>
                <a:spcPts val="0"/>
              </a:spcBef>
              <a:spcAft>
                <a:spcPts val="0"/>
              </a:spcAft>
              <a:buClr>
                <a:srgbClr val="D6D5D4"/>
              </a:buClr>
              <a:buSzPts val="1700"/>
              <a:buFont typeface="Georgia"/>
              <a:buChar char="●"/>
            </a:pPr>
            <a:r>
              <a:rPr lang="en" sz="1700">
                <a:solidFill>
                  <a:srgbClr val="D6D5D4"/>
                </a:solidFill>
              </a:rPr>
              <a:t>In the current lesson deck, a correct example joins students and classes using the shared class_id, while incorrect joins either miss the ON condition or match unrelated columns.</a:t>
            </a:r>
            <a:endParaRPr b="1" sz="1700">
              <a:solidFill>
                <a:schemeClr val="dk1"/>
              </a:solidFill>
            </a:endParaRPr>
          </a:p>
        </p:txBody>
      </p:sp>
      <p:sp>
        <p:nvSpPr>
          <p:cNvPr id="344" name="Google Shape;344;p51"/>
          <p:cNvSpPr txBox="1"/>
          <p:nvPr/>
        </p:nvSpPr>
        <p:spPr>
          <a:xfrm rot="-355149">
            <a:off x="659969" y="2969043"/>
            <a:ext cx="3714906" cy="116966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7B72"/>
                </a:solidFill>
                <a:latin typeface="Courier New"/>
                <a:ea typeface="Courier New"/>
                <a:cs typeface="Courier New"/>
                <a:sym typeface="Courier New"/>
              </a:rPr>
              <a:t>SELECT</a:t>
            </a:r>
            <a:r>
              <a:rPr lang="en" sz="1600">
                <a:solidFill>
                  <a:srgbClr val="D6D0C8"/>
                </a:solidFill>
                <a:latin typeface="Courier New"/>
                <a:ea typeface="Courier New"/>
                <a:cs typeface="Courier New"/>
                <a:sym typeface="Courier New"/>
              </a:rPr>
              <a:t> s.name, c.class_name</a:t>
            </a:r>
            <a:endParaRPr sz="1600">
              <a:solidFill>
                <a:srgbClr val="D6D0C8"/>
              </a:solidFill>
              <a:latin typeface="Courier New"/>
              <a:ea typeface="Courier New"/>
              <a:cs typeface="Courier New"/>
              <a:sym typeface="Courier New"/>
            </a:endParaRPr>
          </a:p>
          <a:p>
            <a:pPr indent="0" lvl="0" marL="0" rtl="0" algn="l">
              <a:spcBef>
                <a:spcPts val="0"/>
              </a:spcBef>
              <a:spcAft>
                <a:spcPts val="0"/>
              </a:spcAft>
              <a:buNone/>
            </a:pPr>
            <a:r>
              <a:rPr lang="en" sz="1600">
                <a:solidFill>
                  <a:srgbClr val="FF7B72"/>
                </a:solidFill>
                <a:latin typeface="Courier New"/>
                <a:ea typeface="Courier New"/>
                <a:cs typeface="Courier New"/>
                <a:sym typeface="Courier New"/>
              </a:rPr>
              <a:t>FROM</a:t>
            </a:r>
            <a:r>
              <a:rPr lang="en" sz="1600">
                <a:solidFill>
                  <a:srgbClr val="D6D0C8"/>
                </a:solidFill>
                <a:latin typeface="Courier New"/>
                <a:ea typeface="Courier New"/>
                <a:cs typeface="Courier New"/>
                <a:sym typeface="Courier New"/>
              </a:rPr>
              <a:t> students s</a:t>
            </a:r>
            <a:endParaRPr sz="1600">
              <a:solidFill>
                <a:srgbClr val="D6D0C8"/>
              </a:solidFill>
              <a:latin typeface="Courier New"/>
              <a:ea typeface="Courier New"/>
              <a:cs typeface="Courier New"/>
              <a:sym typeface="Courier New"/>
            </a:endParaRPr>
          </a:p>
          <a:p>
            <a:pPr indent="0" lvl="0" marL="0" rtl="0" algn="l">
              <a:spcBef>
                <a:spcPts val="0"/>
              </a:spcBef>
              <a:spcAft>
                <a:spcPts val="0"/>
              </a:spcAft>
              <a:buNone/>
            </a:pPr>
            <a:r>
              <a:rPr lang="en" sz="1600">
                <a:solidFill>
                  <a:srgbClr val="FF7B72"/>
                </a:solidFill>
                <a:latin typeface="Courier New"/>
                <a:ea typeface="Courier New"/>
                <a:cs typeface="Courier New"/>
                <a:sym typeface="Courier New"/>
              </a:rPr>
              <a:t>JOIN</a:t>
            </a:r>
            <a:r>
              <a:rPr lang="en" sz="1600">
                <a:solidFill>
                  <a:srgbClr val="D6D0C8"/>
                </a:solidFill>
                <a:latin typeface="Courier New"/>
                <a:ea typeface="Courier New"/>
                <a:cs typeface="Courier New"/>
                <a:sym typeface="Courier New"/>
              </a:rPr>
              <a:t> classes c</a:t>
            </a:r>
            <a:endParaRPr sz="1600">
              <a:solidFill>
                <a:srgbClr val="D6D0C8"/>
              </a:solidFill>
              <a:latin typeface="Courier New"/>
              <a:ea typeface="Courier New"/>
              <a:cs typeface="Courier New"/>
              <a:sym typeface="Courier New"/>
            </a:endParaRPr>
          </a:p>
          <a:p>
            <a:pPr indent="0" lvl="0" marL="0" rtl="0" algn="l">
              <a:spcBef>
                <a:spcPts val="0"/>
              </a:spcBef>
              <a:spcAft>
                <a:spcPts val="0"/>
              </a:spcAft>
              <a:buNone/>
            </a:pPr>
            <a:r>
              <a:rPr lang="en" sz="1600">
                <a:solidFill>
                  <a:srgbClr val="FF7B72"/>
                </a:solidFill>
                <a:latin typeface="Courier New"/>
                <a:ea typeface="Courier New"/>
                <a:cs typeface="Courier New"/>
                <a:sym typeface="Courier New"/>
              </a:rPr>
              <a:t>ON</a:t>
            </a:r>
            <a:r>
              <a:rPr lang="en" sz="1600">
                <a:solidFill>
                  <a:srgbClr val="D6D0C8"/>
                </a:solidFill>
                <a:latin typeface="Courier New"/>
                <a:ea typeface="Courier New"/>
                <a:cs typeface="Courier New"/>
                <a:sym typeface="Courier New"/>
              </a:rPr>
              <a:t> s.class_id = c.class_id;</a:t>
            </a:r>
            <a:r>
              <a:rPr lang="en" sz="1600">
                <a:solidFill>
                  <a:schemeClr val="dk2"/>
                </a:solidFill>
              </a:rPr>
              <a:t> </a:t>
            </a:r>
            <a:endParaRPr b="1" sz="2200">
              <a:solidFill>
                <a:srgbClr val="FF7B72"/>
              </a:solidFill>
              <a:latin typeface="Courier New"/>
              <a:ea typeface="Courier New"/>
              <a:cs typeface="Courier New"/>
              <a:sym typeface="Courier New"/>
            </a:endParaRPr>
          </a:p>
        </p:txBody>
      </p:sp>
      <p:sp>
        <p:nvSpPr>
          <p:cNvPr id="345" name="Google Shape;345;p51"/>
          <p:cNvSpPr txBox="1"/>
          <p:nvPr/>
        </p:nvSpPr>
        <p:spPr>
          <a:xfrm>
            <a:off x="2150964" y="4181567"/>
            <a:ext cx="3704400" cy="53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chemeClr val="dk1"/>
                </a:solidFill>
                <a:latin typeface="Courier New"/>
                <a:ea typeface="Courier New"/>
                <a:cs typeface="Courier New"/>
                <a:sym typeface="Courier New"/>
              </a:rPr>
              <a:t>A join should connect related columns, not just columns with similar names.</a:t>
            </a:r>
            <a:endParaRPr sz="1050">
              <a:solidFill>
                <a:schemeClr val="dk1"/>
              </a:solidFill>
              <a:latin typeface="Courier New"/>
              <a:ea typeface="Courier New"/>
              <a:cs typeface="Courier New"/>
              <a:sym typeface="Courier New"/>
            </a:endParaRPr>
          </a:p>
        </p:txBody>
      </p:sp>
      <p:sp>
        <p:nvSpPr>
          <p:cNvPr id="346" name="Google Shape;346;p51"/>
          <p:cNvSpPr txBox="1"/>
          <p:nvPr/>
        </p:nvSpPr>
        <p:spPr>
          <a:xfrm>
            <a:off x="5363350" y="2703464"/>
            <a:ext cx="3558900" cy="20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1600">
                <a:solidFill>
                  <a:srgbClr val="D6D5D4"/>
                </a:solidFill>
                <a:latin typeface="Questrial"/>
                <a:ea typeface="Questrial"/>
                <a:cs typeface="Questrial"/>
                <a:sym typeface="Questrial"/>
              </a:rPr>
              <a:t>Explanation:</a:t>
            </a:r>
            <a:endParaRPr b="1" sz="1600">
              <a:solidFill>
                <a:srgbClr val="D6D5D4"/>
              </a:solidFill>
              <a:latin typeface="Questrial"/>
              <a:ea typeface="Questrial"/>
              <a:cs typeface="Questrial"/>
              <a:sym typeface="Questrial"/>
            </a:endParaRPr>
          </a:p>
          <a:p>
            <a:pPr indent="-336550" lvl="0" marL="457200" rtl="0" algn="l">
              <a:lnSpc>
                <a:spcPct val="115000"/>
              </a:lnSpc>
              <a:spcBef>
                <a:spcPts val="600"/>
              </a:spcBef>
              <a:spcAft>
                <a:spcPts val="0"/>
              </a:spcAft>
              <a:buClr>
                <a:srgbClr val="D6D5D4"/>
              </a:buClr>
              <a:buSzPts val="1700"/>
              <a:buFont typeface="Georgia"/>
              <a:buChar char="●"/>
            </a:pPr>
            <a:r>
              <a:rPr lang="en" sz="1700">
                <a:solidFill>
                  <a:srgbClr val="D6D5D4"/>
                </a:solidFill>
                <a:latin typeface="Questrial"/>
                <a:ea typeface="Questrial"/>
                <a:cs typeface="Questrial"/>
                <a:sym typeface="Questrial"/>
              </a:rPr>
              <a:t>students is given the alias s.</a:t>
            </a:r>
            <a:endParaRPr sz="1700">
              <a:solidFill>
                <a:srgbClr val="D6D5D4"/>
              </a:solidFill>
              <a:latin typeface="Questrial"/>
              <a:ea typeface="Questrial"/>
              <a:cs typeface="Questrial"/>
              <a:sym typeface="Questrial"/>
            </a:endParaRPr>
          </a:p>
          <a:p>
            <a:pPr indent="-336550" lvl="0" marL="457200" rtl="0" algn="l">
              <a:lnSpc>
                <a:spcPct val="115000"/>
              </a:lnSpc>
              <a:spcBef>
                <a:spcPts val="0"/>
              </a:spcBef>
              <a:spcAft>
                <a:spcPts val="0"/>
              </a:spcAft>
              <a:buClr>
                <a:srgbClr val="D6D5D4"/>
              </a:buClr>
              <a:buSzPts val="1700"/>
              <a:buFont typeface="Georgia"/>
              <a:buChar char="●"/>
            </a:pPr>
            <a:r>
              <a:rPr lang="en" sz="1700">
                <a:solidFill>
                  <a:srgbClr val="D6D5D4"/>
                </a:solidFill>
                <a:latin typeface="Questrial"/>
                <a:ea typeface="Questrial"/>
                <a:cs typeface="Questrial"/>
                <a:sym typeface="Questrial"/>
              </a:rPr>
              <a:t>classes is given the alias c.</a:t>
            </a:r>
            <a:endParaRPr sz="1700">
              <a:solidFill>
                <a:srgbClr val="D6D5D4"/>
              </a:solidFill>
              <a:latin typeface="Questrial"/>
              <a:ea typeface="Questrial"/>
              <a:cs typeface="Questrial"/>
              <a:sym typeface="Questrial"/>
            </a:endParaRPr>
          </a:p>
          <a:p>
            <a:pPr indent="-336550" lvl="0" marL="457200" rtl="0" algn="l">
              <a:lnSpc>
                <a:spcPct val="115000"/>
              </a:lnSpc>
              <a:spcBef>
                <a:spcPts val="0"/>
              </a:spcBef>
              <a:spcAft>
                <a:spcPts val="0"/>
              </a:spcAft>
              <a:buClr>
                <a:srgbClr val="D6D5D4"/>
              </a:buClr>
              <a:buSzPts val="1700"/>
              <a:buFont typeface="Georgia"/>
              <a:buChar char="●"/>
            </a:pPr>
            <a:r>
              <a:rPr lang="en" sz="1700">
                <a:solidFill>
                  <a:srgbClr val="D6D5D4"/>
                </a:solidFill>
                <a:latin typeface="Questrial"/>
                <a:ea typeface="Questrial"/>
                <a:cs typeface="Questrial"/>
                <a:sym typeface="Questrial"/>
              </a:rPr>
              <a:t>JOIN links the two tables.</a:t>
            </a:r>
            <a:endParaRPr sz="1700">
              <a:solidFill>
                <a:srgbClr val="D6D5D4"/>
              </a:solidFill>
              <a:latin typeface="Questrial"/>
              <a:ea typeface="Questrial"/>
              <a:cs typeface="Questrial"/>
              <a:sym typeface="Questrial"/>
            </a:endParaRPr>
          </a:p>
          <a:p>
            <a:pPr indent="-336550" lvl="0" marL="457200" rtl="0" algn="l">
              <a:lnSpc>
                <a:spcPct val="115000"/>
              </a:lnSpc>
              <a:spcBef>
                <a:spcPts val="0"/>
              </a:spcBef>
              <a:spcAft>
                <a:spcPts val="0"/>
              </a:spcAft>
              <a:buClr>
                <a:srgbClr val="D6D5D4"/>
              </a:buClr>
              <a:buSzPts val="1700"/>
              <a:buFont typeface="Georgia"/>
              <a:buChar char="●"/>
            </a:pPr>
            <a:r>
              <a:rPr lang="en" sz="1700">
                <a:solidFill>
                  <a:srgbClr val="D6D5D4"/>
                </a:solidFill>
                <a:latin typeface="Questrial"/>
                <a:ea typeface="Questrial"/>
                <a:cs typeface="Questrial"/>
                <a:sym typeface="Questrial"/>
              </a:rPr>
              <a:t>ON tells SQL how the rows are matched.</a:t>
            </a:r>
            <a:endParaRPr sz="1700">
              <a:solidFill>
                <a:schemeClr val="dk2"/>
              </a:solidFill>
              <a:latin typeface="Questrial"/>
              <a:ea typeface="Questrial"/>
              <a:cs typeface="Questrial"/>
              <a:sym typeface="Quest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0" name="Shape 350"/>
        <p:cNvGrpSpPr/>
        <p:nvPr/>
      </p:nvGrpSpPr>
      <p:grpSpPr>
        <a:xfrm>
          <a:off x="0" y="0"/>
          <a:ext cx="0" cy="0"/>
          <a:chOff x="0" y="0"/>
          <a:chExt cx="0" cy="0"/>
        </a:xfrm>
      </p:grpSpPr>
      <p:sp>
        <p:nvSpPr>
          <p:cNvPr id="351" name="Google Shape;351;p5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Worked Examples</a:t>
            </a:r>
            <a:endParaRPr/>
          </a:p>
        </p:txBody>
      </p:sp>
      <p:sp>
        <p:nvSpPr>
          <p:cNvPr id="352" name="Google Shape;352;p52"/>
          <p:cNvSpPr txBox="1"/>
          <p:nvPr>
            <p:ph idx="1" type="body"/>
          </p:nvPr>
        </p:nvSpPr>
        <p:spPr>
          <a:xfrm>
            <a:off x="183775" y="776275"/>
            <a:ext cx="8680800" cy="1597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Show all unique department names using </a:t>
            </a:r>
            <a:r>
              <a:rPr lang="en" sz="1750">
                <a:solidFill>
                  <a:srgbClr val="D6D5D4"/>
                </a:solidFill>
              </a:rPr>
              <a:t>DISTINCT</a:t>
            </a:r>
            <a:r>
              <a:rPr lang="en" sz="1900">
                <a:solidFill>
                  <a:srgbClr val="D6D5D4"/>
                </a:solidFill>
              </a:rPr>
              <a:t>.</a:t>
            </a:r>
            <a:endParaRPr sz="1900">
              <a:solidFill>
                <a:srgbClr val="D6D5D4"/>
              </a:solidFill>
            </a:endParaRPr>
          </a:p>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Show employees with salaries between 40000 and 60000 using </a:t>
            </a:r>
            <a:r>
              <a:rPr lang="en" sz="1750">
                <a:solidFill>
                  <a:srgbClr val="D6D5D4"/>
                </a:solidFill>
              </a:rPr>
              <a:t>BETWEEN</a:t>
            </a:r>
            <a:r>
              <a:rPr lang="en" sz="1900">
                <a:solidFill>
                  <a:srgbClr val="D6D5D4"/>
                </a:solidFill>
              </a:rPr>
              <a:t>.</a:t>
            </a:r>
            <a:endParaRPr sz="1900">
              <a:solidFill>
                <a:srgbClr val="D6D5D4"/>
              </a:solidFill>
            </a:endParaRPr>
          </a:p>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Show all employees sorted by hire date from newest to oldest using </a:t>
            </a:r>
            <a:r>
              <a:rPr lang="en" sz="1750">
                <a:solidFill>
                  <a:srgbClr val="D6D5D4"/>
                </a:solidFill>
              </a:rPr>
              <a:t>ORDER BY DESC</a:t>
            </a:r>
            <a:r>
              <a:rPr lang="en" sz="1900">
                <a:solidFill>
                  <a:srgbClr val="D6D5D4"/>
                </a:solidFill>
              </a:rPr>
              <a:t>.</a:t>
            </a:r>
            <a:endParaRPr sz="1900">
              <a:solidFill>
                <a:srgbClr val="D6D5D4"/>
              </a:solidFill>
            </a:endParaRPr>
          </a:p>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Count how many employees are in each department using </a:t>
            </a:r>
            <a:r>
              <a:rPr lang="en" sz="1750">
                <a:solidFill>
                  <a:srgbClr val="D6D5D4"/>
                </a:solidFill>
              </a:rPr>
              <a:t>GROUP BY</a:t>
            </a:r>
            <a:r>
              <a:rPr lang="en" sz="1900">
                <a:solidFill>
                  <a:srgbClr val="D6D5D4"/>
                </a:solidFill>
              </a:rPr>
              <a:t>.</a:t>
            </a:r>
            <a:endParaRPr sz="1900">
              <a:solidFill>
                <a:srgbClr val="D6D5D4"/>
              </a:solidFill>
            </a:endParaRPr>
          </a:p>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Show only departments with more than one employee using </a:t>
            </a:r>
            <a:r>
              <a:rPr lang="en" sz="1750">
                <a:solidFill>
                  <a:srgbClr val="D6D5D4"/>
                </a:solidFill>
              </a:rPr>
              <a:t>HAVING</a:t>
            </a:r>
            <a:r>
              <a:rPr lang="en" sz="1900">
                <a:solidFill>
                  <a:srgbClr val="D6D5D4"/>
                </a:solidFill>
              </a:rPr>
              <a:t>.</a:t>
            </a:r>
            <a:endParaRPr sz="1900">
              <a:solidFill>
                <a:srgbClr val="D6D5D4"/>
              </a:solidFill>
            </a:endParaRPr>
          </a:p>
          <a:p>
            <a:pPr indent="-304800" lvl="0" marL="457200" rtl="0" algn="l">
              <a:spcBef>
                <a:spcPts val="0"/>
              </a:spcBef>
              <a:spcAft>
                <a:spcPts val="0"/>
              </a:spcAft>
              <a:buClr>
                <a:srgbClr val="D6D5D4"/>
              </a:buClr>
              <a:buSzPts val="1200"/>
              <a:buFont typeface="Georgia"/>
              <a:buAutoNum type="arabicPeriod"/>
            </a:pPr>
            <a:r>
              <a:rPr lang="en" sz="1900">
                <a:solidFill>
                  <a:srgbClr val="D6D5D4"/>
                </a:solidFill>
              </a:rPr>
              <a:t>Show students and their class names by joining the </a:t>
            </a:r>
            <a:r>
              <a:rPr lang="en" sz="1750">
                <a:solidFill>
                  <a:srgbClr val="D6D5D4"/>
                </a:solidFill>
              </a:rPr>
              <a:t>students</a:t>
            </a:r>
            <a:r>
              <a:rPr lang="en" sz="1900">
                <a:solidFill>
                  <a:srgbClr val="D6D5D4"/>
                </a:solidFill>
              </a:rPr>
              <a:t> and </a:t>
            </a:r>
            <a:r>
              <a:rPr lang="en" sz="1750">
                <a:solidFill>
                  <a:srgbClr val="D6D5D4"/>
                </a:solidFill>
              </a:rPr>
              <a:t>classes</a:t>
            </a:r>
            <a:r>
              <a:rPr lang="en" sz="1900">
                <a:solidFill>
                  <a:srgbClr val="D6D5D4"/>
                </a:solidFill>
              </a:rPr>
              <a:t> tables.</a:t>
            </a:r>
            <a:endParaRPr b="1" sz="24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3"/>
          <p:cNvSpPr txBox="1"/>
          <p:nvPr>
            <p:ph type="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SQL INSERT &amp; UPDATE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L8 - Syllabus Links</a:t>
            </a:r>
            <a:endParaRPr sz="2800"/>
          </a:p>
        </p:txBody>
      </p:sp>
      <p:sp>
        <p:nvSpPr>
          <p:cNvPr id="363" name="Google Shape;363;p5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lnSpc>
                <a:spcPct val="130000"/>
              </a:lnSpc>
              <a:spcBef>
                <a:spcPts val="1800"/>
              </a:spcBef>
              <a:spcAft>
                <a:spcPts val="0"/>
              </a:spcAft>
              <a:buNone/>
            </a:pPr>
            <a:r>
              <a:rPr b="1" lang="en" sz="2900"/>
              <a:t>SQL update &amp; insert</a:t>
            </a:r>
            <a:endParaRPr b="1" sz="2900"/>
          </a:p>
          <a:p>
            <a:pPr indent="0" lvl="0" marL="0" rtl="0" algn="l">
              <a:spcBef>
                <a:spcPts val="400"/>
              </a:spcBef>
              <a:spcAft>
                <a:spcPts val="0"/>
              </a:spcAft>
              <a:buNone/>
            </a:pPr>
            <a:r>
              <a:rPr lang="en" sz="2000"/>
              <a:t>A3.3.3 Explain how SQL can be used to update data in a database.</a:t>
            </a:r>
            <a:endParaRPr sz="2000"/>
          </a:p>
          <a:p>
            <a:pPr indent="-355600" lvl="0" marL="457200" rtl="0" algn="l">
              <a:spcBef>
                <a:spcPts val="1200"/>
              </a:spcBef>
              <a:spcAft>
                <a:spcPts val="0"/>
              </a:spcAft>
              <a:buClr>
                <a:schemeClr val="dk2"/>
              </a:buClr>
              <a:buSzPts val="2000"/>
              <a:buFont typeface="Questrial"/>
              <a:buChar char="●"/>
            </a:pPr>
            <a:r>
              <a:rPr lang="en" sz="2000"/>
              <a:t>Insert new records (INSERT INTO), modify data (UPDATE SET), remove data (DELETE)</a:t>
            </a:r>
            <a:endParaRPr sz="2000"/>
          </a:p>
          <a:p>
            <a:pPr indent="-355600" lvl="0" marL="457200" rtl="0" algn="l">
              <a:spcBef>
                <a:spcPts val="0"/>
              </a:spcBef>
              <a:spcAft>
                <a:spcPts val="0"/>
              </a:spcAft>
              <a:buClr>
                <a:schemeClr val="dk2"/>
              </a:buClr>
              <a:buSzPts val="2000"/>
              <a:buFont typeface="Questrial"/>
              <a:buChar char="●"/>
            </a:pPr>
            <a:r>
              <a:rPr lang="en" sz="2000"/>
              <a:t>The performance implications of updating data in indexed columns, and how indexes might need to be rebuilt or reorganized following significant data modifications</a:t>
            </a:r>
            <a:endParaRPr sz="2000"/>
          </a:p>
          <a:p>
            <a:pPr indent="0" lvl="0" marL="0" rtl="0" algn="l">
              <a:spcBef>
                <a:spcPts val="1200"/>
              </a:spcBef>
              <a:spcAft>
                <a:spcPts val="1500"/>
              </a:spcAft>
              <a:buNone/>
            </a:pPr>
            <a:r>
              <a:t/>
            </a:r>
            <a:endParaRPr b="1" sz="2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5"/>
          <p:cNvSpPr txBox="1"/>
          <p:nvPr>
            <p:ph idx="2" type="body"/>
          </p:nvPr>
        </p:nvSpPr>
        <p:spPr>
          <a:xfrm>
            <a:off x="4310700" y="426100"/>
            <a:ext cx="4622100" cy="4457100"/>
          </a:xfrm>
          <a:prstGeom prst="rect">
            <a:avLst/>
          </a:prstGeom>
          <a:noFill/>
          <a:ln>
            <a:noFill/>
          </a:ln>
        </p:spPr>
        <p:txBody>
          <a:bodyPr anchorCtr="0" anchor="ctr" bIns="91425" lIns="91425" spcFirstLastPara="1" rIns="91425" wrap="square" tIns="91425">
            <a:noAutofit/>
          </a:bodyPr>
          <a:lstStyle/>
          <a:p>
            <a:pPr indent="0" lvl="0" marL="0" rtl="0" algn="l">
              <a:spcBef>
                <a:spcPts val="1600"/>
              </a:spcBef>
              <a:spcAft>
                <a:spcPts val="0"/>
              </a:spcAft>
              <a:buNone/>
            </a:pPr>
            <a:r>
              <a:rPr lang="en">
                <a:solidFill>
                  <a:srgbClr val="FFFFFF"/>
                </a:solidFill>
                <a:highlight>
                  <a:srgbClr val="000000"/>
                </a:highlight>
              </a:rPr>
              <a:t>By the end of this lesson you will be able to</a:t>
            </a:r>
            <a:endParaRPr>
              <a:solidFill>
                <a:srgbClr val="FFFFFF"/>
              </a:solidFill>
              <a:highlight>
                <a:srgbClr val="000000"/>
              </a:highlight>
            </a:endParaRPr>
          </a:p>
          <a:p>
            <a:pPr indent="-342900" lvl="0" marL="457200" rtl="0" algn="l">
              <a:spcBef>
                <a:spcPts val="1600"/>
              </a:spcBef>
              <a:spcAft>
                <a:spcPts val="0"/>
              </a:spcAft>
              <a:buClr>
                <a:srgbClr val="FFFFFF"/>
              </a:buClr>
              <a:buSzPts val="1800"/>
              <a:buAutoNum type="arabicPeriod"/>
            </a:pPr>
            <a:r>
              <a:rPr lang="en">
                <a:solidFill>
                  <a:srgbClr val="FFFFFF"/>
                </a:solidFill>
                <a:highlight>
                  <a:srgbClr val="000000"/>
                </a:highlight>
              </a:rPr>
              <a:t>Use INSERT, UPDATE and DELETE to change data in a table.</a:t>
            </a:r>
            <a:endParaRPr>
              <a:solidFill>
                <a:srgbClr val="FFFFFF"/>
              </a:solidFill>
              <a:highlight>
                <a:srgbClr val="000000"/>
              </a:highlight>
            </a:endParaRPr>
          </a:p>
          <a:p>
            <a:pPr indent="-342900" lvl="0" marL="457200" rtl="0" algn="l">
              <a:spcBef>
                <a:spcPts val="0"/>
              </a:spcBef>
              <a:spcAft>
                <a:spcPts val="0"/>
              </a:spcAft>
              <a:buClr>
                <a:srgbClr val="FFFFFF"/>
              </a:buClr>
              <a:buSzPts val="1800"/>
              <a:buAutoNum type="arabicPeriod"/>
            </a:pPr>
            <a:r>
              <a:rPr lang="en">
                <a:solidFill>
                  <a:srgbClr val="FFFFFF"/>
                </a:solidFill>
                <a:highlight>
                  <a:srgbClr val="000000"/>
                </a:highlight>
              </a:rPr>
              <a:t>Explain how these SQL commands add, modify or remove records in a database.</a:t>
            </a:r>
            <a:endParaRPr>
              <a:solidFill>
                <a:srgbClr val="FFFFFF"/>
              </a:solidFill>
              <a:highlight>
                <a:srgbClr val="000000"/>
              </a:highlight>
            </a:endParaRPr>
          </a:p>
          <a:p>
            <a:pPr indent="-342900" lvl="0" marL="457200" rtl="0" algn="l">
              <a:spcBef>
                <a:spcPts val="0"/>
              </a:spcBef>
              <a:spcAft>
                <a:spcPts val="0"/>
              </a:spcAft>
              <a:buClr>
                <a:srgbClr val="FFFFFF"/>
              </a:buClr>
              <a:buSzPts val="1800"/>
              <a:buAutoNum type="arabicPeriod"/>
            </a:pPr>
            <a:r>
              <a:rPr lang="en">
                <a:solidFill>
                  <a:srgbClr val="FFFFFF"/>
                </a:solidFill>
                <a:highlight>
                  <a:srgbClr val="000000"/>
                </a:highlight>
              </a:rPr>
              <a:t>Outline how updates on indexed columns can affect performance and why indexes may need rebuilding after large data changes.</a:t>
            </a:r>
            <a:endParaRPr>
              <a:solidFill>
                <a:srgbClr val="FFFFFF"/>
              </a:solidFill>
              <a:highlight>
                <a:srgbClr val="000000"/>
              </a:highlight>
            </a:endParaRPr>
          </a:p>
          <a:p>
            <a:pPr indent="0" lvl="0" marL="457200" rtl="0" algn="l">
              <a:spcBef>
                <a:spcPts val="1600"/>
              </a:spcBef>
              <a:spcAft>
                <a:spcPts val="0"/>
              </a:spcAft>
              <a:buNone/>
            </a:pPr>
            <a:r>
              <a:t/>
            </a:r>
            <a:endParaRPr>
              <a:solidFill>
                <a:srgbClr val="FFFFFF"/>
              </a:solidFill>
              <a:highlight>
                <a:srgbClr val="000000"/>
              </a:highlight>
            </a:endParaRPr>
          </a:p>
        </p:txBody>
      </p:sp>
      <p:sp>
        <p:nvSpPr>
          <p:cNvPr id="369" name="Google Shape;369;p55"/>
          <p:cNvSpPr txBox="1"/>
          <p:nvPr>
            <p:ph type="title"/>
          </p:nvPr>
        </p:nvSpPr>
        <p:spPr>
          <a:xfrm>
            <a:off x="265500" y="802800"/>
            <a:ext cx="3748500" cy="3434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4200"/>
              <a:buNone/>
            </a:pPr>
            <a:r>
              <a:rPr lang="en" sz="4000"/>
              <a:t>Lesson 8</a:t>
            </a:r>
            <a:endParaRPr sz="4000"/>
          </a:p>
          <a:p>
            <a:pPr indent="0" lvl="0" marL="0" rtl="0" algn="ctr">
              <a:lnSpc>
                <a:spcPct val="115000"/>
              </a:lnSpc>
              <a:spcBef>
                <a:spcPts val="0"/>
              </a:spcBef>
              <a:spcAft>
                <a:spcPts val="0"/>
              </a:spcAft>
              <a:buSzPts val="4200"/>
              <a:buNone/>
            </a:pPr>
            <a:r>
              <a:rPr lang="en" sz="4000"/>
              <a:t>SQL UPDATE &amp; INSERT</a:t>
            </a:r>
            <a:endParaRPr sz="4000"/>
          </a:p>
        </p:txBody>
      </p:sp>
      <p:pic>
        <p:nvPicPr>
          <p:cNvPr id="370" name="Google Shape;370;p55"/>
          <p:cNvPicPr preferRelativeResize="0"/>
          <p:nvPr/>
        </p:nvPicPr>
        <p:blipFill>
          <a:blip r:embed="rId3">
            <a:alphaModFix/>
          </a:blip>
          <a:stretch>
            <a:fillRect/>
          </a:stretch>
        </p:blipFill>
        <p:spPr>
          <a:xfrm>
            <a:off x="87100" y="80175"/>
            <a:ext cx="4063850" cy="12894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6"/>
          <p:cNvSpPr txBox="1"/>
          <p:nvPr>
            <p:ph type="title"/>
          </p:nvPr>
        </p:nvSpPr>
        <p:spPr>
          <a:xfrm>
            <a:off x="82800" y="74750"/>
            <a:ext cx="498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 Odd One Out</a:t>
            </a:r>
            <a:endParaRPr/>
          </a:p>
        </p:txBody>
      </p:sp>
      <p:sp>
        <p:nvSpPr>
          <p:cNvPr id="376" name="Google Shape;376;p56"/>
          <p:cNvSpPr txBox="1"/>
          <p:nvPr>
            <p:ph idx="1" type="body"/>
          </p:nvPr>
        </p:nvSpPr>
        <p:spPr>
          <a:xfrm>
            <a:off x="3317584" y="98946"/>
            <a:ext cx="5453400" cy="52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Identify the odd one out (correct </a:t>
            </a:r>
            <a:r>
              <a:rPr lang="en" sz="1800"/>
              <a:t>syntax</a:t>
            </a:r>
            <a:r>
              <a:rPr lang="en" sz="1800"/>
              <a:t>) - </a:t>
            </a:r>
            <a:r>
              <a:rPr b="1" lang="en" sz="1800">
                <a:solidFill>
                  <a:srgbClr val="FF0000"/>
                </a:solidFill>
              </a:rPr>
              <a:t>two </a:t>
            </a:r>
            <a:r>
              <a:rPr lang="en" sz="1800"/>
              <a:t>of the </a:t>
            </a:r>
            <a:r>
              <a:rPr lang="en" sz="1800"/>
              <a:t>statements are </a:t>
            </a:r>
            <a:r>
              <a:rPr b="1" lang="en" sz="1800">
                <a:solidFill>
                  <a:srgbClr val="FF0000"/>
                </a:solidFill>
              </a:rPr>
              <a:t>incorrect</a:t>
            </a:r>
            <a:endParaRPr b="1" sz="1800">
              <a:solidFill>
                <a:srgbClr val="FF0000"/>
              </a:solidFill>
            </a:endParaRPr>
          </a:p>
        </p:txBody>
      </p:sp>
      <p:graphicFrame>
        <p:nvGraphicFramePr>
          <p:cNvPr id="377" name="Google Shape;377;p56"/>
          <p:cNvGraphicFramePr/>
          <p:nvPr/>
        </p:nvGraphicFramePr>
        <p:xfrm>
          <a:off x="147625" y="977375"/>
          <a:ext cx="3000000" cy="3000000"/>
        </p:xfrm>
        <a:graphic>
          <a:graphicData uri="http://schemas.openxmlformats.org/drawingml/2006/table">
            <a:tbl>
              <a:tblPr>
                <a:noFill/>
                <a:tableStyleId>{37344A4C-0A25-4AE6-97F8-B57DEE62A804}</a:tableStyleId>
              </a:tblPr>
              <a:tblGrid>
                <a:gridCol w="352400"/>
                <a:gridCol w="4888850"/>
                <a:gridCol w="1127000"/>
                <a:gridCol w="2480475"/>
              </a:tblGrid>
              <a:tr h="342900">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SQL statement</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200">
                          <a:latin typeface="Questrial"/>
                          <a:ea typeface="Questrial"/>
                          <a:cs typeface="Questrial"/>
                          <a:sym typeface="Questrial"/>
                        </a:rPr>
                        <a:t>Correct?</a:t>
                      </a:r>
                      <a:endParaRPr b="1" sz="12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Reason/Identify</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514350">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1</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581025">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2</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 ON s.student_id = c.class_id;</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3</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 ON s.class_id = </a:t>
                      </a:r>
                      <a:r>
                        <a:rPr lang="en">
                          <a:solidFill>
                            <a:srgbClr val="0000FF"/>
                          </a:solidFill>
                          <a:latin typeface="Roboto Mono"/>
                          <a:ea typeface="Roboto Mono"/>
                          <a:cs typeface="Roboto Mono"/>
                          <a:sym typeface="Roboto Mono"/>
                        </a:rPr>
                        <a:t>c</a:t>
                      </a:r>
                      <a:r>
                        <a:rPr lang="en">
                          <a:solidFill>
                            <a:srgbClr val="0000FF"/>
                          </a:solidFill>
                          <a:latin typeface="Roboto Mono"/>
                          <a:ea typeface="Roboto Mono"/>
                          <a:cs typeface="Roboto Mono"/>
                          <a:sym typeface="Roboto Mono"/>
                        </a:rPr>
                        <a:t>.class_id;</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Odd One Out</a:t>
            </a:r>
            <a:endParaRPr/>
          </a:p>
        </p:txBody>
      </p:sp>
      <p:sp>
        <p:nvSpPr>
          <p:cNvPr id="383" name="Google Shape;383;p57"/>
          <p:cNvSpPr txBox="1"/>
          <p:nvPr>
            <p:ph idx="1" type="body"/>
          </p:nvPr>
        </p:nvSpPr>
        <p:spPr>
          <a:xfrm>
            <a:off x="2302600" y="177100"/>
            <a:ext cx="6459600" cy="52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 the odd one out (incorrect syntax)</a:t>
            </a:r>
            <a:endParaRPr/>
          </a:p>
        </p:txBody>
      </p:sp>
      <p:graphicFrame>
        <p:nvGraphicFramePr>
          <p:cNvPr id="384" name="Google Shape;384;p57"/>
          <p:cNvGraphicFramePr/>
          <p:nvPr/>
        </p:nvGraphicFramePr>
        <p:xfrm>
          <a:off x="147625" y="977375"/>
          <a:ext cx="3000000" cy="3000000"/>
        </p:xfrm>
        <a:graphic>
          <a:graphicData uri="http://schemas.openxmlformats.org/drawingml/2006/table">
            <a:tbl>
              <a:tblPr>
                <a:noFill/>
                <a:tableStyleId>{37344A4C-0A25-4AE6-97F8-B57DEE62A804}</a:tableStyleId>
              </a:tblPr>
              <a:tblGrid>
                <a:gridCol w="247650"/>
                <a:gridCol w="4671675"/>
                <a:gridCol w="791400"/>
                <a:gridCol w="3138000"/>
              </a:tblGrid>
              <a:tr h="342900">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SQL statement</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200">
                          <a:latin typeface="Questrial"/>
                          <a:ea typeface="Questrial"/>
                          <a:cs typeface="Questrial"/>
                          <a:sym typeface="Questrial"/>
                        </a:rPr>
                        <a:t>Correct?</a:t>
                      </a:r>
                      <a:endParaRPr b="1" sz="12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a:latin typeface="Questrial"/>
                          <a:ea typeface="Questrial"/>
                          <a:cs typeface="Questrial"/>
                          <a:sym typeface="Questrial"/>
                        </a:rPr>
                        <a:t>Comment</a:t>
                      </a:r>
                      <a:endParaRPr b="1">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2F2F2"/>
                    </a:solidFill>
                  </a:tcPr>
                </a:tc>
              </a:tr>
              <a:tr h="514350">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1</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No</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Missing </a:t>
                      </a:r>
                      <a:r>
                        <a:rPr b="1" lang="en">
                          <a:solidFill>
                            <a:srgbClr val="FF0000"/>
                          </a:solidFill>
                          <a:latin typeface="Questrial"/>
                          <a:ea typeface="Questrial"/>
                          <a:cs typeface="Questrial"/>
                          <a:sym typeface="Questrial"/>
                        </a:rPr>
                        <a:t>ON </a:t>
                      </a:r>
                      <a:r>
                        <a:rPr lang="en">
                          <a:latin typeface="Questrial"/>
                          <a:ea typeface="Questrial"/>
                          <a:cs typeface="Questrial"/>
                          <a:sym typeface="Questrial"/>
                        </a:rPr>
                        <a:t>condition, so it returns a Cartesian product of both tables.jooq+1</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r>
              <a:tr h="581025">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2</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 ON s.student_id = c.class_id;</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No</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Joins on unrelated columns (</a:t>
                      </a:r>
                      <a:r>
                        <a:rPr b="1" lang="en">
                          <a:solidFill>
                            <a:srgbClr val="FF0000"/>
                          </a:solidFill>
                          <a:latin typeface="Questrial"/>
                          <a:ea typeface="Questrial"/>
                          <a:cs typeface="Questrial"/>
                          <a:sym typeface="Questrial"/>
                        </a:rPr>
                        <a:t>student_id</a:t>
                      </a:r>
                      <a:r>
                        <a:rPr lang="en">
                          <a:latin typeface="Questrial"/>
                          <a:ea typeface="Questrial"/>
                          <a:cs typeface="Questrial"/>
                          <a:sym typeface="Questrial"/>
                        </a:rPr>
                        <a:t> vs </a:t>
                      </a:r>
                      <a:r>
                        <a:rPr b="1" lang="en">
                          <a:solidFill>
                            <a:srgbClr val="FF0000"/>
                          </a:solidFill>
                          <a:latin typeface="Questrial"/>
                          <a:ea typeface="Questrial"/>
                          <a:cs typeface="Questrial"/>
                          <a:sym typeface="Questrial"/>
                        </a:rPr>
                        <a:t>class_id</a:t>
                      </a:r>
                      <a:r>
                        <a:rPr lang="en">
                          <a:latin typeface="Questrial"/>
                          <a:ea typeface="Questrial"/>
                          <a:cs typeface="Questrial"/>
                          <a:sym typeface="Questrial"/>
                        </a:rPr>
                        <a:t>), so the relationship is wrong.stackoverflow+1</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F4CCCC"/>
                    </a:solidFill>
                  </a:tcPr>
                </a:tc>
              </a:tr>
              <a:tr h="514350">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3</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SELECT s.name, c.class_name</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FROM students s</a:t>
                      </a:r>
                      <a:endParaRPr>
                        <a:solidFill>
                          <a:srgbClr val="0000FF"/>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
                          <a:solidFill>
                            <a:srgbClr val="0000FF"/>
                          </a:solidFill>
                          <a:latin typeface="Roboto Mono"/>
                          <a:ea typeface="Roboto Mono"/>
                          <a:cs typeface="Roboto Mono"/>
                          <a:sym typeface="Roboto Mono"/>
                        </a:rPr>
                        <a:t>JOIN classes c ON s.class_id = c.class_id;</a:t>
                      </a:r>
                      <a:endParaRPr>
                        <a:solidFill>
                          <a:srgbClr val="0000FF"/>
                        </a:solidFill>
                        <a:latin typeface="Roboto Mono"/>
                        <a:ea typeface="Roboto Mono"/>
                        <a:cs typeface="Roboto Mono"/>
                        <a:sym typeface="Roboto Mono"/>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1700">
                          <a:latin typeface="Questrial"/>
                          <a:ea typeface="Questrial"/>
                          <a:cs typeface="Questrial"/>
                          <a:sym typeface="Questrial"/>
                        </a:rPr>
                        <a:t>Yes</a:t>
                      </a:r>
                      <a:endParaRPr sz="1700">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a:latin typeface="Questrial"/>
                          <a:ea typeface="Questrial"/>
                          <a:cs typeface="Questrial"/>
                          <a:sym typeface="Questrial"/>
                        </a:rPr>
                        <a:t>Correct inner join using the shared key </a:t>
                      </a:r>
                      <a:r>
                        <a:rPr b="1" lang="en">
                          <a:solidFill>
                            <a:srgbClr val="FF0000"/>
                          </a:solidFill>
                          <a:latin typeface="Questrial"/>
                          <a:ea typeface="Questrial"/>
                          <a:cs typeface="Questrial"/>
                          <a:sym typeface="Questrial"/>
                        </a:rPr>
                        <a:t>class_id </a:t>
                      </a:r>
                      <a:r>
                        <a:rPr lang="en">
                          <a:latin typeface="Questrial"/>
                          <a:ea typeface="Questrial"/>
                          <a:cs typeface="Questrial"/>
                          <a:sym typeface="Questrial"/>
                        </a:rPr>
                        <a:t>between the two tables.w3resource+1</a:t>
                      </a:r>
                      <a:endParaRPr>
                        <a:latin typeface="Questrial"/>
                        <a:ea typeface="Questrial"/>
                        <a:cs typeface="Questrial"/>
                        <a:sym typeface="Questrial"/>
                      </a:endParaRPr>
                    </a:p>
                  </a:txBody>
                  <a:tcPr marT="76200" marB="76200" marR="76200" marL="76200">
                    <a:lnL cap="flat" cmpd="sng" w="9350">
                      <a:solidFill>
                        <a:srgbClr val="DDDDDD"/>
                      </a:solidFill>
                      <a:prstDash val="solid"/>
                      <a:round/>
                      <a:headEnd len="sm" w="sm" type="none"/>
                      <a:tailEnd len="sm" w="sm" type="none"/>
                    </a:lnL>
                    <a:lnR cap="flat" cmpd="sng" w="9350">
                      <a:solidFill>
                        <a:srgbClr val="DDDDDD"/>
                      </a:solidFill>
                      <a:prstDash val="solid"/>
                      <a:round/>
                      <a:headEnd len="sm" w="sm" type="none"/>
                      <a:tailEnd len="sm" w="sm" type="none"/>
                    </a:lnR>
                    <a:lnT cap="flat" cmpd="sng" w="9350">
                      <a:solidFill>
                        <a:srgbClr val="DDDDDD"/>
                      </a:solidFill>
                      <a:prstDash val="solid"/>
                      <a:round/>
                      <a:headEnd len="sm" w="sm" type="none"/>
                      <a:tailEnd len="sm" w="sm" type="none"/>
                    </a:lnT>
                    <a:lnB cap="flat" cmpd="sng" w="9350">
                      <a:solidFill>
                        <a:srgbClr val="DDDDDD"/>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a:t>
            </a:r>
            <a:endParaRPr/>
          </a:p>
        </p:txBody>
      </p:sp>
      <p:sp>
        <p:nvSpPr>
          <p:cNvPr id="390" name="Google Shape;390;p5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https://www.w3schools.com/sql/sql_insert.asp</a:t>
            </a:r>
            <a:r>
              <a:rPr lang="en"/>
              <a:t> </a:t>
            </a:r>
            <a:endParaRPr/>
          </a:p>
          <a:p>
            <a:pPr indent="0" lvl="0" marL="0" rtl="0" algn="l">
              <a:spcBef>
                <a:spcPts val="0"/>
              </a:spcBef>
              <a:spcAft>
                <a:spcPts val="0"/>
              </a:spcAft>
              <a:buNone/>
            </a:pPr>
            <a:r>
              <a:rPr lang="en"/>
              <a:t>The INSERT INTO statement is used to insert new records in a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possible to write the INSERT INTO statement in two ways:</a:t>
            </a:r>
            <a:endParaRPr/>
          </a:p>
        </p:txBody>
      </p:sp>
      <p:pic>
        <p:nvPicPr>
          <p:cNvPr id="391" name="Google Shape;391;p58"/>
          <p:cNvPicPr preferRelativeResize="0"/>
          <p:nvPr/>
        </p:nvPicPr>
        <p:blipFill>
          <a:blip r:embed="rId4">
            <a:alphaModFix/>
          </a:blip>
          <a:stretch>
            <a:fillRect/>
          </a:stretch>
        </p:blipFill>
        <p:spPr>
          <a:xfrm>
            <a:off x="373175" y="2946450"/>
            <a:ext cx="4861300" cy="661750"/>
          </a:xfrm>
          <a:prstGeom prst="rect">
            <a:avLst/>
          </a:prstGeom>
          <a:noFill/>
          <a:ln cap="flat" cmpd="sng" w="19050">
            <a:solidFill>
              <a:srgbClr val="030712"/>
            </a:solidFill>
            <a:prstDash val="solid"/>
            <a:round/>
            <a:headEnd len="sm" w="sm" type="none"/>
            <a:tailEnd len="sm" w="sm" type="none"/>
          </a:ln>
        </p:spPr>
      </p:pic>
      <p:pic>
        <p:nvPicPr>
          <p:cNvPr id="392" name="Google Shape;392;p58"/>
          <p:cNvPicPr preferRelativeResize="0"/>
          <p:nvPr/>
        </p:nvPicPr>
        <p:blipFill>
          <a:blip r:embed="rId5">
            <a:alphaModFix/>
          </a:blip>
          <a:stretch>
            <a:fillRect/>
          </a:stretch>
        </p:blipFill>
        <p:spPr>
          <a:xfrm>
            <a:off x="4733999" y="3771699"/>
            <a:ext cx="3461462" cy="661750"/>
          </a:xfrm>
          <a:prstGeom prst="rect">
            <a:avLst/>
          </a:prstGeom>
          <a:noFill/>
          <a:ln cap="flat" cmpd="sng" w="19050">
            <a:solidFill>
              <a:srgbClr val="030712"/>
            </a:solidFill>
            <a:prstDash val="solid"/>
            <a:round/>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Task - INSERT INTO</a:t>
            </a:r>
            <a:endParaRPr/>
          </a:p>
        </p:txBody>
      </p:sp>
      <p:sp>
        <p:nvSpPr>
          <p:cNvPr id="398" name="Google Shape;398;p5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rPr>
              <a:t>INSERT </a:t>
            </a:r>
            <a:r>
              <a:rPr lang="en"/>
              <a:t>new information into your Police database</a:t>
            </a:r>
            <a:endParaRPr/>
          </a:p>
          <a:p>
            <a:pPr indent="0" lvl="0" marL="0" rtl="0" algn="l">
              <a:spcBef>
                <a:spcPts val="0"/>
              </a:spcBef>
              <a:spcAft>
                <a:spcPts val="0"/>
              </a:spcAft>
              <a:buNone/>
            </a:pPr>
            <a:r>
              <a:rPr lang="en"/>
              <a:t>Tables:</a:t>
            </a:r>
            <a:endParaRPr/>
          </a:p>
          <a:p>
            <a:pPr indent="-374650" lvl="0" marL="457200" rtl="0" algn="l">
              <a:spcBef>
                <a:spcPts val="0"/>
              </a:spcBef>
              <a:spcAft>
                <a:spcPts val="0"/>
              </a:spcAft>
              <a:buSzPts val="2300"/>
              <a:buAutoNum type="arabicPeriod"/>
            </a:pPr>
            <a:r>
              <a:rPr lang="en"/>
              <a:t>Station</a:t>
            </a:r>
            <a:endParaRPr/>
          </a:p>
          <a:p>
            <a:pPr indent="-317500" lvl="1" marL="914400" rtl="0" algn="l">
              <a:spcBef>
                <a:spcPts val="0"/>
              </a:spcBef>
              <a:spcAft>
                <a:spcPts val="0"/>
              </a:spcAft>
              <a:buSzPts val="1400"/>
              <a:buAutoNum type="alphaLcPeriod"/>
            </a:pPr>
            <a:r>
              <a:rPr lang="en"/>
              <a:t>INSERT INTO STATION VALUES ('EF03','Westfield Central','Westfield North','01248675765','Chief Supt. Smith');</a:t>
            </a:r>
            <a:endParaRPr/>
          </a:p>
          <a:p>
            <a:pPr indent="-374650" lvl="0" marL="457200" rtl="0" algn="l">
              <a:spcBef>
                <a:spcPts val="0"/>
              </a:spcBef>
              <a:spcAft>
                <a:spcPts val="0"/>
              </a:spcAft>
              <a:buSzPts val="2300"/>
              <a:buAutoNum type="arabicPeriod"/>
            </a:pPr>
            <a:r>
              <a:rPr lang="en"/>
              <a:t>Vehicle</a:t>
            </a:r>
            <a:endParaRPr/>
          </a:p>
          <a:p>
            <a:pPr indent="-317500" lvl="1" marL="914400" rtl="0" algn="l">
              <a:spcBef>
                <a:spcPts val="0"/>
              </a:spcBef>
              <a:spcAft>
                <a:spcPts val="0"/>
              </a:spcAft>
              <a:buSzPts val="1400"/>
              <a:buAutoNum type="alphaLcPeriod"/>
            </a:pPr>
            <a:r>
              <a:rPr lang="en"/>
              <a:t>Model = Ford Explorer, Type = 4x4</a:t>
            </a:r>
            <a:endParaRPr/>
          </a:p>
          <a:p>
            <a:pPr indent="-374650" lvl="0" marL="457200" rtl="0" algn="l">
              <a:spcBef>
                <a:spcPts val="0"/>
              </a:spcBef>
              <a:spcAft>
                <a:spcPts val="0"/>
              </a:spcAft>
              <a:buSzPts val="2300"/>
              <a:buAutoNum type="arabicPeriod"/>
            </a:pPr>
            <a:r>
              <a:rPr lang="en"/>
              <a:t>Officer</a:t>
            </a:r>
            <a:endParaRPr/>
          </a:p>
          <a:p>
            <a:pPr indent="-317500" lvl="1" marL="914400" rtl="0" algn="l">
              <a:spcBef>
                <a:spcPts val="0"/>
              </a:spcBef>
              <a:spcAft>
                <a:spcPts val="0"/>
              </a:spcAft>
              <a:buSzPts val="1400"/>
              <a:buAutoNum type="alphaLcPeriod"/>
            </a:pPr>
            <a:r>
              <a:rPr lang="en"/>
              <a:t>Add a new police officer MingMing! Badge 9999 and ID PC0001</a:t>
            </a:r>
            <a:endParaRPr/>
          </a:p>
          <a:p>
            <a:pPr indent="-374650" lvl="0" marL="457200" rtl="0" algn="l">
              <a:spcBef>
                <a:spcPts val="0"/>
              </a:spcBef>
              <a:spcAft>
                <a:spcPts val="0"/>
              </a:spcAft>
              <a:buSzPts val="2300"/>
              <a:buAutoNum type="arabicPeriod"/>
            </a:pPr>
            <a:r>
              <a:rPr lang="en"/>
              <a:t>Incident</a:t>
            </a:r>
            <a:endParaRPr/>
          </a:p>
          <a:p>
            <a:pPr indent="-317500" lvl="1" marL="914400" rtl="0" algn="l">
              <a:spcBef>
                <a:spcPts val="0"/>
              </a:spcBef>
              <a:spcAft>
                <a:spcPts val="0"/>
              </a:spcAft>
              <a:buSzPts val="1400"/>
              <a:buAutoNum type="alphaLcPeriod"/>
            </a:pPr>
            <a:r>
              <a:rPr lang="en"/>
              <a:t>Add a new incident of burglary by PC0078 that is “Under Review” that took place on 14/5/26</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0"/>
          <p:cNvSpPr txBox="1"/>
          <p:nvPr>
            <p:ph type="title"/>
          </p:nvPr>
        </p:nvSpPr>
        <p:spPr>
          <a:xfrm>
            <a:off x="183775" y="74750"/>
            <a:ext cx="841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a:t>
            </a:r>
            <a:endParaRPr/>
          </a:p>
        </p:txBody>
      </p:sp>
      <p:sp>
        <p:nvSpPr>
          <p:cNvPr id="404" name="Google Shape;404;p60"/>
          <p:cNvSpPr txBox="1"/>
          <p:nvPr>
            <p:ph idx="1" type="body"/>
          </p:nvPr>
        </p:nvSpPr>
        <p:spPr>
          <a:xfrm>
            <a:off x="183775" y="776275"/>
            <a:ext cx="86331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b="1" lang="en">
                <a:solidFill>
                  <a:srgbClr val="0000FF"/>
                </a:solidFill>
              </a:rPr>
              <a:t>UPDATE </a:t>
            </a:r>
            <a:r>
              <a:rPr lang="en"/>
              <a:t>statement is used to update or modify one or more records in a table.</a:t>
            </a:r>
            <a:endParaRPr/>
          </a:p>
          <a:p>
            <a:pPr indent="0" lvl="0" marL="0" rtl="0" algn="l">
              <a:spcBef>
                <a:spcPts val="0"/>
              </a:spcBef>
              <a:spcAft>
                <a:spcPts val="0"/>
              </a:spcAft>
              <a:buNone/>
            </a:pPr>
            <a:r>
              <a:rPr lang="en" u="sng">
                <a:solidFill>
                  <a:schemeClr val="hlink"/>
                </a:solidFill>
                <a:hlinkClick r:id="rId3"/>
              </a:rPr>
              <a:t>https://www.w3schools.com/sql/sql_update.asp</a:t>
            </a:r>
            <a:r>
              <a:rPr lang="en"/>
              <a:t> </a:t>
            </a:r>
            <a:endParaRPr/>
          </a:p>
        </p:txBody>
      </p:sp>
      <p:pic>
        <p:nvPicPr>
          <p:cNvPr id="405" name="Google Shape;405;p60"/>
          <p:cNvPicPr preferRelativeResize="0"/>
          <p:nvPr/>
        </p:nvPicPr>
        <p:blipFill>
          <a:blip r:embed="rId4">
            <a:alphaModFix/>
          </a:blip>
          <a:stretch>
            <a:fillRect/>
          </a:stretch>
        </p:blipFill>
        <p:spPr>
          <a:xfrm>
            <a:off x="1948275" y="2137075"/>
            <a:ext cx="4893851" cy="2516175"/>
          </a:xfrm>
          <a:prstGeom prst="rect">
            <a:avLst/>
          </a:prstGeom>
          <a:noFill/>
          <a:ln>
            <a:noFill/>
          </a:ln>
        </p:spPr>
      </p:pic>
      <p:sp>
        <p:nvSpPr>
          <p:cNvPr id="406" name="Google Shape;406;p60"/>
          <p:cNvSpPr/>
          <p:nvPr/>
        </p:nvSpPr>
        <p:spPr>
          <a:xfrm>
            <a:off x="3743066" y="3456722"/>
            <a:ext cx="625200" cy="243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Task - UPDATE</a:t>
            </a:r>
            <a:endParaRPr/>
          </a:p>
        </p:txBody>
      </p:sp>
      <p:sp>
        <p:nvSpPr>
          <p:cNvPr id="412" name="Google Shape;412;p6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 the tasks in your booklet and paste your commands + the results of the table updates using SELECT statements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Cheatsheet can be found on the classroom for you to use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Plenary - Exam Questions</a:t>
            </a:r>
            <a:endParaRPr/>
          </a:p>
        </p:txBody>
      </p:sp>
      <p:sp>
        <p:nvSpPr>
          <p:cNvPr id="418" name="Google Shape;418;p6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2000">
                <a:solidFill>
                  <a:srgbClr val="27251E"/>
                </a:solidFill>
              </a:rPr>
              <a:t>Question 1 – SQL join</a:t>
            </a:r>
            <a:endParaRPr b="1" sz="2000">
              <a:solidFill>
                <a:srgbClr val="27251E"/>
              </a:solidFill>
            </a:endParaRPr>
          </a:p>
          <a:p>
            <a:pPr indent="0" lvl="0" marL="0" rtl="0" algn="l">
              <a:spcBef>
                <a:spcPts val="600"/>
              </a:spcBef>
              <a:spcAft>
                <a:spcPts val="0"/>
              </a:spcAft>
              <a:buClr>
                <a:schemeClr val="dk2"/>
              </a:buClr>
              <a:buSzPts val="1100"/>
              <a:buFont typeface="Arial"/>
              <a:buNone/>
            </a:pPr>
            <a:r>
              <a:rPr lang="en" sz="1600">
                <a:solidFill>
                  <a:srgbClr val="27251E"/>
                </a:solidFill>
              </a:rPr>
              <a:t>A school database has the following tables.</a:t>
            </a:r>
            <a:endParaRPr sz="1600">
              <a:solidFill>
                <a:srgbClr val="27251E"/>
              </a:solidFill>
            </a:endParaRPr>
          </a:p>
          <a:p>
            <a:pPr indent="0" lvl="0" marL="0" rtl="0" algn="l">
              <a:spcBef>
                <a:spcPts val="1200"/>
              </a:spcBef>
              <a:spcAft>
                <a:spcPts val="0"/>
              </a:spcAft>
              <a:buClr>
                <a:schemeClr val="dk2"/>
              </a:buClr>
              <a:buSzPts val="1100"/>
              <a:buFont typeface="Arial"/>
              <a:buNone/>
            </a:pPr>
            <a:r>
              <a:rPr lang="en" sz="1450">
                <a:solidFill>
                  <a:srgbClr val="27251E"/>
                </a:solidFill>
              </a:rPr>
              <a:t>Student(StudentID, Name, ClassID)</a:t>
            </a:r>
            <a:br>
              <a:rPr lang="en" sz="1450">
                <a:solidFill>
                  <a:srgbClr val="27251E"/>
                </a:solidFill>
              </a:rPr>
            </a:br>
            <a:r>
              <a:rPr lang="en" sz="1450">
                <a:solidFill>
                  <a:srgbClr val="27251E"/>
                </a:solidFill>
              </a:rPr>
              <a:t>Class(ClassID, ClassName, Room)</a:t>
            </a:r>
            <a:endParaRPr sz="1450">
              <a:solidFill>
                <a:srgbClr val="27251E"/>
              </a:solidFill>
            </a:endParaRPr>
          </a:p>
          <a:p>
            <a:pPr indent="0" lvl="0" marL="0" rtl="0" algn="l">
              <a:spcBef>
                <a:spcPts val="1200"/>
              </a:spcBef>
              <a:spcAft>
                <a:spcPts val="0"/>
              </a:spcAft>
              <a:buClr>
                <a:schemeClr val="dk2"/>
              </a:buClr>
              <a:buSzPts val="1100"/>
              <a:buFont typeface="Arial"/>
              <a:buNone/>
            </a:pPr>
            <a:r>
              <a:rPr lang="en" sz="1600">
                <a:solidFill>
                  <a:srgbClr val="27251E"/>
                </a:solidFill>
              </a:rPr>
              <a:t>a) Write an SQL query to display each student's name together with the name of the class they are in. Use table aliases.</a:t>
            </a:r>
            <a:br>
              <a:rPr lang="en" sz="1600">
                <a:solidFill>
                  <a:srgbClr val="27251E"/>
                </a:solidFill>
              </a:rPr>
            </a:br>
            <a:r>
              <a:rPr lang="en" sz="1600">
                <a:solidFill>
                  <a:srgbClr val="27251E"/>
                </a:solidFill>
              </a:rPr>
              <a:t>b) Explain the purpose of the join in your query in part (a).</a:t>
            </a:r>
            <a:endParaRPr sz="1600">
              <a:solidFill>
                <a:srgbClr val="27251E"/>
              </a:solidFill>
            </a:endParaRPr>
          </a:p>
          <a:p>
            <a:pPr indent="0" lvl="0" marL="0" rtl="0" algn="l">
              <a:spcBef>
                <a:spcPts val="1200"/>
              </a:spcBef>
              <a:spcAft>
                <a:spcPts val="0"/>
              </a:spcAft>
              <a:buClr>
                <a:schemeClr val="dk2"/>
              </a:buClr>
              <a:buSzPts val="1100"/>
              <a:buFont typeface="Arial"/>
              <a:buNone/>
            </a:pPr>
            <a:r>
              <a:rPr i="1" lang="en" sz="1600">
                <a:solidFill>
                  <a:srgbClr val="27251E"/>
                </a:solidFill>
              </a:rPr>
              <a:t>Command term focus: write, explain; concepts: relational model, foreign key, inner join.</a:t>
            </a:r>
            <a:endParaRPr i="1" sz="1600">
              <a:solidFill>
                <a:srgbClr val="27251E"/>
              </a:solidFill>
            </a:endParaRPr>
          </a:p>
          <a:p>
            <a:pPr indent="0" lvl="0" marL="0" rtl="0" algn="l">
              <a:spcBef>
                <a:spcPts val="600"/>
              </a:spcBef>
              <a:spcAft>
                <a:spcPts val="0"/>
              </a:spcAft>
              <a:buNone/>
            </a:pPr>
            <a:r>
              <a:t/>
            </a:r>
            <a:endParaRPr sz="27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 – SQL insert / update</a:t>
            </a:r>
            <a:endParaRPr/>
          </a:p>
          <a:p>
            <a:pPr indent="0" lvl="0" marL="0" rtl="0" algn="l">
              <a:spcBef>
                <a:spcPts val="0"/>
              </a:spcBef>
              <a:spcAft>
                <a:spcPts val="0"/>
              </a:spcAft>
              <a:buNone/>
            </a:pPr>
            <a:r>
              <a:t/>
            </a:r>
            <a:endParaRPr/>
          </a:p>
        </p:txBody>
      </p:sp>
      <p:sp>
        <p:nvSpPr>
          <p:cNvPr id="424" name="Google Shape;424;p6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2"/>
              </a:buClr>
              <a:buSzPts val="1100"/>
              <a:buFont typeface="Arial"/>
              <a:buNone/>
            </a:pPr>
            <a:r>
              <a:rPr lang="en" sz="2000">
                <a:solidFill>
                  <a:srgbClr val="27251E"/>
                </a:solidFill>
              </a:rPr>
              <a:t>A table </a:t>
            </a:r>
            <a:r>
              <a:rPr lang="en" sz="1850">
                <a:solidFill>
                  <a:srgbClr val="27251E"/>
                </a:solidFill>
              </a:rPr>
              <a:t>Book(BookID, Title, Author, InStock)</a:t>
            </a:r>
            <a:r>
              <a:rPr lang="en" sz="2000">
                <a:solidFill>
                  <a:srgbClr val="27251E"/>
                </a:solidFill>
              </a:rPr>
              <a:t> stores information about books in a library.</a:t>
            </a:r>
            <a:endParaRPr sz="2000">
              <a:solidFill>
                <a:srgbClr val="27251E"/>
              </a:solidFill>
            </a:endParaRPr>
          </a:p>
          <a:p>
            <a:pPr indent="0" lvl="0" marL="0" rtl="0" algn="l">
              <a:spcBef>
                <a:spcPts val="1200"/>
              </a:spcBef>
              <a:spcAft>
                <a:spcPts val="0"/>
              </a:spcAft>
              <a:buClr>
                <a:schemeClr val="dk2"/>
              </a:buClr>
              <a:buSzPts val="1100"/>
              <a:buFont typeface="Arial"/>
              <a:buNone/>
            </a:pPr>
            <a:r>
              <a:rPr lang="en" sz="2000">
                <a:solidFill>
                  <a:srgbClr val="27251E"/>
                </a:solidFill>
              </a:rPr>
              <a:t>a) Write an SQL statement to insert a new book with BookID 501, title 'AI in Education', author 'Nguyen', and InStock value 3.</a:t>
            </a:r>
            <a:br>
              <a:rPr lang="en" sz="2000">
                <a:solidFill>
                  <a:srgbClr val="27251E"/>
                </a:solidFill>
              </a:rPr>
            </a:br>
            <a:r>
              <a:rPr lang="en" sz="2000">
                <a:solidFill>
                  <a:srgbClr val="27251E"/>
                </a:solidFill>
              </a:rPr>
              <a:t>b) A mistake was made and the library actually has 5 copies in stock. Write an SQL statement to correct the </a:t>
            </a:r>
            <a:r>
              <a:rPr lang="en" sz="1850">
                <a:solidFill>
                  <a:srgbClr val="27251E"/>
                </a:solidFill>
              </a:rPr>
              <a:t>InStock</a:t>
            </a:r>
            <a:r>
              <a:rPr lang="en" sz="2000">
                <a:solidFill>
                  <a:srgbClr val="27251E"/>
                </a:solidFill>
              </a:rPr>
              <a:t> value for this book only.</a:t>
            </a:r>
            <a:br>
              <a:rPr lang="en" sz="2000">
                <a:solidFill>
                  <a:srgbClr val="27251E"/>
                </a:solidFill>
              </a:rPr>
            </a:br>
            <a:r>
              <a:rPr lang="en" sz="2000">
                <a:solidFill>
                  <a:srgbClr val="27251E"/>
                </a:solidFill>
              </a:rPr>
              <a:t>c) State one possible consequence of forgetting to include an appropriate </a:t>
            </a:r>
            <a:r>
              <a:rPr lang="en" sz="1850">
                <a:solidFill>
                  <a:srgbClr val="27251E"/>
                </a:solidFill>
              </a:rPr>
              <a:t>WHERE</a:t>
            </a:r>
            <a:r>
              <a:rPr lang="en" sz="2000">
                <a:solidFill>
                  <a:srgbClr val="27251E"/>
                </a:solidFill>
              </a:rPr>
              <a:t> clause in your UPDATE statement.</a:t>
            </a:r>
            <a:endParaRPr sz="2000">
              <a:solidFill>
                <a:srgbClr val="27251E"/>
              </a:solidFill>
            </a:endParaRPr>
          </a:p>
          <a:p>
            <a:pPr indent="0" lvl="0" marL="0" rtl="0" algn="l">
              <a:spcBef>
                <a:spcPts val="600"/>
              </a:spcBef>
              <a:spcAft>
                <a:spcPts val="0"/>
              </a:spcAft>
              <a:buNone/>
            </a:pPr>
            <a:r>
              <a:t/>
            </a:r>
            <a:endParaRPr sz="31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ANSWERS</a:t>
            </a:r>
            <a:endParaRPr/>
          </a:p>
        </p:txBody>
      </p:sp>
      <p:sp>
        <p:nvSpPr>
          <p:cNvPr id="430" name="Google Shape;430;p6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800">
                <a:latin typeface="Courier New"/>
                <a:ea typeface="Courier New"/>
                <a:cs typeface="Courier New"/>
                <a:sym typeface="Courier New"/>
              </a:rPr>
              <a:t>SELECT s.Name, c.ClassName</a:t>
            </a:r>
            <a:endParaRPr sz="18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800">
                <a:latin typeface="Courier New"/>
                <a:ea typeface="Courier New"/>
                <a:cs typeface="Courier New"/>
                <a:sym typeface="Courier New"/>
              </a:rPr>
              <a:t>FROM Student AS s</a:t>
            </a:r>
            <a:endParaRPr sz="18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800">
                <a:latin typeface="Courier New"/>
                <a:ea typeface="Courier New"/>
                <a:cs typeface="Courier New"/>
                <a:sym typeface="Courier New"/>
              </a:rPr>
              <a:t>JOIN Class AS c</a:t>
            </a:r>
            <a:endParaRPr sz="18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1800">
                <a:latin typeface="Courier New"/>
                <a:ea typeface="Courier New"/>
                <a:cs typeface="Courier New"/>
                <a:sym typeface="Courier New"/>
              </a:rPr>
              <a:t>ON s.ClassID = c.ClassID;</a:t>
            </a:r>
            <a:endParaRPr sz="1800">
              <a:latin typeface="Courier New"/>
              <a:ea typeface="Courier New"/>
              <a:cs typeface="Courier New"/>
              <a:sym typeface="Courier New"/>
            </a:endParaRPr>
          </a:p>
          <a:p>
            <a:pPr indent="0" lvl="0" marL="0" rtl="0" algn="l">
              <a:spcBef>
                <a:spcPts val="600"/>
              </a:spcBef>
              <a:spcAft>
                <a:spcPts val="0"/>
              </a:spcAft>
              <a:buClr>
                <a:schemeClr val="dk2"/>
              </a:buClr>
              <a:buSzPts val="1100"/>
              <a:buFont typeface="Arial"/>
              <a:buNone/>
            </a:pPr>
            <a:r>
              <a:rPr lang="en" sz="1800">
                <a:solidFill>
                  <a:srgbClr val="27251E"/>
                </a:solidFill>
              </a:rPr>
              <a:t>b)</a:t>
            </a:r>
            <a:endParaRPr sz="1800">
              <a:solidFill>
                <a:srgbClr val="27251E"/>
              </a:solidFill>
            </a:endParaRPr>
          </a:p>
          <a:p>
            <a:pPr indent="-342900" lvl="0" marL="457200" rtl="0" algn="l">
              <a:spcBef>
                <a:spcPts val="600"/>
              </a:spcBef>
              <a:spcAft>
                <a:spcPts val="0"/>
              </a:spcAft>
              <a:buClr>
                <a:srgbClr val="27251E"/>
              </a:buClr>
              <a:buSzPts val="1800"/>
              <a:buFont typeface="Questrial"/>
              <a:buChar char="●"/>
            </a:pPr>
            <a:r>
              <a:rPr lang="en" sz="1800">
                <a:solidFill>
                  <a:srgbClr val="27251E"/>
                </a:solidFill>
              </a:rPr>
              <a:t>The join combines rows from the Student and Class tables into a single result set.</a:t>
            </a:r>
            <a:endParaRPr sz="1800">
              <a:solidFill>
                <a:srgbClr val="27251E"/>
              </a:solidFill>
            </a:endParaRPr>
          </a:p>
          <a:p>
            <a:pPr indent="-342900" lvl="0" marL="457200" rtl="0" algn="l">
              <a:spcBef>
                <a:spcPts val="0"/>
              </a:spcBef>
              <a:spcAft>
                <a:spcPts val="0"/>
              </a:spcAft>
              <a:buClr>
                <a:srgbClr val="27251E"/>
              </a:buClr>
              <a:buSzPts val="1800"/>
              <a:buFont typeface="Questrial"/>
              <a:buChar char="●"/>
            </a:pPr>
            <a:r>
              <a:rPr lang="en" sz="1800">
                <a:solidFill>
                  <a:srgbClr val="27251E"/>
                </a:solidFill>
              </a:rPr>
              <a:t>It matches each student to the class with the same ClassID (primary/foreign key relationship).</a:t>
            </a:r>
            <a:endParaRPr sz="1800">
              <a:solidFill>
                <a:srgbClr val="27251E"/>
              </a:solidFill>
            </a:endParaRPr>
          </a:p>
          <a:p>
            <a:pPr indent="-342900" lvl="0" marL="457200" rtl="0" algn="l">
              <a:spcBef>
                <a:spcPts val="0"/>
              </a:spcBef>
              <a:spcAft>
                <a:spcPts val="0"/>
              </a:spcAft>
              <a:buClr>
                <a:srgbClr val="27251E"/>
              </a:buClr>
              <a:buSzPts val="1800"/>
              <a:buFont typeface="Questrial"/>
              <a:buChar char="●"/>
            </a:pPr>
            <a:r>
              <a:rPr lang="en" sz="1800">
                <a:solidFill>
                  <a:srgbClr val="27251E"/>
                </a:solidFill>
              </a:rPr>
              <a:t>This allows the query to show data from both tables in one output (for example, student name with class name).</a:t>
            </a:r>
            <a:endParaRPr sz="1800">
              <a:solidFill>
                <a:srgbClr val="27251E"/>
              </a:solidFill>
            </a:endParaRPr>
          </a:p>
          <a:p>
            <a:pPr indent="0" lvl="0" marL="0" rtl="0" algn="l">
              <a:spcBef>
                <a:spcPts val="0"/>
              </a:spcBef>
              <a:spcAft>
                <a:spcPts val="0"/>
              </a:spcAft>
              <a:buNone/>
            </a:pPr>
            <a:r>
              <a:t/>
            </a:r>
            <a:endParaRPr sz="18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ANSWERS - Q2</a:t>
            </a:r>
            <a:endParaRPr/>
          </a:p>
        </p:txBody>
      </p:sp>
      <p:sp>
        <p:nvSpPr>
          <p:cNvPr id="436" name="Google Shape;436;p6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000">
                <a:highlight>
                  <a:srgbClr val="00FFFF"/>
                </a:highlight>
                <a:latin typeface="Courier New"/>
                <a:ea typeface="Courier New"/>
                <a:cs typeface="Courier New"/>
                <a:sym typeface="Courier New"/>
              </a:rPr>
              <a:t>INSERT INTO Book (BookID, Title, Author, InStock)</a:t>
            </a:r>
            <a:endParaRPr sz="2000">
              <a:highlight>
                <a:srgbClr val="00FFFF"/>
              </a:highlight>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2000">
                <a:highlight>
                  <a:srgbClr val="00FFFF"/>
                </a:highlight>
                <a:latin typeface="Courier New"/>
                <a:ea typeface="Courier New"/>
                <a:cs typeface="Courier New"/>
                <a:sym typeface="Courier New"/>
              </a:rPr>
              <a:t>VALUES (501, 'AI in Education', 'Nguyen', 3);</a:t>
            </a:r>
            <a:endParaRPr sz="2000">
              <a:highlight>
                <a:srgbClr val="00FFFF"/>
              </a:highlight>
              <a:latin typeface="Courier New"/>
              <a:ea typeface="Courier New"/>
              <a:cs typeface="Courier New"/>
              <a:sym typeface="Courier New"/>
            </a:endParaRPr>
          </a:p>
          <a:p>
            <a:pPr indent="0" lvl="0" marL="0" rtl="0" algn="l">
              <a:spcBef>
                <a:spcPts val="0"/>
              </a:spcBef>
              <a:spcAft>
                <a:spcPts val="0"/>
              </a:spcAft>
              <a:buNone/>
            </a:pPr>
            <a:r>
              <a:t/>
            </a:r>
            <a:endParaRPr sz="200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2000">
                <a:highlight>
                  <a:srgbClr val="00FF00"/>
                </a:highlight>
                <a:latin typeface="Courier New"/>
                <a:ea typeface="Courier New"/>
                <a:cs typeface="Courier New"/>
                <a:sym typeface="Courier New"/>
              </a:rPr>
              <a:t>UPDATE Book</a:t>
            </a:r>
            <a:endParaRPr sz="2000">
              <a:highlight>
                <a:srgbClr val="00FF00"/>
              </a:highlight>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n" sz="2000">
                <a:highlight>
                  <a:srgbClr val="00FF00"/>
                </a:highlight>
                <a:latin typeface="Courier New"/>
                <a:ea typeface="Courier New"/>
                <a:cs typeface="Courier New"/>
                <a:sym typeface="Courier New"/>
              </a:rPr>
              <a:t>SET InStock = 5</a:t>
            </a:r>
            <a:endParaRPr sz="2000">
              <a:highlight>
                <a:srgbClr val="00FF00"/>
              </a:highlight>
              <a:latin typeface="Courier New"/>
              <a:ea typeface="Courier New"/>
              <a:cs typeface="Courier New"/>
              <a:sym typeface="Courier New"/>
            </a:endParaRPr>
          </a:p>
          <a:p>
            <a:pPr indent="0" lvl="0" marL="0" rtl="0" algn="l">
              <a:spcBef>
                <a:spcPts val="0"/>
              </a:spcBef>
              <a:spcAft>
                <a:spcPts val="0"/>
              </a:spcAft>
              <a:buNone/>
            </a:pPr>
            <a:r>
              <a:rPr lang="en" sz="2000">
                <a:highlight>
                  <a:srgbClr val="00FF00"/>
                </a:highlight>
                <a:latin typeface="Courier New"/>
                <a:ea typeface="Courier New"/>
                <a:cs typeface="Courier New"/>
                <a:sym typeface="Courier New"/>
              </a:rPr>
              <a:t>WHERE BookID = 501;</a:t>
            </a:r>
            <a:endParaRPr sz="2000">
              <a:highlight>
                <a:srgbClr val="00FF00"/>
              </a:highlight>
              <a:latin typeface="Courier New"/>
              <a:ea typeface="Courier New"/>
              <a:cs typeface="Courier New"/>
              <a:sym typeface="Courier New"/>
            </a:endParaRPr>
          </a:p>
          <a:p>
            <a:pPr indent="0" lvl="0" marL="0" rtl="0" algn="l">
              <a:spcBef>
                <a:spcPts val="0"/>
              </a:spcBef>
              <a:spcAft>
                <a:spcPts val="0"/>
              </a:spcAft>
              <a:buNone/>
            </a:pPr>
            <a:r>
              <a:t/>
            </a:r>
            <a:endParaRPr sz="2000"/>
          </a:p>
          <a:p>
            <a:pPr indent="0" lvl="0" marL="0" rtl="0" algn="l">
              <a:spcBef>
                <a:spcPts val="1200"/>
              </a:spcBef>
              <a:spcAft>
                <a:spcPts val="0"/>
              </a:spcAft>
              <a:buNone/>
            </a:pPr>
            <a:r>
              <a:rPr lang="en" sz="2000">
                <a:solidFill>
                  <a:srgbClr val="27251E"/>
                </a:solidFill>
                <a:highlight>
                  <a:srgbClr val="FFFF00"/>
                </a:highlight>
              </a:rPr>
              <a:t>One consequence is that </a:t>
            </a:r>
            <a:r>
              <a:rPr b="1" lang="en" sz="2000">
                <a:solidFill>
                  <a:srgbClr val="27251E"/>
                </a:solidFill>
                <a:highlight>
                  <a:srgbClr val="FFFF00"/>
                </a:highlight>
              </a:rPr>
              <a:t>all</a:t>
            </a:r>
            <a:r>
              <a:rPr lang="en" sz="2000">
                <a:solidFill>
                  <a:srgbClr val="27251E"/>
                </a:solidFill>
                <a:highlight>
                  <a:srgbClr val="FFFF00"/>
                </a:highlight>
              </a:rPr>
              <a:t> rows in the table could be updated, leading to incorrect stock levels for every book and potential loss of accurate data.</a:t>
            </a:r>
            <a:endParaRPr sz="2000">
              <a:solidFill>
                <a:srgbClr val="27251E"/>
              </a:solidFill>
              <a:highlight>
                <a:srgbClr val="FFFF00"/>
              </a:highlight>
            </a:endParaRPr>
          </a:p>
          <a:p>
            <a:pPr indent="0" lvl="0" marL="0" rtl="0" algn="l">
              <a:spcBef>
                <a:spcPts val="600"/>
              </a:spcBef>
              <a:spcAft>
                <a:spcPts val="0"/>
              </a:spcAft>
              <a:buNone/>
            </a:pPr>
            <a:r>
              <a:t/>
            </a:r>
            <a:endParaRPr sz="2000"/>
          </a:p>
          <a:p>
            <a:pPr indent="0" lvl="0" marL="0" rtl="0" algn="l">
              <a:spcBef>
                <a:spcPts val="0"/>
              </a:spcBef>
              <a:spcAft>
                <a:spcPts val="0"/>
              </a:spcAft>
              <a:buClr>
                <a:schemeClr val="dk2"/>
              </a:buClr>
              <a:buSzPts val="1100"/>
              <a:buFont typeface="Arial"/>
              <a:buNone/>
            </a:pPr>
            <a:r>
              <a:t/>
            </a:r>
            <a:endParaRPr sz="2000"/>
          </a:p>
          <a:p>
            <a:pPr indent="0" lvl="0" marL="0" rtl="0" algn="l">
              <a:spcBef>
                <a:spcPts val="0"/>
              </a:spcBef>
              <a:spcAft>
                <a:spcPts val="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