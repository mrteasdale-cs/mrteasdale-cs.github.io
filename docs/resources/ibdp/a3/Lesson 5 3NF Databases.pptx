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797675" cy="9929800"/>
  <p:embeddedFontLst>
    <p:embeddedFont>
      <p:font typeface="Playfair Display"/>
      <p:regular r:id="rId19"/>
      <p:bold r:id="rId20"/>
      <p:italic r:id="rId21"/>
      <p:boldItalic r:id="rId22"/>
    </p:embeddedFont>
    <p:embeddedFont>
      <p:font typeface="Montserrat"/>
      <p:regular r:id="rId23"/>
      <p:bold r:id="rId24"/>
      <p:italic r:id="rId25"/>
      <p:boldItalic r:id="rId26"/>
    </p:embeddedFont>
    <p:embeddedFont>
      <p:font typeface="Oswald"/>
      <p:regular r:id="rId27"/>
      <p:bold r:id="rId28"/>
    </p:embeddedFont>
    <p:embeddedFont>
      <p:font typeface="Questrial"/>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fairDisplay-bold.fntdata"/><Relationship Id="rId22" Type="http://schemas.openxmlformats.org/officeDocument/2006/relationships/font" Target="fonts/PlayfairDisplay-boldItalic.fntdata"/><Relationship Id="rId21" Type="http://schemas.openxmlformats.org/officeDocument/2006/relationships/font" Target="fonts/PlayfairDisplay-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Oswald-bold.fntdata"/><Relationship Id="rId27" Type="http://schemas.openxmlformats.org/officeDocument/2006/relationships/font" Target="fonts/Oswald-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Questrial-regular.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PlayfairDisplay-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79768" y="4716661"/>
            <a:ext cx="5438140" cy="4468416"/>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c535ad6ed2_0_16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1" name="Google Shape;41;g3c535ad6ed2_0_16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c5313b79cf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7" name="Google Shape;47;g3c5313b79cf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c5313b79cf_2_7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g3c5313b79cf_2_73:notes"/>
          <p:cNvSpPr txBox="1"/>
          <p:nvPr>
            <p:ph idx="1" type="body"/>
          </p:nvPr>
        </p:nvSpPr>
        <p:spPr>
          <a:xfrm>
            <a:off x="679768" y="4716661"/>
            <a:ext cx="5438100" cy="446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6771bbf57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6771bbf57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6771bbf57_0_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6771bbf57_0_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6771bbf57_0_1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6771bbf57_0_1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6771bbf57_0_1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6771bbf57_0_1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6771bbf57_0_2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6771bbf57_0_2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6771bbf57_0_2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6771bbf57_0_2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6771bbf57_0_3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6771bbf57_0_3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01b28fc27_0_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01b28fc27_0_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879925d3e_0_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879925d3e_0_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535ad6ed2_0_13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535ad6ed2_0_13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aad984e92_0_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aad984e92_0_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4358475" y="0"/>
            <a:ext cx="3853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type="ctr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800"/>
              <a:buFont typeface="Questrial"/>
              <a:buNone/>
              <a:defRPr b="1" sz="6800">
                <a:latin typeface="Questrial"/>
                <a:ea typeface="Questrial"/>
                <a:cs typeface="Questrial"/>
                <a:sym typeface="Questrial"/>
              </a:defRPr>
            </a:lvl1pPr>
            <a:lvl2pPr lvl="1"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 name="Shape 15"/>
        <p:cNvGrpSpPr/>
        <p:nvPr/>
      </p:nvGrpSpPr>
      <p:grpSpPr>
        <a:xfrm>
          <a:off x="0" y="0"/>
          <a:ext cx="0" cy="0"/>
          <a:chOff x="0" y="0"/>
          <a:chExt cx="0" cy="0"/>
        </a:xfrm>
      </p:grpSpPr>
      <p:sp>
        <p:nvSpPr>
          <p:cNvPr id="16" name="Google Shape;16;p3"/>
          <p:cNvSpPr/>
          <p:nvPr/>
        </p:nvSpPr>
        <p:spPr>
          <a:xfrm>
            <a:off x="4216950" y="-75"/>
            <a:ext cx="4927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 name="Google Shape;17;p3"/>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18" name="Google Shape;18;p3"/>
          <p:cNvSpPr txBox="1"/>
          <p:nvPr>
            <p:ph type="title"/>
          </p:nvPr>
        </p:nvSpPr>
        <p:spPr>
          <a:xfrm>
            <a:off x="265500" y="802791"/>
            <a:ext cx="3748500" cy="1786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9" name="Google Shape;19;p3"/>
          <p:cNvSpPr txBox="1"/>
          <p:nvPr>
            <p:ph idx="1" type="subTitle"/>
          </p:nvPr>
        </p:nvSpPr>
        <p:spPr>
          <a:xfrm>
            <a:off x="265500" y="2717925"/>
            <a:ext cx="3807900" cy="154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 name="Google Shape;20;p3"/>
          <p:cNvSpPr txBox="1"/>
          <p:nvPr>
            <p:ph idx="2" type="body"/>
          </p:nvPr>
        </p:nvSpPr>
        <p:spPr>
          <a:xfrm>
            <a:off x="4310700" y="724200"/>
            <a:ext cx="46221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highlight>
                  <a:schemeClr val="lt1"/>
                </a:highlight>
              </a:defRPr>
            </a:lvl1pPr>
            <a:lvl2pPr indent="-317500" lvl="1" marL="914400" algn="l">
              <a:lnSpc>
                <a:spcPct val="115000"/>
              </a:lnSpc>
              <a:spcBef>
                <a:spcPts val="1600"/>
              </a:spcBef>
              <a:spcAft>
                <a:spcPts val="0"/>
              </a:spcAft>
              <a:buSzPts val="1400"/>
              <a:buChar char="○"/>
              <a:defRPr>
                <a:highlight>
                  <a:schemeClr val="lt1"/>
                </a:highlight>
              </a:defRPr>
            </a:lvl2pPr>
            <a:lvl3pPr indent="-317500" lvl="2" marL="1371600" algn="l">
              <a:lnSpc>
                <a:spcPct val="115000"/>
              </a:lnSpc>
              <a:spcBef>
                <a:spcPts val="1600"/>
              </a:spcBef>
              <a:spcAft>
                <a:spcPts val="0"/>
              </a:spcAft>
              <a:buSzPts val="1400"/>
              <a:buChar char="■"/>
              <a:defRPr>
                <a:highlight>
                  <a:schemeClr val="lt1"/>
                </a:highlight>
              </a:defRPr>
            </a:lvl3pPr>
            <a:lvl4pPr indent="-317500" lvl="3" marL="1828800" algn="l">
              <a:lnSpc>
                <a:spcPct val="115000"/>
              </a:lnSpc>
              <a:spcBef>
                <a:spcPts val="1600"/>
              </a:spcBef>
              <a:spcAft>
                <a:spcPts val="0"/>
              </a:spcAft>
              <a:buSzPts val="1400"/>
              <a:buChar char="●"/>
              <a:defRPr>
                <a:highlight>
                  <a:schemeClr val="lt1"/>
                </a:highlight>
              </a:defRPr>
            </a:lvl4pPr>
            <a:lvl5pPr indent="-317500" lvl="4" marL="2286000" algn="l">
              <a:lnSpc>
                <a:spcPct val="115000"/>
              </a:lnSpc>
              <a:spcBef>
                <a:spcPts val="1600"/>
              </a:spcBef>
              <a:spcAft>
                <a:spcPts val="0"/>
              </a:spcAft>
              <a:buSzPts val="1400"/>
              <a:buChar char="○"/>
              <a:defRPr>
                <a:highlight>
                  <a:schemeClr val="lt1"/>
                </a:highlight>
              </a:defRPr>
            </a:lvl5pPr>
            <a:lvl6pPr indent="-317500" lvl="5" marL="2743200" algn="l">
              <a:lnSpc>
                <a:spcPct val="115000"/>
              </a:lnSpc>
              <a:spcBef>
                <a:spcPts val="1600"/>
              </a:spcBef>
              <a:spcAft>
                <a:spcPts val="0"/>
              </a:spcAft>
              <a:buSzPts val="1400"/>
              <a:buChar char="■"/>
              <a:defRPr>
                <a:highlight>
                  <a:schemeClr val="lt1"/>
                </a:highlight>
              </a:defRPr>
            </a:lvl6pPr>
            <a:lvl7pPr indent="-317500" lvl="6" marL="3200400" algn="l">
              <a:lnSpc>
                <a:spcPct val="115000"/>
              </a:lnSpc>
              <a:spcBef>
                <a:spcPts val="1600"/>
              </a:spcBef>
              <a:spcAft>
                <a:spcPts val="0"/>
              </a:spcAft>
              <a:buSzPts val="1400"/>
              <a:buChar char="●"/>
              <a:defRPr>
                <a:highlight>
                  <a:schemeClr val="lt1"/>
                </a:highlight>
              </a:defRPr>
            </a:lvl7pPr>
            <a:lvl8pPr indent="-317500" lvl="7" marL="3657600" algn="l">
              <a:lnSpc>
                <a:spcPct val="115000"/>
              </a:lnSpc>
              <a:spcBef>
                <a:spcPts val="1600"/>
              </a:spcBef>
              <a:spcAft>
                <a:spcPts val="0"/>
              </a:spcAft>
              <a:buSzPts val="1400"/>
              <a:buChar char="○"/>
              <a:defRPr>
                <a:highlight>
                  <a:schemeClr val="lt1"/>
                </a:highlight>
              </a:defRPr>
            </a:lvl8pPr>
            <a:lvl9pPr indent="-317500" lvl="8" marL="4114800" algn="l">
              <a:lnSpc>
                <a:spcPct val="115000"/>
              </a:lnSpc>
              <a:spcBef>
                <a:spcPts val="1600"/>
              </a:spcBef>
              <a:spcAft>
                <a:spcPts val="1600"/>
              </a:spcAft>
              <a:buSzPts val="1400"/>
              <a:buChar char="■"/>
              <a:defRPr>
                <a:highlight>
                  <a:schemeClr val="lt1"/>
                </a:highlight>
              </a:defRPr>
            </a:lvl9pPr>
          </a:lstStyle>
          <a:p/>
        </p:txBody>
      </p:sp>
      <p:sp>
        <p:nvSpPr>
          <p:cNvPr id="21" name="Google Shape;21;p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82800" y="74750"/>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4" name="Google Shape;24;p4"/>
          <p:cNvSpPr txBox="1"/>
          <p:nvPr>
            <p:ph idx="1" type="body"/>
          </p:nvPr>
        </p:nvSpPr>
        <p:spPr>
          <a:xfrm>
            <a:off x="183775" y="776275"/>
            <a:ext cx="8520600" cy="3334800"/>
          </a:xfrm>
          <a:prstGeom prst="rect">
            <a:avLst/>
          </a:prstGeom>
          <a:noFill/>
          <a:ln>
            <a:noFill/>
          </a:ln>
        </p:spPr>
        <p:txBody>
          <a:bodyPr anchorCtr="0" anchor="t" bIns="91425" lIns="91425" spcFirstLastPara="1" rIns="91425" wrap="square" tIns="91425">
            <a:noAutofit/>
          </a:bodyPr>
          <a:lstStyle>
            <a:lvl1pPr indent="-374650" lvl="0" marL="457200" algn="l">
              <a:lnSpc>
                <a:spcPct val="115000"/>
              </a:lnSpc>
              <a:spcBef>
                <a:spcPts val="0"/>
              </a:spcBef>
              <a:spcAft>
                <a:spcPts val="0"/>
              </a:spcAft>
              <a:buSzPts val="2300"/>
              <a:buChar char="●"/>
              <a:defRPr sz="23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5" name="Google Shape;25;p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04800" y="4611905"/>
            <a:ext cx="8520600" cy="591000"/>
          </a:xfrm>
          <a:prstGeom prst="rect">
            <a:avLst/>
          </a:prstGeom>
          <a:noFill/>
          <a:ln>
            <a:noFill/>
          </a:ln>
        </p:spPr>
        <p:txBody>
          <a:bodyPr anchorCtr="0" anchor="t" bIns="91425" lIns="91425" spcFirstLastPara="1" rIns="91425" wrap="square" tIns="91425">
            <a:spAutoFit/>
          </a:bodyPr>
          <a:lstStyle/>
          <a:p>
            <a:pPr indent="-279400" lvl="0" marL="457200" rtl="0" algn="l">
              <a:lnSpc>
                <a:spcPct val="115000"/>
              </a:lnSpc>
              <a:spcBef>
                <a:spcPts val="160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Define the key terms of normalisation, including atomicity, unique identification, functional, partial-key and explain how they relate to data integrity. </a:t>
            </a:r>
            <a:endParaRPr sz="800">
              <a:solidFill>
                <a:schemeClr val="lt1"/>
              </a:solidFill>
              <a:highlight>
                <a:schemeClr val="dk2"/>
              </a:highlight>
              <a:latin typeface="Questrial"/>
              <a:ea typeface="Questrial"/>
              <a:cs typeface="Questrial"/>
              <a:sym typeface="Questrial"/>
            </a:endParaRPr>
          </a:p>
          <a:p>
            <a:pPr indent="-279400" lvl="0" marL="457200" rtl="0" algn="l">
              <a:lnSpc>
                <a:spcPct val="115000"/>
              </a:lnSpc>
              <a:spcBef>
                <a:spcPts val="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Apply the rules of 1NF, 2NF, and 3NF to identify and resolve normalisation issues such as data duplication</a:t>
            </a:r>
            <a:endParaRPr sz="800">
              <a:solidFill>
                <a:schemeClr val="lt1"/>
              </a:solidFill>
              <a:highlight>
                <a:schemeClr val="dk2"/>
              </a:highlight>
              <a:latin typeface="Questrial"/>
              <a:ea typeface="Questrial"/>
              <a:cs typeface="Questrial"/>
              <a:sym typeface="Questrial"/>
            </a:endParaRPr>
          </a:p>
          <a:p>
            <a:pPr indent="-279400" lvl="0" marL="457200" rtl="0" algn="l">
              <a:lnSpc>
                <a:spcPct val="115000"/>
              </a:lnSpc>
              <a:spcBef>
                <a:spcPts val="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Evaluate the trade-offs between normalisation and denormalisation</a:t>
            </a:r>
            <a:endParaRPr sz="800">
              <a:solidFill>
                <a:schemeClr val="lt1"/>
              </a:solidFill>
              <a:highlight>
                <a:schemeClr val="dk2"/>
              </a:highlight>
              <a:latin typeface="Questrial"/>
              <a:ea typeface="Questrial"/>
              <a:cs typeface="Questrial"/>
              <a:sym typeface="Quest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5"/>
        </a:solidFill>
      </p:bgPr>
    </p:bg>
    <p:spTree>
      <p:nvGrpSpPr>
        <p:cNvPr id="27" name="Shape 27"/>
        <p:cNvGrpSpPr/>
        <p:nvPr/>
      </p:nvGrpSpPr>
      <p:grpSpPr>
        <a:xfrm>
          <a:off x="0" y="0"/>
          <a:ext cx="0" cy="0"/>
          <a:chOff x="0" y="0"/>
          <a:chExt cx="0" cy="0"/>
        </a:xfrm>
      </p:grpSpPr>
      <p:sp>
        <p:nvSpPr>
          <p:cNvPr id="28" name="Google Shape;28;p5"/>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
          <p:cNvSpPr txBox="1"/>
          <p:nvPr>
            <p:ph type="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Font typeface="Questrial"/>
              <a:buNone/>
              <a:defRPr b="1" sz="4800">
                <a:latin typeface="Questrial"/>
                <a:ea typeface="Questrial"/>
                <a:cs typeface="Questrial"/>
                <a:sym typeface="Questrial"/>
              </a:defRPr>
            </a:lvl1pPr>
            <a:lvl2pPr lvl="1"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30" name="Google Shape;30;p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6"/>
          <p:cNvSpPr txBox="1"/>
          <p:nvPr>
            <p:ph idx="1" type="body"/>
          </p:nvPr>
        </p:nvSpPr>
        <p:spPr>
          <a:xfrm>
            <a:off x="3117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6"/>
          <p:cNvSpPr txBox="1"/>
          <p:nvPr>
            <p:ph idx="2" type="body"/>
          </p:nvPr>
        </p:nvSpPr>
        <p:spPr>
          <a:xfrm>
            <a:off x="48324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8" name="Google Shape;38;p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Questrial"/>
              <a:buChar char="●"/>
              <a:defRPr b="0" i="0" sz="1800" u="none" cap="none" strike="noStrike">
                <a:solidFill>
                  <a:schemeClr val="dk2"/>
                </a:solidFill>
                <a:latin typeface="Questrial"/>
                <a:ea typeface="Questrial"/>
                <a:cs typeface="Questrial"/>
                <a:sym typeface="Questrial"/>
              </a:defRPr>
            </a:lvl1pPr>
            <a:lvl2pPr indent="-317500" lvl="1" marL="914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2pPr>
            <a:lvl3pPr indent="-317500" lvl="2" marL="1371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3pPr>
            <a:lvl4pPr indent="-317500" lvl="3" marL="18288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4pPr>
            <a:lvl5pPr indent="-317500" lvl="4" marL="22860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5pPr>
            <a:lvl6pPr indent="-317500" lvl="5" marL="27432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6pPr>
            <a:lvl7pPr indent="-317500" lvl="6" marL="3200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7pPr>
            <a:lvl8pPr indent="-317500" lvl="7" marL="3657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8pPr>
            <a:lvl9pPr indent="-317500" lvl="8" marL="4114800" marR="0" rtl="0" algn="l">
              <a:lnSpc>
                <a:spcPct val="115000"/>
              </a:lnSpc>
              <a:spcBef>
                <a:spcPts val="1600"/>
              </a:spcBef>
              <a:spcAft>
                <a:spcPts val="160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8"/>
          <p:cNvSpPr txBox="1"/>
          <p:nvPr>
            <p:ph type="ctrTitle"/>
          </p:nvPr>
        </p:nvSpPr>
        <p:spPr>
          <a:xfrm>
            <a:off x="344250" y="1403850"/>
            <a:ext cx="84555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Lesson 5 </a:t>
            </a:r>
            <a:endParaRPr/>
          </a:p>
          <a:p>
            <a:pPr indent="0" lvl="0" marL="0" rtl="0" algn="ctr">
              <a:spcBef>
                <a:spcPts val="0"/>
              </a:spcBef>
              <a:spcAft>
                <a:spcPts val="0"/>
              </a:spcAft>
              <a:buNone/>
            </a:pPr>
            <a:r>
              <a:rPr lang="en"/>
              <a:t>3NF Databases</a:t>
            </a:r>
            <a:endParaRPr/>
          </a:p>
        </p:txBody>
      </p:sp>
      <p:sp>
        <p:nvSpPr>
          <p:cNvPr id="44" name="Google Shape;44;p8"/>
          <p:cNvSpPr txBox="1"/>
          <p:nvPr>
            <p:ph idx="1" type="subTitle"/>
          </p:nvPr>
        </p:nvSpPr>
        <p:spPr>
          <a:xfrm>
            <a:off x="344250" y="3550650"/>
            <a:ext cx="49101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 Myran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L5 - </a:t>
            </a:r>
            <a:r>
              <a:rPr lang="en" sz="2800"/>
              <a:t>Syllabus Links</a:t>
            </a:r>
            <a:endParaRPr sz="2800"/>
          </a:p>
        </p:txBody>
      </p:sp>
      <p:sp>
        <p:nvSpPr>
          <p:cNvPr id="50" name="Google Shape;50;p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highlight>
                  <a:schemeClr val="lt1"/>
                </a:highlight>
              </a:rPr>
              <a:t>A3.2.6 Construct a database normalised to 3NF for a range of real-world scenarios</a:t>
            </a:r>
            <a:endParaRPr b="1" sz="2200">
              <a:highlight>
                <a:schemeClr val="lt1"/>
              </a:highlight>
            </a:endParaRPr>
          </a:p>
          <a:p>
            <a:pPr indent="-228600" lvl="0" marL="457200" rtl="0" algn="l">
              <a:spcBef>
                <a:spcPts val="1200"/>
              </a:spcBef>
              <a:spcAft>
                <a:spcPts val="0"/>
              </a:spcAft>
              <a:buClr>
                <a:schemeClr val="dk2"/>
              </a:buClr>
              <a:buSzPts val="2200"/>
              <a:buFont typeface="Questrial"/>
              <a:buNone/>
            </a:pPr>
            <a:r>
              <a:rPr lang="en" sz="2200">
                <a:highlight>
                  <a:schemeClr val="lt1"/>
                </a:highlight>
              </a:rPr>
              <a:t>Examples may include library management, </a:t>
            </a:r>
            <a:r>
              <a:rPr b="1" lang="en" sz="2200">
                <a:highlight>
                  <a:schemeClr val="lt1"/>
                </a:highlight>
              </a:rPr>
              <a:t>hospital management</a:t>
            </a:r>
            <a:r>
              <a:rPr lang="en" sz="2200">
                <a:highlight>
                  <a:schemeClr val="lt1"/>
                </a:highlight>
              </a:rPr>
              <a:t>, e-commerce platforms, school management, employee management, inventory management, police crime reporting</a:t>
            </a:r>
            <a:endParaRPr b="1" sz="2700">
              <a:highlight>
                <a:schemeClr val="lt1"/>
              </a:highlight>
            </a:endParaRPr>
          </a:p>
          <a:p>
            <a:pPr indent="0" lvl="0" marL="0" rtl="0" algn="l">
              <a:spcBef>
                <a:spcPts val="1500"/>
              </a:spcBef>
              <a:spcAft>
                <a:spcPts val="1500"/>
              </a:spcAft>
              <a:buNone/>
            </a:pPr>
            <a:r>
              <a:t/>
            </a:r>
            <a:endParaRPr b="1" sz="1700">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0"/>
          <p:cNvSpPr txBox="1"/>
          <p:nvPr>
            <p:ph idx="2" type="body"/>
          </p:nvPr>
        </p:nvSpPr>
        <p:spPr>
          <a:xfrm>
            <a:off x="4310700" y="426100"/>
            <a:ext cx="4622100" cy="4203600"/>
          </a:xfrm>
          <a:prstGeom prst="rect">
            <a:avLst/>
          </a:prstGeom>
          <a:noFill/>
          <a:ln>
            <a:noFill/>
          </a:ln>
        </p:spPr>
        <p:txBody>
          <a:bodyPr anchorCtr="0" anchor="ctr" bIns="91425" lIns="91425" spcFirstLastPara="1" rIns="91425" wrap="square" tIns="91425">
            <a:noAutofit/>
          </a:bodyPr>
          <a:lstStyle/>
          <a:p>
            <a:pPr indent="-361950" lvl="0" marL="457200" rtl="0" algn="l">
              <a:spcBef>
                <a:spcPts val="1600"/>
              </a:spcBef>
              <a:spcAft>
                <a:spcPts val="0"/>
              </a:spcAft>
              <a:buClr>
                <a:srgbClr val="FFFFFF"/>
              </a:buClr>
              <a:buSzPts val="2100"/>
              <a:buAutoNum type="arabicPeriod"/>
            </a:pPr>
            <a:r>
              <a:rPr lang="en" sz="2100">
                <a:solidFill>
                  <a:srgbClr val="FFFFFF"/>
                </a:solidFill>
                <a:highlight>
                  <a:srgbClr val="000000"/>
                </a:highlight>
              </a:rPr>
              <a:t>Construct a database normalised to 3NF for a hospital management system</a:t>
            </a:r>
            <a:endParaRPr sz="2100">
              <a:solidFill>
                <a:srgbClr val="FFFFFF"/>
              </a:solidFill>
              <a:highlight>
                <a:srgbClr val="000000"/>
              </a:highlight>
            </a:endParaRPr>
          </a:p>
        </p:txBody>
      </p:sp>
      <p:sp>
        <p:nvSpPr>
          <p:cNvPr id="56" name="Google Shape;56;p10"/>
          <p:cNvSpPr txBox="1"/>
          <p:nvPr>
            <p:ph type="title"/>
          </p:nvPr>
        </p:nvSpPr>
        <p:spPr>
          <a:xfrm>
            <a:off x="265500" y="802803"/>
            <a:ext cx="3748500" cy="244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4200"/>
              <a:buNone/>
            </a:pPr>
            <a:r>
              <a:rPr lang="en" sz="3600"/>
              <a:t>Lesson 5 Creating 3NF Databases</a:t>
            </a:r>
            <a:endParaRPr sz="4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Recap of prior learning</a:t>
            </a:r>
            <a:endParaRPr/>
          </a:p>
        </p:txBody>
      </p:sp>
      <p:pic>
        <p:nvPicPr>
          <p:cNvPr id="62" name="Google Shape;62;p11"/>
          <p:cNvPicPr preferRelativeResize="0"/>
          <p:nvPr/>
        </p:nvPicPr>
        <p:blipFill>
          <a:blip r:embed="rId3">
            <a:alphaModFix/>
          </a:blip>
          <a:stretch>
            <a:fillRect/>
          </a:stretch>
        </p:blipFill>
        <p:spPr>
          <a:xfrm>
            <a:off x="611800" y="940050"/>
            <a:ext cx="7835350" cy="2807050"/>
          </a:xfrm>
          <a:prstGeom prst="rect">
            <a:avLst/>
          </a:prstGeom>
          <a:noFill/>
          <a:ln>
            <a:noFill/>
          </a:ln>
        </p:spPr>
      </p:pic>
      <p:sp>
        <p:nvSpPr>
          <p:cNvPr id="63" name="Google Shape;63;p11"/>
          <p:cNvSpPr txBox="1"/>
          <p:nvPr/>
        </p:nvSpPr>
        <p:spPr>
          <a:xfrm>
            <a:off x="929725" y="3711800"/>
            <a:ext cx="7063200" cy="5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highlight>
                  <a:srgbClr val="00FF00"/>
                </a:highlight>
                <a:latin typeface="Questrial"/>
                <a:ea typeface="Questrial"/>
                <a:cs typeface="Questrial"/>
                <a:sym typeface="Questrial"/>
              </a:rPr>
              <a:t>Extension</a:t>
            </a:r>
            <a:r>
              <a:rPr lang="en" sz="1800">
                <a:solidFill>
                  <a:schemeClr val="dk2"/>
                </a:solidFill>
                <a:latin typeface="Questrial"/>
                <a:ea typeface="Questrial"/>
                <a:cs typeface="Questrial"/>
                <a:sym typeface="Questrial"/>
              </a:rPr>
              <a:t>: Discuss the advantages and disadvantages of denormalising a database</a:t>
            </a:r>
            <a:endParaRPr sz="1800">
              <a:solidFill>
                <a:schemeClr val="dk2"/>
              </a:solidFill>
              <a:latin typeface="Questrial"/>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1 and 2</a:t>
            </a:r>
            <a:endParaRPr/>
          </a:p>
        </p:txBody>
      </p:sp>
      <p:sp>
        <p:nvSpPr>
          <p:cNvPr id="69" name="Google Shape;69;p1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2"/>
              </a:buClr>
              <a:buSzPts val="1100"/>
              <a:buFont typeface="Arial"/>
              <a:buNone/>
            </a:pPr>
            <a:r>
              <a:rPr b="1" lang="en" sz="1900">
                <a:solidFill>
                  <a:srgbClr val="27251E"/>
                </a:solidFill>
              </a:rPr>
              <a:t>1. Define the term “schema”</a:t>
            </a:r>
            <a:endParaRPr b="1" sz="1900">
              <a:solidFill>
                <a:srgbClr val="27251E"/>
              </a:solidFill>
            </a:endParaRPr>
          </a:p>
          <a:p>
            <a:pPr indent="0" lvl="0" marL="0" rtl="0" algn="l">
              <a:spcBef>
                <a:spcPts val="600"/>
              </a:spcBef>
              <a:spcAft>
                <a:spcPts val="0"/>
              </a:spcAft>
              <a:buClr>
                <a:schemeClr val="dk2"/>
              </a:buClr>
              <a:buSzPts val="1100"/>
              <a:buFont typeface="Arial"/>
              <a:buNone/>
            </a:pPr>
            <a:r>
              <a:rPr lang="en" sz="1400">
                <a:solidFill>
                  <a:srgbClr val="27251E"/>
                </a:solidFill>
              </a:rPr>
              <a:t>A schema is the overall </a:t>
            </a:r>
            <a:r>
              <a:rPr b="1" lang="en" sz="1400">
                <a:solidFill>
                  <a:srgbClr val="27251E"/>
                </a:solidFill>
              </a:rPr>
              <a:t>blueprint</a:t>
            </a:r>
            <a:r>
              <a:rPr lang="en" sz="1400">
                <a:solidFill>
                  <a:srgbClr val="27251E"/>
                </a:solidFill>
              </a:rPr>
              <a:t> of a database that describes how data is organised, including tables, fields, data types, relationships, and constraints, but not the actual data itself.</a:t>
            </a:r>
            <a:endParaRPr sz="1400">
              <a:solidFill>
                <a:srgbClr val="27251E"/>
              </a:solidFill>
            </a:endParaRPr>
          </a:p>
          <a:p>
            <a:pPr indent="0" lvl="0" marL="0" rtl="0" algn="l">
              <a:spcBef>
                <a:spcPts val="600"/>
              </a:spcBef>
              <a:spcAft>
                <a:spcPts val="0"/>
              </a:spcAft>
              <a:buClr>
                <a:schemeClr val="dk2"/>
              </a:buClr>
              <a:buSzPts val="1100"/>
              <a:buFont typeface="Arial"/>
              <a:buNone/>
            </a:pPr>
            <a:r>
              <a:t/>
            </a:r>
            <a:endParaRPr sz="1400">
              <a:solidFill>
                <a:srgbClr val="27251E"/>
              </a:solidFill>
            </a:endParaRPr>
          </a:p>
          <a:p>
            <a:pPr indent="0" lvl="0" marL="0" rtl="0" algn="l">
              <a:lnSpc>
                <a:spcPct val="125000"/>
              </a:lnSpc>
              <a:spcBef>
                <a:spcPts val="1800"/>
              </a:spcBef>
              <a:spcAft>
                <a:spcPts val="0"/>
              </a:spcAft>
              <a:buClr>
                <a:schemeClr val="dk2"/>
              </a:buClr>
              <a:buSzPts val="1100"/>
              <a:buFont typeface="Arial"/>
              <a:buNone/>
            </a:pPr>
            <a:r>
              <a:rPr b="1" lang="en" sz="1900">
                <a:solidFill>
                  <a:srgbClr val="27251E"/>
                </a:solidFill>
              </a:rPr>
              <a:t>2. Characteristics of a normalised database</a:t>
            </a:r>
            <a:endParaRPr b="1" sz="1900">
              <a:solidFill>
                <a:srgbClr val="27251E"/>
              </a:solidFill>
            </a:endParaRPr>
          </a:p>
          <a:p>
            <a:pPr indent="0" lvl="0" marL="0" rtl="0" algn="l">
              <a:spcBef>
                <a:spcPts val="600"/>
              </a:spcBef>
              <a:spcAft>
                <a:spcPts val="0"/>
              </a:spcAft>
              <a:buClr>
                <a:schemeClr val="dk2"/>
              </a:buClr>
              <a:buSzPts val="1100"/>
              <a:buFont typeface="Arial"/>
              <a:buNone/>
            </a:pPr>
            <a:r>
              <a:rPr lang="en" sz="1400">
                <a:solidFill>
                  <a:srgbClr val="27251E"/>
                </a:solidFill>
              </a:rPr>
              <a:t>A normalised database:</a:t>
            </a:r>
            <a:endParaRPr sz="1400">
              <a:solidFill>
                <a:srgbClr val="27251E"/>
              </a:solidFill>
            </a:endParaRPr>
          </a:p>
          <a:p>
            <a:pPr indent="-317500" lvl="0" marL="457200" rtl="0" algn="l">
              <a:spcBef>
                <a:spcPts val="600"/>
              </a:spcBef>
              <a:spcAft>
                <a:spcPts val="0"/>
              </a:spcAft>
              <a:buClr>
                <a:srgbClr val="27251E"/>
              </a:buClr>
              <a:buSzPts val="1400"/>
              <a:buFont typeface="Questrial"/>
              <a:buChar char="●"/>
            </a:pPr>
            <a:r>
              <a:rPr lang="en" sz="1400">
                <a:solidFill>
                  <a:srgbClr val="27251E"/>
                </a:solidFill>
              </a:rPr>
              <a:t>Minimises redundant (repeated) data by splitting data into related tables and using keys to link them.</a:t>
            </a:r>
            <a:endParaRPr sz="1400">
              <a:solidFill>
                <a:srgbClr val="27251E"/>
              </a:solidFill>
            </a:endParaRPr>
          </a:p>
          <a:p>
            <a:pPr indent="-317500" lvl="0" marL="457200" rtl="0" algn="l">
              <a:spcBef>
                <a:spcPts val="0"/>
              </a:spcBef>
              <a:spcAft>
                <a:spcPts val="0"/>
              </a:spcAft>
              <a:buClr>
                <a:srgbClr val="27251E"/>
              </a:buClr>
              <a:buSzPts val="1400"/>
              <a:buFont typeface="Questrial"/>
              <a:buChar char="●"/>
            </a:pPr>
            <a:r>
              <a:rPr lang="en" sz="1400">
                <a:solidFill>
                  <a:srgbClr val="27251E"/>
                </a:solidFill>
              </a:rPr>
              <a:t>Reduces update, insert, and delete anomalies, improving data integrity and consistency.</a:t>
            </a:r>
            <a:endParaRPr sz="1400">
              <a:solidFill>
                <a:srgbClr val="27251E"/>
              </a:solidFill>
            </a:endParaRPr>
          </a:p>
          <a:p>
            <a:pPr indent="-317500" lvl="0" marL="457200" rtl="0" algn="l">
              <a:spcBef>
                <a:spcPts val="0"/>
              </a:spcBef>
              <a:spcAft>
                <a:spcPts val="0"/>
              </a:spcAft>
              <a:buClr>
                <a:srgbClr val="27251E"/>
              </a:buClr>
              <a:buSzPts val="1400"/>
              <a:buFont typeface="Questrial"/>
              <a:buChar char="●"/>
            </a:pPr>
            <a:r>
              <a:rPr lang="en" sz="1400">
                <a:solidFill>
                  <a:srgbClr val="27251E"/>
                </a:solidFill>
              </a:rPr>
              <a:t>Ensures each table stores data about a single theme or entity, with attributes depending on the key, the whole key, and nothing but the key (up to 3NF).</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Two issues caused by data redundancy</a:t>
            </a:r>
            <a:endParaRPr/>
          </a:p>
          <a:p>
            <a:pPr indent="0" lvl="0" marL="0" rtl="0" algn="l">
              <a:spcBef>
                <a:spcPts val="0"/>
              </a:spcBef>
              <a:spcAft>
                <a:spcPts val="0"/>
              </a:spcAft>
              <a:buNone/>
            </a:pPr>
            <a:r>
              <a:t/>
            </a:r>
            <a:endParaRPr/>
          </a:p>
        </p:txBody>
      </p:sp>
      <p:sp>
        <p:nvSpPr>
          <p:cNvPr id="75" name="Google Shape;75;p1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600">
                <a:solidFill>
                  <a:srgbClr val="27251E"/>
                </a:solidFill>
              </a:rPr>
              <a:t>Any two of the following, each with brief explanation:</a:t>
            </a:r>
            <a:endParaRPr sz="1600">
              <a:solidFill>
                <a:srgbClr val="27251E"/>
              </a:solidFill>
            </a:endParaRPr>
          </a:p>
          <a:p>
            <a:pPr indent="-330200" lvl="0" marL="457200" rtl="0" algn="l">
              <a:spcBef>
                <a:spcPts val="600"/>
              </a:spcBef>
              <a:spcAft>
                <a:spcPts val="0"/>
              </a:spcAft>
              <a:buClr>
                <a:srgbClr val="27251E"/>
              </a:buClr>
              <a:buSzPts val="1600"/>
              <a:buFont typeface="Questrial"/>
              <a:buChar char="●"/>
            </a:pPr>
            <a:r>
              <a:rPr lang="en" sz="1600">
                <a:solidFill>
                  <a:srgbClr val="27251E"/>
                </a:solidFill>
              </a:rPr>
              <a:t>Data inconsistency: Different copies of the same data may not match if all occurrences are not updated correctly, reducing integrity and reliability.</a:t>
            </a:r>
            <a:endParaRPr sz="1600">
              <a:solidFill>
                <a:srgbClr val="27251E"/>
              </a:solidFill>
            </a:endParaRPr>
          </a:p>
          <a:p>
            <a:pPr indent="-330200" lvl="0" marL="457200" rtl="0" algn="l">
              <a:spcBef>
                <a:spcPts val="0"/>
              </a:spcBef>
              <a:spcAft>
                <a:spcPts val="0"/>
              </a:spcAft>
              <a:buClr>
                <a:srgbClr val="27251E"/>
              </a:buClr>
              <a:buSzPts val="1600"/>
              <a:buFont typeface="Questrial"/>
              <a:buChar char="●"/>
            </a:pPr>
            <a:r>
              <a:rPr lang="en" sz="1600">
                <a:solidFill>
                  <a:srgbClr val="27251E"/>
                </a:solidFill>
              </a:rPr>
              <a:t>Increased storage requirements: Storing the same data in multiple places wastes disk space.</a:t>
            </a:r>
            <a:endParaRPr sz="1600">
              <a:solidFill>
                <a:srgbClr val="27251E"/>
              </a:solidFill>
            </a:endParaRPr>
          </a:p>
          <a:p>
            <a:pPr indent="-330200" lvl="0" marL="457200" rtl="0" algn="l">
              <a:spcBef>
                <a:spcPts val="0"/>
              </a:spcBef>
              <a:spcAft>
                <a:spcPts val="0"/>
              </a:spcAft>
              <a:buClr>
                <a:srgbClr val="27251E"/>
              </a:buClr>
              <a:buSzPts val="1600"/>
              <a:buFont typeface="Questrial"/>
              <a:buChar char="●"/>
            </a:pPr>
            <a:r>
              <a:rPr lang="en" sz="1600">
                <a:solidFill>
                  <a:srgbClr val="27251E"/>
                </a:solidFill>
              </a:rPr>
              <a:t>Update anomalies / higher maintenance: Changes must be made in several places, increasing the chance of errors and making maintenance more complex.</a:t>
            </a:r>
            <a:endParaRPr sz="1600">
              <a:solidFill>
                <a:srgbClr val="27251E"/>
              </a:solidFill>
            </a:endParaRPr>
          </a:p>
          <a:p>
            <a:pPr indent="0" lvl="0" marL="0" rtl="0" algn="l">
              <a:spcBef>
                <a:spcPts val="0"/>
              </a:spcBef>
              <a:spcAft>
                <a:spcPts val="0"/>
              </a:spcAft>
              <a:buNone/>
            </a:pPr>
            <a:r>
              <a:t/>
            </a:r>
            <a:endParaRPr sz="2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Characteristics of 1NF, 2NF, 3NF</a:t>
            </a:r>
            <a:endParaRPr/>
          </a:p>
          <a:p>
            <a:pPr indent="0" lvl="0" marL="0" rtl="0" algn="l">
              <a:spcBef>
                <a:spcPts val="0"/>
              </a:spcBef>
              <a:spcAft>
                <a:spcPts val="0"/>
              </a:spcAft>
              <a:buNone/>
            </a:pPr>
            <a:r>
              <a:t/>
            </a:r>
            <a:endParaRPr/>
          </a:p>
        </p:txBody>
      </p:sp>
      <p:sp>
        <p:nvSpPr>
          <p:cNvPr id="81" name="Google Shape;81;p1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None/>
            </a:pPr>
            <a:r>
              <a:rPr b="1" lang="en" sz="1700">
                <a:solidFill>
                  <a:srgbClr val="27251E"/>
                </a:solidFill>
                <a:highlight>
                  <a:schemeClr val="lt1"/>
                </a:highlight>
              </a:rPr>
              <a:t>1NF (First Normal Form)</a:t>
            </a:r>
            <a:endParaRPr b="1" sz="1700">
              <a:solidFill>
                <a:srgbClr val="27251E"/>
              </a:solidFill>
              <a:highlight>
                <a:schemeClr val="lt1"/>
              </a:highlight>
            </a:endParaRPr>
          </a:p>
          <a:p>
            <a:pPr indent="-304800" lvl="0" marL="457200" rtl="0" algn="l">
              <a:spcBef>
                <a:spcPts val="400"/>
              </a:spcBef>
              <a:spcAft>
                <a:spcPts val="0"/>
              </a:spcAft>
              <a:buClr>
                <a:srgbClr val="27251E"/>
              </a:buClr>
              <a:buSzPts val="1200"/>
              <a:buFont typeface="Questrial"/>
              <a:buChar char="●"/>
            </a:pPr>
            <a:r>
              <a:rPr lang="en" sz="1200">
                <a:solidFill>
                  <a:srgbClr val="27251E"/>
                </a:solidFill>
                <a:highlight>
                  <a:schemeClr val="lt1"/>
                </a:highlight>
              </a:rPr>
              <a:t>All attributes are atomic: each field contains a single, indivisible value (no repeating groups or lists in one cell).</a:t>
            </a:r>
            <a:endParaRPr sz="1200">
              <a:solidFill>
                <a:srgbClr val="27251E"/>
              </a:solidFill>
              <a:highlight>
                <a:schemeClr val="lt1"/>
              </a:highlight>
            </a:endParaRPr>
          </a:p>
          <a:p>
            <a:pPr indent="-304800" lvl="0" marL="457200" rtl="0" algn="l">
              <a:spcBef>
                <a:spcPts val="0"/>
              </a:spcBef>
              <a:spcAft>
                <a:spcPts val="0"/>
              </a:spcAft>
              <a:buClr>
                <a:srgbClr val="27251E"/>
              </a:buClr>
              <a:buSzPts val="1200"/>
              <a:buFont typeface="Questrial"/>
              <a:buChar char="●"/>
            </a:pPr>
            <a:r>
              <a:rPr lang="en" sz="1200">
                <a:solidFill>
                  <a:srgbClr val="27251E"/>
                </a:solidFill>
                <a:highlight>
                  <a:schemeClr val="lt1"/>
                </a:highlight>
              </a:rPr>
              <a:t>Each record (row) is uniquely identifiable, usually by a primary key.</a:t>
            </a:r>
            <a:endParaRPr sz="1200">
              <a:solidFill>
                <a:srgbClr val="27251E"/>
              </a:solidFill>
              <a:highlight>
                <a:schemeClr val="lt1"/>
              </a:highlight>
            </a:endParaRPr>
          </a:p>
          <a:p>
            <a:pPr indent="-304800" lvl="0" marL="457200" rtl="0" algn="l">
              <a:spcBef>
                <a:spcPts val="0"/>
              </a:spcBef>
              <a:spcAft>
                <a:spcPts val="0"/>
              </a:spcAft>
              <a:buClr>
                <a:srgbClr val="27251E"/>
              </a:buClr>
              <a:buSzPts val="1200"/>
              <a:buFont typeface="Questrial"/>
              <a:buChar char="●"/>
            </a:pPr>
            <a:r>
              <a:rPr lang="en" sz="1200">
                <a:solidFill>
                  <a:srgbClr val="27251E"/>
                </a:solidFill>
                <a:highlight>
                  <a:schemeClr val="lt1"/>
                </a:highlight>
              </a:rPr>
              <a:t>No repeating groups or repeated columns for the same kind of data.</a:t>
            </a:r>
            <a:endParaRPr sz="1200">
              <a:solidFill>
                <a:srgbClr val="27251E"/>
              </a:solidFill>
              <a:highlight>
                <a:schemeClr val="lt1"/>
              </a:highlight>
            </a:endParaRPr>
          </a:p>
          <a:p>
            <a:pPr indent="0" lvl="0" marL="0" rtl="0" algn="l">
              <a:lnSpc>
                <a:spcPct val="125000"/>
              </a:lnSpc>
              <a:spcBef>
                <a:spcPts val="1800"/>
              </a:spcBef>
              <a:spcAft>
                <a:spcPts val="0"/>
              </a:spcAft>
              <a:buNone/>
            </a:pPr>
            <a:r>
              <a:rPr b="1" lang="en" sz="1700">
                <a:solidFill>
                  <a:srgbClr val="27251E"/>
                </a:solidFill>
                <a:highlight>
                  <a:schemeClr val="lt1"/>
                </a:highlight>
              </a:rPr>
              <a:t>2NF (Second Normal Form)</a:t>
            </a:r>
            <a:endParaRPr b="1" sz="1700">
              <a:solidFill>
                <a:srgbClr val="27251E"/>
              </a:solidFill>
              <a:highlight>
                <a:schemeClr val="lt1"/>
              </a:highlight>
            </a:endParaRPr>
          </a:p>
          <a:p>
            <a:pPr indent="-304800" lvl="0" marL="457200" rtl="0" algn="l">
              <a:spcBef>
                <a:spcPts val="400"/>
              </a:spcBef>
              <a:spcAft>
                <a:spcPts val="0"/>
              </a:spcAft>
              <a:buClr>
                <a:srgbClr val="27251E"/>
              </a:buClr>
              <a:buSzPts val="1200"/>
              <a:buFont typeface="Questrial"/>
              <a:buChar char="●"/>
            </a:pPr>
            <a:r>
              <a:rPr lang="en" sz="1200">
                <a:solidFill>
                  <a:srgbClr val="27251E"/>
                </a:solidFill>
                <a:highlight>
                  <a:schemeClr val="lt1"/>
                </a:highlight>
              </a:rPr>
              <a:t>The table is already in 1NF.</a:t>
            </a:r>
            <a:endParaRPr sz="1200">
              <a:solidFill>
                <a:srgbClr val="27251E"/>
              </a:solidFill>
              <a:highlight>
                <a:schemeClr val="lt1"/>
              </a:highlight>
            </a:endParaRPr>
          </a:p>
          <a:p>
            <a:pPr indent="-304800" lvl="0" marL="457200" rtl="0" algn="l">
              <a:spcBef>
                <a:spcPts val="0"/>
              </a:spcBef>
              <a:spcAft>
                <a:spcPts val="0"/>
              </a:spcAft>
              <a:buClr>
                <a:srgbClr val="27251E"/>
              </a:buClr>
              <a:buSzPts val="1200"/>
              <a:buFont typeface="Questrial"/>
              <a:buChar char="●"/>
            </a:pPr>
            <a:r>
              <a:rPr lang="en" sz="1200">
                <a:solidFill>
                  <a:srgbClr val="27251E"/>
                </a:solidFill>
                <a:highlight>
                  <a:schemeClr val="lt1"/>
                </a:highlight>
              </a:rPr>
              <a:t>Every non-key attribute is fully functionally dependent on the whole primary key (no partial dependency on part of a composite key).</a:t>
            </a:r>
            <a:endParaRPr sz="1200">
              <a:solidFill>
                <a:srgbClr val="27251E"/>
              </a:solidFill>
              <a:highlight>
                <a:schemeClr val="lt1"/>
              </a:highlight>
            </a:endParaRPr>
          </a:p>
          <a:p>
            <a:pPr indent="0" lvl="0" marL="0" rtl="0" algn="l">
              <a:lnSpc>
                <a:spcPct val="125000"/>
              </a:lnSpc>
              <a:spcBef>
                <a:spcPts val="1800"/>
              </a:spcBef>
              <a:spcAft>
                <a:spcPts val="0"/>
              </a:spcAft>
              <a:buNone/>
            </a:pPr>
            <a:r>
              <a:rPr b="1" lang="en" sz="1700">
                <a:solidFill>
                  <a:srgbClr val="27251E"/>
                </a:solidFill>
                <a:highlight>
                  <a:schemeClr val="lt1"/>
                </a:highlight>
              </a:rPr>
              <a:t>3NF (Third Normal Form)</a:t>
            </a:r>
            <a:endParaRPr b="1" sz="1700">
              <a:solidFill>
                <a:srgbClr val="27251E"/>
              </a:solidFill>
              <a:highlight>
                <a:schemeClr val="lt1"/>
              </a:highlight>
            </a:endParaRPr>
          </a:p>
          <a:p>
            <a:pPr indent="-304800" lvl="0" marL="457200" rtl="0" algn="l">
              <a:spcBef>
                <a:spcPts val="400"/>
              </a:spcBef>
              <a:spcAft>
                <a:spcPts val="0"/>
              </a:spcAft>
              <a:buClr>
                <a:srgbClr val="27251E"/>
              </a:buClr>
              <a:buSzPts val="1200"/>
              <a:buFont typeface="Questrial"/>
              <a:buChar char="●"/>
            </a:pPr>
            <a:r>
              <a:rPr lang="en" sz="1200">
                <a:solidFill>
                  <a:srgbClr val="27251E"/>
                </a:solidFill>
                <a:highlight>
                  <a:schemeClr val="lt1"/>
                </a:highlight>
              </a:rPr>
              <a:t>The table is already in 2NF.</a:t>
            </a:r>
            <a:endParaRPr sz="1200">
              <a:solidFill>
                <a:srgbClr val="27251E"/>
              </a:solidFill>
              <a:highlight>
                <a:schemeClr val="lt1"/>
              </a:highlight>
            </a:endParaRPr>
          </a:p>
          <a:p>
            <a:pPr indent="-304800" lvl="0" marL="457200" rtl="0" algn="l">
              <a:spcBef>
                <a:spcPts val="0"/>
              </a:spcBef>
              <a:spcAft>
                <a:spcPts val="0"/>
              </a:spcAft>
              <a:buClr>
                <a:srgbClr val="27251E"/>
              </a:buClr>
              <a:buSzPts val="1200"/>
              <a:buFont typeface="Questrial"/>
              <a:buChar char="●"/>
            </a:pPr>
            <a:r>
              <a:rPr lang="en" sz="1200">
                <a:solidFill>
                  <a:srgbClr val="27251E"/>
                </a:solidFill>
                <a:highlight>
                  <a:schemeClr val="lt1"/>
                </a:highlight>
              </a:rPr>
              <a:t>There are no transitive dependencies: non-key attributes depend only on the primary key, not on other non-key attributes.</a:t>
            </a:r>
            <a:endParaRPr>
              <a:highlight>
                <a:schemeClr val="lt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 Conceptual vs logical schema</a:t>
            </a:r>
            <a:endParaRPr/>
          </a:p>
        </p:txBody>
      </p:sp>
      <p:sp>
        <p:nvSpPr>
          <p:cNvPr id="87" name="Google Shape;87;p15"/>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27251E"/>
              </a:buClr>
              <a:buSzPts val="1600"/>
              <a:buFont typeface="Questrial"/>
              <a:buChar char="●"/>
            </a:pPr>
            <a:r>
              <a:rPr lang="en" sz="1600">
                <a:solidFill>
                  <a:srgbClr val="27251E"/>
                </a:solidFill>
              </a:rPr>
              <a:t>Conceptual schema: High-level view of the entire database showing entities, attributes, and relationships for the whole organisation; independent of any specific DBMS or physical storage details.​</a:t>
            </a:r>
            <a:endParaRPr sz="1600">
              <a:solidFill>
                <a:srgbClr val="27251E"/>
              </a:solidFill>
            </a:endParaRPr>
          </a:p>
          <a:p>
            <a:pPr indent="-330200" lvl="0" marL="457200" rtl="0" algn="l">
              <a:spcBef>
                <a:spcPts val="0"/>
              </a:spcBef>
              <a:spcAft>
                <a:spcPts val="0"/>
              </a:spcAft>
              <a:buClr>
                <a:srgbClr val="27251E"/>
              </a:buClr>
              <a:buSzPts val="1600"/>
              <a:buFont typeface="Questrial"/>
              <a:buChar char="●"/>
            </a:pPr>
            <a:r>
              <a:rPr lang="en" sz="1600">
                <a:solidFill>
                  <a:srgbClr val="27251E"/>
                </a:solidFill>
              </a:rPr>
              <a:t>Logical schema: More detailed, DBMS-oriented representation describing tables, fields, data types, primary and foreign keys, and constraints, typically designed following normalisation rules (often up to 3NF).​</a:t>
            </a:r>
            <a:endParaRPr sz="1600">
              <a:solidFill>
                <a:srgbClr val="27251E"/>
              </a:solidFill>
            </a:endParaRPr>
          </a:p>
          <a:p>
            <a:pPr indent="0" lvl="0" marL="0" rtl="0" algn="l">
              <a:spcBef>
                <a:spcPts val="0"/>
              </a:spcBef>
              <a:spcAft>
                <a:spcPts val="0"/>
              </a:spcAft>
              <a:buNone/>
            </a:pPr>
            <a:r>
              <a:t/>
            </a:r>
            <a:endParaRPr sz="2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EXTENSION: Q6 Denomalisation</a:t>
            </a:r>
            <a:endParaRPr/>
          </a:p>
        </p:txBody>
      </p:sp>
      <p:pic>
        <p:nvPicPr>
          <p:cNvPr id="93" name="Google Shape;93;p16"/>
          <p:cNvPicPr preferRelativeResize="0"/>
          <p:nvPr/>
        </p:nvPicPr>
        <p:blipFill>
          <a:blip r:embed="rId3">
            <a:alphaModFix/>
          </a:blip>
          <a:stretch>
            <a:fillRect/>
          </a:stretch>
        </p:blipFill>
        <p:spPr>
          <a:xfrm>
            <a:off x="497450" y="825700"/>
            <a:ext cx="8453899" cy="3796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idx="1" type="body"/>
          </p:nvPr>
        </p:nvSpPr>
        <p:spPr>
          <a:xfrm>
            <a:off x="183775" y="119450"/>
            <a:ext cx="8686200" cy="4410000"/>
          </a:xfrm>
          <a:prstGeom prst="rect">
            <a:avLst/>
          </a:prstGeom>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Clr>
                <a:schemeClr val="dk2"/>
              </a:buClr>
              <a:buSzPts val="1100"/>
              <a:buFont typeface="Arial"/>
              <a:buNone/>
            </a:pPr>
            <a:r>
              <a:rPr lang="en" sz="1300">
                <a:solidFill>
                  <a:srgbClr val="FF0000"/>
                </a:solidFill>
                <a:highlight>
                  <a:srgbClr val="FFFFFF"/>
                </a:highlight>
              </a:rPr>
              <a:t>One significant advantage of denormalising a school database system is improved query performance for frequently accessed data. In a normalised database, retrieving a student's grades alongside their name and class details requires joining the Student table with the Grade table, which can be computationally expensive. However, in a denormalised structure where student information (StudentID, Name, Class) is stored directly within the Grade table, all required data can be retrieved from a single table without joins. This reduces query execution time for read-heavy operations such as generating report cards or class performance summaries. For school systems processing thousands of grade records daily, this performance improvement results in noticeably faster response times for teachers, administrators, and parent portals.</a:t>
            </a:r>
            <a:endParaRPr b="1" sz="1800">
              <a:solidFill>
                <a:srgbClr val="FF0000"/>
              </a:solidFill>
              <a:highlight>
                <a:srgbClr val="FFFFFF"/>
              </a:highlight>
            </a:endParaRPr>
          </a:p>
          <a:p>
            <a:pPr indent="0" lvl="0" marL="0" rtl="0" algn="l">
              <a:spcBef>
                <a:spcPts val="600"/>
              </a:spcBef>
              <a:spcAft>
                <a:spcPts val="0"/>
              </a:spcAft>
              <a:buClr>
                <a:schemeClr val="dk2"/>
              </a:buClr>
              <a:buSzPts val="1100"/>
              <a:buFont typeface="Arial"/>
              <a:buNone/>
            </a:pPr>
            <a:r>
              <a:rPr lang="en" sz="1300">
                <a:solidFill>
                  <a:srgbClr val="FF0000"/>
                </a:solidFill>
                <a:highlight>
                  <a:srgbClr val="FFFFFF"/>
                </a:highlight>
              </a:rPr>
              <a:t>A major disadvantage of denormalisation is the introduction of data redundancy, which creates significant risks of data inconsistency. In a denormalised school database, if student details are duplicated across every grade record, a single student with 20 grade entries would have their personal information stored 20 times. When a student's information changes such as a name correction or class transfer must be applied to every row containing that student's data. If even one update is missed, the database will contain inconsistent information, violating data integrity principles. For academic records used in transcripts and university applications, such inconsistencies pose serious risks to data reliability. Additionally, redundant storage wastes space, which becomes increasingly costly as the school archives historical grade data. Denormalisation increases the complexity of database maintenance operations. Managing updates, insertions, and deletions becomes more difficult because changes must be synchronised across all locations where redundant data exists. This often requires additional application logic or database triggers to ensure consistency. For school IT staff with limited technical resources, this added complexity increases the likelihood of errors and requires more sophisticated programming skills.</a:t>
            </a:r>
            <a:r>
              <a:rPr lang="en" sz="1300">
                <a:solidFill>
                  <a:srgbClr val="FF0000"/>
                </a:solidFill>
                <a:highlight>
                  <a:srgbClr val="FFFFFF"/>
                </a:highlight>
              </a:rPr>
              <a:t> </a:t>
            </a:r>
            <a:endParaRPr sz="1300">
              <a:solidFill>
                <a:srgbClr val="FF0000"/>
              </a:solidFill>
              <a:highlight>
                <a:srgbClr val="FFFFFF"/>
              </a:highlight>
            </a:endParaRPr>
          </a:p>
          <a:p>
            <a:pPr indent="0" lvl="0" marL="0" rtl="0" algn="l">
              <a:spcBef>
                <a:spcPts val="600"/>
              </a:spcBef>
              <a:spcAft>
                <a:spcPts val="0"/>
              </a:spcAft>
              <a:buNone/>
            </a:pPr>
            <a:r>
              <a:t/>
            </a:r>
            <a:endParaRPr sz="2400">
              <a:solidFill>
                <a:srgbClr val="FF0000"/>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Task</a:t>
            </a:r>
            <a:endParaRPr/>
          </a:p>
        </p:txBody>
      </p:sp>
      <p:sp>
        <p:nvSpPr>
          <p:cNvPr id="104" name="Google Shape;104;p1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AutoNum type="arabicPeriod"/>
            </a:pPr>
            <a:r>
              <a:rPr lang="en" sz="2500"/>
              <a:t>Work through the Hospital management Scenario in yor workbook</a:t>
            </a:r>
            <a:endParaRPr sz="2500"/>
          </a:p>
          <a:p>
            <a:pPr indent="-387350" lvl="0" marL="457200" rtl="0" algn="l">
              <a:spcBef>
                <a:spcPts val="0"/>
              </a:spcBef>
              <a:spcAft>
                <a:spcPts val="0"/>
              </a:spcAft>
              <a:buSzPts val="2500"/>
              <a:buAutoNum type="arabicPeriod"/>
            </a:pPr>
            <a:r>
              <a:rPr lang="en" sz="2500"/>
              <a:t>As an extension, complete the Logical Schema and SQL for the scenario</a:t>
            </a:r>
            <a:endParaRPr sz="2500"/>
          </a:p>
          <a:p>
            <a:pPr indent="0" lvl="0" marL="0" rtl="0" algn="l">
              <a:spcBef>
                <a:spcPts val="0"/>
              </a:spcBef>
              <a:spcAft>
                <a:spcPts val="0"/>
              </a:spcAft>
              <a:buClr>
                <a:schemeClr val="dk2"/>
              </a:buClr>
              <a:buSzPts val="1100"/>
              <a:buFont typeface="Arial"/>
              <a:buNone/>
            </a:pPr>
            <a:r>
              <a:t/>
            </a:r>
            <a:endParaRPr sz="2500"/>
          </a:p>
          <a:p>
            <a:pPr indent="0" lvl="0" marL="0" rtl="0" algn="l">
              <a:spcBef>
                <a:spcPts val="0"/>
              </a:spcBef>
              <a:spcAft>
                <a:spcPts val="0"/>
              </a:spcAft>
              <a:buClr>
                <a:schemeClr val="dk2"/>
              </a:buClr>
              <a:buSzPts val="1100"/>
              <a:buFont typeface="Arial"/>
              <a:buNone/>
            </a:pPr>
            <a:r>
              <a:rPr b="1" lang="en" sz="2500">
                <a:highlight>
                  <a:srgbClr val="00FF00"/>
                </a:highlight>
              </a:rPr>
              <a:t>Challenge</a:t>
            </a:r>
            <a:r>
              <a:rPr lang="en" sz="2500"/>
              <a:t>: complete one more scenario from scratch</a:t>
            </a:r>
            <a:endParaRPr sz="2500"/>
          </a:p>
        </p:txBody>
      </p:sp>
      <p:pic>
        <p:nvPicPr>
          <p:cNvPr id="105" name="Google Shape;105;p18"/>
          <p:cNvPicPr preferRelativeResize="0"/>
          <p:nvPr/>
        </p:nvPicPr>
        <p:blipFill>
          <a:blip r:embed="rId3">
            <a:alphaModFix/>
          </a:blip>
          <a:stretch>
            <a:fillRect/>
          </a:stretch>
        </p:blipFill>
        <p:spPr>
          <a:xfrm>
            <a:off x="6749325" y="2986325"/>
            <a:ext cx="2285850" cy="2285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a:t>
            </a:r>
            <a:endParaRPr/>
          </a:p>
        </p:txBody>
      </p:sp>
      <p:sp>
        <p:nvSpPr>
          <p:cNvPr id="111" name="Google Shape;111;p19"/>
          <p:cNvSpPr txBox="1"/>
          <p:nvPr>
            <p:ph idx="1" type="body"/>
          </p:nvPr>
        </p:nvSpPr>
        <p:spPr>
          <a:xfrm>
            <a:off x="145276" y="660777"/>
            <a:ext cx="8848200" cy="33348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2"/>
              </a:buClr>
              <a:buSzPts val="1100"/>
              <a:buFont typeface="Arial"/>
              <a:buNone/>
            </a:pPr>
            <a:r>
              <a:rPr b="1" lang="en" sz="1600">
                <a:solidFill>
                  <a:srgbClr val="27251E"/>
                </a:solidFill>
                <a:highlight>
                  <a:srgbClr val="00FFFF"/>
                </a:highlight>
              </a:rPr>
              <a:t>First normal form (1NF)</a:t>
            </a:r>
            <a:endParaRPr b="1" sz="1600">
              <a:solidFill>
                <a:srgbClr val="27251E"/>
              </a:solidFill>
              <a:highlight>
                <a:srgbClr val="00FFFF"/>
              </a:highlight>
            </a:endParaRPr>
          </a:p>
          <a:p>
            <a:pPr indent="-298450" lvl="0" marL="457200" rtl="0" algn="l">
              <a:spcBef>
                <a:spcPts val="400"/>
              </a:spcBef>
              <a:spcAft>
                <a:spcPts val="0"/>
              </a:spcAft>
              <a:buClr>
                <a:srgbClr val="27251E"/>
              </a:buClr>
              <a:buSzPts val="1100"/>
              <a:buFont typeface="Questrial"/>
              <a:buChar char="●"/>
            </a:pPr>
            <a:r>
              <a:rPr lang="en" sz="1100">
                <a:solidFill>
                  <a:srgbClr val="27251E"/>
                </a:solidFill>
              </a:rPr>
              <a:t>Table has a primary key and no duplicate rows.</a:t>
            </a:r>
            <a:endParaRPr sz="1100">
              <a:solidFill>
                <a:srgbClr val="27251E"/>
              </a:solidFill>
            </a:endParaRPr>
          </a:p>
          <a:p>
            <a:pPr indent="-298450" lvl="0" marL="457200" rtl="0" algn="l">
              <a:spcBef>
                <a:spcPts val="0"/>
              </a:spcBef>
              <a:spcAft>
                <a:spcPts val="0"/>
              </a:spcAft>
              <a:buClr>
                <a:srgbClr val="27251E"/>
              </a:buClr>
              <a:buSzPts val="1100"/>
              <a:buFont typeface="Questrial"/>
              <a:buChar char="●"/>
            </a:pPr>
            <a:r>
              <a:rPr lang="en" sz="1100">
                <a:solidFill>
                  <a:srgbClr val="27251E"/>
                </a:solidFill>
              </a:rPr>
              <a:t>Every field is atomic: each cell holds a single, indivisible value (no lists like “Maths, English”).</a:t>
            </a:r>
            <a:endParaRPr sz="1100">
              <a:solidFill>
                <a:srgbClr val="27251E"/>
              </a:solidFill>
            </a:endParaRPr>
          </a:p>
          <a:p>
            <a:pPr indent="-298450" lvl="0" marL="457200" rtl="0" algn="l">
              <a:spcBef>
                <a:spcPts val="0"/>
              </a:spcBef>
              <a:spcAft>
                <a:spcPts val="0"/>
              </a:spcAft>
              <a:buClr>
                <a:srgbClr val="27251E"/>
              </a:buClr>
              <a:buSzPts val="1100"/>
              <a:buFont typeface="Questrial"/>
              <a:buChar char="●"/>
            </a:pPr>
            <a:r>
              <a:rPr lang="en" sz="1100">
                <a:solidFill>
                  <a:srgbClr val="27251E"/>
                </a:solidFill>
              </a:rPr>
              <a:t>No repeating groups or repeated columns for the same kind of data (e.g. Phone1, Phone2, Phone3).</a:t>
            </a:r>
            <a:endParaRPr sz="1100">
              <a:solidFill>
                <a:srgbClr val="27251E"/>
              </a:solidFill>
            </a:endParaRPr>
          </a:p>
          <a:p>
            <a:pPr indent="0" lvl="0" marL="0" rtl="0" algn="l">
              <a:spcBef>
                <a:spcPts val="600"/>
              </a:spcBef>
              <a:spcAft>
                <a:spcPts val="0"/>
              </a:spcAft>
              <a:buClr>
                <a:schemeClr val="dk2"/>
              </a:buClr>
              <a:buSzPts val="1100"/>
              <a:buFont typeface="Arial"/>
              <a:buNone/>
            </a:pPr>
            <a:r>
              <a:rPr lang="en" sz="1100">
                <a:solidFill>
                  <a:srgbClr val="0000FF"/>
                </a:solidFill>
              </a:rPr>
              <a:t>In practice: </a:t>
            </a:r>
            <a:r>
              <a:rPr b="1" lang="en" sz="1100">
                <a:solidFill>
                  <a:srgbClr val="0000FF"/>
                </a:solidFill>
              </a:rPr>
              <a:t>split multi‑valued </a:t>
            </a:r>
            <a:r>
              <a:rPr lang="en" sz="1100">
                <a:solidFill>
                  <a:srgbClr val="0000FF"/>
                </a:solidFill>
              </a:rPr>
              <a:t>or </a:t>
            </a:r>
            <a:r>
              <a:rPr b="1" lang="en" sz="1100">
                <a:solidFill>
                  <a:srgbClr val="0000FF"/>
                </a:solidFill>
              </a:rPr>
              <a:t>repeating </a:t>
            </a:r>
            <a:r>
              <a:rPr lang="en" sz="1100">
                <a:solidFill>
                  <a:srgbClr val="0000FF"/>
                </a:solidFill>
              </a:rPr>
              <a:t>attributes into </a:t>
            </a:r>
            <a:r>
              <a:rPr b="1" lang="en" sz="1100">
                <a:solidFill>
                  <a:srgbClr val="0000FF"/>
                </a:solidFill>
              </a:rPr>
              <a:t>separate rows</a:t>
            </a:r>
            <a:r>
              <a:rPr lang="en" sz="1100">
                <a:solidFill>
                  <a:srgbClr val="0000FF"/>
                </a:solidFill>
              </a:rPr>
              <a:t> (and often separate tables).</a:t>
            </a:r>
            <a:endParaRPr sz="1100">
              <a:solidFill>
                <a:srgbClr val="0000FF"/>
              </a:solidFill>
            </a:endParaRPr>
          </a:p>
          <a:p>
            <a:pPr indent="0" lvl="0" marL="0" rtl="0" algn="l">
              <a:lnSpc>
                <a:spcPct val="125000"/>
              </a:lnSpc>
              <a:spcBef>
                <a:spcPts val="1800"/>
              </a:spcBef>
              <a:spcAft>
                <a:spcPts val="0"/>
              </a:spcAft>
              <a:buClr>
                <a:schemeClr val="dk2"/>
              </a:buClr>
              <a:buSzPts val="1100"/>
              <a:buFont typeface="Arial"/>
              <a:buNone/>
            </a:pPr>
            <a:r>
              <a:rPr b="1" lang="en" sz="1600">
                <a:solidFill>
                  <a:srgbClr val="27251E"/>
                </a:solidFill>
                <a:highlight>
                  <a:srgbClr val="00FF00"/>
                </a:highlight>
              </a:rPr>
              <a:t>Second normal form (2NF)</a:t>
            </a:r>
            <a:endParaRPr b="1" sz="1600">
              <a:solidFill>
                <a:srgbClr val="27251E"/>
              </a:solidFill>
              <a:highlight>
                <a:srgbClr val="00FF00"/>
              </a:highlight>
            </a:endParaRPr>
          </a:p>
          <a:p>
            <a:pPr indent="-298450" lvl="0" marL="457200" rtl="0" algn="l">
              <a:spcBef>
                <a:spcPts val="400"/>
              </a:spcBef>
              <a:spcAft>
                <a:spcPts val="0"/>
              </a:spcAft>
              <a:buClr>
                <a:srgbClr val="27251E"/>
              </a:buClr>
              <a:buSzPts val="1100"/>
              <a:buFont typeface="Questrial"/>
              <a:buChar char="●"/>
            </a:pPr>
            <a:r>
              <a:rPr lang="en" sz="1100">
                <a:solidFill>
                  <a:srgbClr val="27251E"/>
                </a:solidFill>
              </a:rPr>
              <a:t>Focuses on tables with a composite primary key (key made of more than one column).</a:t>
            </a:r>
            <a:endParaRPr sz="1100">
              <a:solidFill>
                <a:srgbClr val="27251E"/>
              </a:solidFill>
            </a:endParaRPr>
          </a:p>
          <a:p>
            <a:pPr indent="-298450" lvl="0" marL="457200" rtl="0" algn="l">
              <a:spcBef>
                <a:spcPts val="0"/>
              </a:spcBef>
              <a:spcAft>
                <a:spcPts val="0"/>
              </a:spcAft>
              <a:buClr>
                <a:srgbClr val="27251E"/>
              </a:buClr>
              <a:buSzPts val="1100"/>
              <a:buFont typeface="Questrial"/>
              <a:buChar char="●"/>
            </a:pPr>
            <a:r>
              <a:rPr lang="en" sz="1100">
                <a:solidFill>
                  <a:srgbClr val="27251E"/>
                </a:solidFill>
              </a:rPr>
              <a:t>No partial dependency: every non‑key attribute must depend on the whole key, not just part of it.</a:t>
            </a:r>
            <a:endParaRPr sz="1100">
              <a:solidFill>
                <a:srgbClr val="27251E"/>
              </a:solidFill>
            </a:endParaRPr>
          </a:p>
          <a:p>
            <a:pPr indent="0" lvl="0" marL="0" rtl="0" algn="l">
              <a:spcBef>
                <a:spcPts val="600"/>
              </a:spcBef>
              <a:spcAft>
                <a:spcPts val="0"/>
              </a:spcAft>
              <a:buClr>
                <a:schemeClr val="dk2"/>
              </a:buClr>
              <a:buSzPts val="1100"/>
              <a:buFont typeface="Arial"/>
              <a:buNone/>
            </a:pPr>
            <a:r>
              <a:rPr lang="en" sz="1100">
                <a:solidFill>
                  <a:srgbClr val="0000FF"/>
                </a:solidFill>
              </a:rPr>
              <a:t>In practice: if some columns </a:t>
            </a:r>
            <a:r>
              <a:rPr b="1" lang="en" sz="1100">
                <a:solidFill>
                  <a:srgbClr val="0000FF"/>
                </a:solidFill>
              </a:rPr>
              <a:t>depend </a:t>
            </a:r>
            <a:r>
              <a:rPr lang="en" sz="1100">
                <a:solidFill>
                  <a:srgbClr val="0000FF"/>
                </a:solidFill>
              </a:rPr>
              <a:t>only on </a:t>
            </a:r>
            <a:r>
              <a:rPr b="1" lang="en" sz="1100">
                <a:solidFill>
                  <a:srgbClr val="0000FF"/>
                </a:solidFill>
              </a:rPr>
              <a:t>one part</a:t>
            </a:r>
            <a:r>
              <a:rPr lang="en" sz="1100">
                <a:solidFill>
                  <a:srgbClr val="0000FF"/>
                </a:solidFill>
              </a:rPr>
              <a:t> of a </a:t>
            </a:r>
            <a:r>
              <a:rPr b="1" lang="en" sz="1100">
                <a:solidFill>
                  <a:srgbClr val="0000FF"/>
                </a:solidFill>
              </a:rPr>
              <a:t>composite key</a:t>
            </a:r>
            <a:r>
              <a:rPr lang="en" sz="1100">
                <a:solidFill>
                  <a:srgbClr val="0000FF"/>
                </a:solidFill>
              </a:rPr>
              <a:t>, move them to a </a:t>
            </a:r>
            <a:r>
              <a:rPr b="1" lang="en" sz="1100">
                <a:solidFill>
                  <a:srgbClr val="0000FF"/>
                </a:solidFill>
              </a:rPr>
              <a:t>new table </a:t>
            </a:r>
            <a:r>
              <a:rPr lang="en" sz="1100">
                <a:solidFill>
                  <a:srgbClr val="0000FF"/>
                </a:solidFill>
              </a:rPr>
              <a:t>where that part is the key.</a:t>
            </a:r>
            <a:endParaRPr sz="1100">
              <a:solidFill>
                <a:srgbClr val="0000FF"/>
              </a:solidFill>
            </a:endParaRPr>
          </a:p>
          <a:p>
            <a:pPr indent="0" lvl="0" marL="0" rtl="0" algn="l">
              <a:lnSpc>
                <a:spcPct val="125000"/>
              </a:lnSpc>
              <a:spcBef>
                <a:spcPts val="1800"/>
              </a:spcBef>
              <a:spcAft>
                <a:spcPts val="0"/>
              </a:spcAft>
              <a:buClr>
                <a:schemeClr val="dk2"/>
              </a:buClr>
              <a:buSzPts val="1100"/>
              <a:buFont typeface="Arial"/>
              <a:buNone/>
            </a:pPr>
            <a:r>
              <a:rPr b="1" lang="en" sz="1600">
                <a:solidFill>
                  <a:srgbClr val="27251E"/>
                </a:solidFill>
                <a:highlight>
                  <a:srgbClr val="FF9900"/>
                </a:highlight>
              </a:rPr>
              <a:t>Third normal form (3NF)</a:t>
            </a:r>
            <a:endParaRPr b="1" sz="1600">
              <a:solidFill>
                <a:srgbClr val="27251E"/>
              </a:solidFill>
              <a:highlight>
                <a:srgbClr val="FF9900"/>
              </a:highlight>
            </a:endParaRPr>
          </a:p>
          <a:p>
            <a:pPr indent="-298450" lvl="0" marL="457200" rtl="0" algn="l">
              <a:spcBef>
                <a:spcPts val="400"/>
              </a:spcBef>
              <a:spcAft>
                <a:spcPts val="0"/>
              </a:spcAft>
              <a:buClr>
                <a:srgbClr val="27251E"/>
              </a:buClr>
              <a:buSzPts val="1100"/>
              <a:buFont typeface="Questrial"/>
              <a:buChar char="●"/>
            </a:pPr>
            <a:r>
              <a:rPr lang="en" sz="1100">
                <a:solidFill>
                  <a:srgbClr val="27251E"/>
                </a:solidFill>
              </a:rPr>
              <a:t>No transitive dependency: non‑key attributes must depend only on the key, not on other non‑key attributes.</a:t>
            </a:r>
            <a:endParaRPr sz="1100">
              <a:solidFill>
                <a:srgbClr val="27251E"/>
              </a:solidFill>
            </a:endParaRPr>
          </a:p>
          <a:p>
            <a:pPr indent="-298450" lvl="1" marL="914400" rtl="0" algn="l">
              <a:spcBef>
                <a:spcPts val="0"/>
              </a:spcBef>
              <a:spcAft>
                <a:spcPts val="0"/>
              </a:spcAft>
              <a:buClr>
                <a:srgbClr val="27251E"/>
              </a:buClr>
              <a:buSzPts val="1100"/>
              <a:buFont typeface="Questrial"/>
              <a:buChar char="●"/>
            </a:pPr>
            <a:r>
              <a:rPr lang="en" sz="1100">
                <a:solidFill>
                  <a:srgbClr val="27251E"/>
                </a:solidFill>
              </a:rPr>
              <a:t>Informal rule often used: “Every non‑key attribute depends on the key, the whole key, and nothing but the key.”</a:t>
            </a:r>
            <a:endParaRPr sz="1100">
              <a:solidFill>
                <a:srgbClr val="27251E"/>
              </a:solidFill>
            </a:endParaRPr>
          </a:p>
          <a:p>
            <a:pPr indent="0" lvl="0" marL="0" rtl="0" algn="l">
              <a:spcBef>
                <a:spcPts val="900"/>
              </a:spcBef>
              <a:spcAft>
                <a:spcPts val="600"/>
              </a:spcAft>
              <a:buNone/>
            </a:pPr>
            <a:r>
              <a:rPr lang="en" sz="1100">
                <a:solidFill>
                  <a:srgbClr val="0000FF"/>
                </a:solidFill>
              </a:rPr>
              <a:t>In practice: if a non‑key column can be derived from another non‑key column (e.g. City from Postcode), move it into a separate table with its own key.</a:t>
            </a:r>
            <a:endParaRPr sz="2200">
              <a:solidFill>
                <a:srgbClr val="00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Plenary: </a:t>
            </a:r>
            <a:endParaRPr/>
          </a:p>
        </p:txBody>
      </p:sp>
      <p:sp>
        <p:nvSpPr>
          <p:cNvPr id="117" name="Google Shape;117;p20"/>
          <p:cNvSpPr txBox="1"/>
          <p:nvPr>
            <p:ph idx="1" type="body"/>
          </p:nvPr>
        </p:nvSpPr>
        <p:spPr>
          <a:xfrm>
            <a:off x="183775" y="776275"/>
            <a:ext cx="84195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The table below has at least one normalisation problem. Identify </a:t>
            </a:r>
            <a:br>
              <a:rPr lang="en" sz="1800"/>
            </a:br>
            <a:r>
              <a:rPr lang="en" sz="1800"/>
              <a:t>it and state which normal form rule it breaks.</a:t>
            </a:r>
            <a:endParaRPr sz="1800"/>
          </a:p>
          <a:p>
            <a:pPr indent="0" lvl="0" marL="0" rtl="0" algn="l">
              <a:spcBef>
                <a:spcPts val="0"/>
              </a:spcBef>
              <a:spcAft>
                <a:spcPts val="0"/>
              </a:spcAft>
              <a:buNone/>
            </a:pPr>
            <a:r>
              <a:t/>
            </a:r>
            <a:endParaRPr sz="1800"/>
          </a:p>
          <a:p>
            <a:pPr indent="0" lvl="0" marL="152400" marR="152400" rtl="0" algn="l">
              <a:lnSpc>
                <a:spcPct val="125000"/>
              </a:lnSpc>
              <a:spcBef>
                <a:spcPts val="0"/>
              </a:spcBef>
              <a:spcAft>
                <a:spcPts val="0"/>
              </a:spcAft>
              <a:buNone/>
            </a:pPr>
            <a:r>
              <a:rPr b="1" lang="en" sz="1800"/>
              <a:t>🚀 Extension ⭐⭐</a:t>
            </a:r>
            <a:endParaRPr b="1" sz="1800"/>
          </a:p>
          <a:p>
            <a:pPr indent="0" lvl="0" marL="152400" marR="152400" rtl="0" algn="l">
              <a:lnSpc>
                <a:spcPct val="162500"/>
              </a:lnSpc>
              <a:spcBef>
                <a:spcPts val="600"/>
              </a:spcBef>
              <a:spcAft>
                <a:spcPts val="0"/>
              </a:spcAft>
              <a:buNone/>
            </a:pPr>
            <a:r>
              <a:rPr lang="en" sz="1500"/>
              <a:t>Identify </a:t>
            </a:r>
            <a:r>
              <a:rPr b="1" lang="en" sz="1500"/>
              <a:t>ALL</a:t>
            </a:r>
            <a:r>
              <a:rPr lang="en" sz="1500"/>
              <a:t> normalisation violations in the table above. For each one, explain:</a:t>
            </a:r>
            <a:endParaRPr sz="1500"/>
          </a:p>
          <a:p>
            <a:pPr indent="-311150" lvl="0" marL="609600" marR="152400" rtl="0" algn="l">
              <a:spcBef>
                <a:spcPts val="600"/>
              </a:spcBef>
              <a:spcAft>
                <a:spcPts val="0"/>
              </a:spcAft>
              <a:buClr>
                <a:schemeClr val="dk2"/>
              </a:buClr>
              <a:buSzPts val="1300"/>
              <a:buFont typeface="Questrial"/>
              <a:buChar char="●"/>
            </a:pPr>
            <a:r>
              <a:rPr lang="en" sz="1300"/>
              <a:t>Which NF rule it breaks</a:t>
            </a:r>
            <a:endParaRPr sz="1300"/>
          </a:p>
          <a:p>
            <a:pPr indent="-311150" lvl="0" marL="609600" marR="152400" rtl="0" algn="l">
              <a:spcBef>
                <a:spcPts val="0"/>
              </a:spcBef>
              <a:spcAft>
                <a:spcPts val="0"/>
              </a:spcAft>
              <a:buClr>
                <a:schemeClr val="dk2"/>
              </a:buClr>
              <a:buSzPts val="1300"/>
              <a:buFont typeface="Questrial"/>
              <a:buChar char="●"/>
            </a:pPr>
            <a:r>
              <a:rPr lang="en" sz="1300"/>
              <a:t>Why it creates a data integrity problem</a:t>
            </a:r>
            <a:endParaRPr sz="1300"/>
          </a:p>
          <a:p>
            <a:pPr indent="0" lvl="0" marL="152400" marR="152400" rtl="0" algn="l">
              <a:lnSpc>
                <a:spcPct val="162500"/>
              </a:lnSpc>
              <a:spcBef>
                <a:spcPts val="0"/>
              </a:spcBef>
              <a:spcAft>
                <a:spcPts val="0"/>
              </a:spcAft>
              <a:buNone/>
            </a:pPr>
            <a:r>
              <a:t/>
            </a:r>
            <a:endParaRPr sz="1200"/>
          </a:p>
          <a:p>
            <a:pPr indent="0" lvl="0" marL="152400" marR="152400" rtl="0" algn="l">
              <a:lnSpc>
                <a:spcPct val="125000"/>
              </a:lnSpc>
              <a:spcBef>
                <a:spcPts val="0"/>
              </a:spcBef>
              <a:spcAft>
                <a:spcPts val="0"/>
              </a:spcAft>
              <a:buNone/>
            </a:pPr>
            <a:r>
              <a:rPr b="1" lang="en" sz="1800"/>
              <a:t>💡 Challenge ⭐⭐⭐</a:t>
            </a:r>
            <a:endParaRPr b="1" sz="1800"/>
          </a:p>
          <a:p>
            <a:pPr indent="0" lvl="0" marL="152400" marR="152400" rtl="0" algn="l">
              <a:lnSpc>
                <a:spcPct val="162500"/>
              </a:lnSpc>
              <a:spcBef>
                <a:spcPts val="600"/>
              </a:spcBef>
              <a:spcAft>
                <a:spcPts val="0"/>
              </a:spcAft>
              <a:buNone/>
            </a:pPr>
            <a:r>
              <a:rPr b="1" lang="en" sz="1500"/>
              <a:t>Redesign</a:t>
            </a:r>
            <a:r>
              <a:rPr lang="en" sz="1500"/>
              <a:t> the table(s) to be fully in </a:t>
            </a:r>
            <a:r>
              <a:rPr b="1" lang="en" sz="1500"/>
              <a:t>3NF</a:t>
            </a:r>
            <a:r>
              <a:rPr lang="en" sz="1500"/>
              <a:t>. Sketch the new table structures, underlining primary keys and marking foreign keys with (FK). Justify each table you create.</a:t>
            </a:r>
            <a:endParaRPr sz="2100"/>
          </a:p>
          <a:p>
            <a:pPr indent="0" lvl="0" marL="0" rtl="0" algn="l">
              <a:spcBef>
                <a:spcPts val="600"/>
              </a:spcBef>
              <a:spcAft>
                <a:spcPts val="0"/>
              </a:spcAft>
              <a:buNone/>
            </a:pPr>
            <a:r>
              <a:t/>
            </a:r>
            <a:endParaRPr sz="1800"/>
          </a:p>
          <a:p>
            <a:pPr indent="0" lvl="0" marL="0" rtl="0" algn="l">
              <a:spcBef>
                <a:spcPts val="0"/>
              </a:spcBef>
              <a:spcAft>
                <a:spcPts val="0"/>
              </a:spcAft>
              <a:buNone/>
            </a:pPr>
            <a:r>
              <a:t/>
            </a:r>
            <a:endParaRPr sz="1800"/>
          </a:p>
        </p:txBody>
      </p:sp>
      <p:sp>
        <p:nvSpPr>
          <p:cNvPr id="118" name="Google Shape;118;p20"/>
          <p:cNvSpPr txBox="1"/>
          <p:nvPr/>
        </p:nvSpPr>
        <p:spPr>
          <a:xfrm>
            <a:off x="6891004" y="186131"/>
            <a:ext cx="2253000" cy="1280700"/>
          </a:xfrm>
          <a:prstGeom prst="rect">
            <a:avLst/>
          </a:prstGeom>
          <a:solidFill>
            <a:schemeClr val="dk1"/>
          </a:solidFill>
          <a:ln cap="flat" cmpd="sng" w="7620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 Exit Ticket:</a:t>
            </a:r>
            <a:endParaRPr sz="1600">
              <a:solidFill>
                <a:schemeClr val="dk2"/>
              </a:solidFill>
              <a:latin typeface="Questrial"/>
              <a:ea typeface="Questrial"/>
              <a:cs typeface="Questrial"/>
              <a:sym typeface="Questrial"/>
            </a:endParaRPr>
          </a:p>
          <a:p>
            <a:pPr indent="0" lvl="0" marL="0" rtl="0" algn="ctr">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On a scale of 1-5, how confident are you?</a:t>
            </a:r>
            <a:endParaRPr sz="1600">
              <a:solidFill>
                <a:schemeClr val="dk2"/>
              </a:solidFill>
              <a:latin typeface="Questrial"/>
              <a:ea typeface="Questrial"/>
              <a:cs typeface="Questrial"/>
              <a:sym typeface="Questrial"/>
            </a:endParaRPr>
          </a:p>
          <a:p>
            <a:pPr indent="0" lvl="0" marL="0" rtl="0" algn="ctr">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1 □  2 □  3 □  4 □  5 □</a:t>
            </a:r>
            <a:endParaRPr sz="1900">
              <a:solidFill>
                <a:schemeClr val="dk2"/>
              </a:solidFill>
              <a:latin typeface="Questrial"/>
              <a:ea typeface="Questrial"/>
              <a:cs typeface="Questrial"/>
              <a:sym typeface="Questrial"/>
            </a:endParaRPr>
          </a:p>
        </p:txBody>
      </p:sp>
      <p:pic>
        <p:nvPicPr>
          <p:cNvPr id="119" name="Google Shape;119;p20"/>
          <p:cNvPicPr preferRelativeResize="0"/>
          <p:nvPr/>
        </p:nvPicPr>
        <p:blipFill>
          <a:blip r:embed="rId3">
            <a:alphaModFix/>
          </a:blip>
          <a:stretch>
            <a:fillRect/>
          </a:stretch>
        </p:blipFill>
        <p:spPr>
          <a:xfrm>
            <a:off x="4830850" y="2538100"/>
            <a:ext cx="3828550" cy="1090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 Key</a:t>
            </a:r>
            <a:endParaRPr/>
          </a:p>
        </p:txBody>
      </p:sp>
      <p:sp>
        <p:nvSpPr>
          <p:cNvPr id="125" name="Google Shape;125;p21"/>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152400" marR="152400" rtl="0" algn="l">
              <a:lnSpc>
                <a:spcPct val="162500"/>
              </a:lnSpc>
              <a:spcBef>
                <a:spcPts val="600"/>
              </a:spcBef>
              <a:spcAft>
                <a:spcPts val="0"/>
              </a:spcAft>
              <a:buClr>
                <a:schemeClr val="dk2"/>
              </a:buClr>
              <a:buSzPts val="1100"/>
              <a:buFont typeface="Arial"/>
              <a:buNone/>
            </a:pPr>
            <a:r>
              <a:rPr lang="en" sz="1200"/>
              <a:t>Add these to the slide's speaker notes:</a:t>
            </a:r>
            <a:endParaRPr sz="1200"/>
          </a:p>
          <a:p>
            <a:pPr indent="-304800" lvl="0" marL="609600" marR="152400" rtl="0" algn="l">
              <a:spcBef>
                <a:spcPts val="600"/>
              </a:spcBef>
              <a:spcAft>
                <a:spcPts val="0"/>
              </a:spcAft>
              <a:buClr>
                <a:schemeClr val="dk2"/>
              </a:buClr>
              <a:buSzPts val="1200"/>
              <a:buFont typeface="Georgia"/>
              <a:buChar char="●"/>
            </a:pPr>
            <a:r>
              <a:rPr b="1" lang="en" sz="1200"/>
              <a:t>Main:</a:t>
            </a:r>
            <a:r>
              <a:rPr lang="en" sz="1200"/>
              <a:t> </a:t>
            </a:r>
            <a:r>
              <a:rPr lang="en" sz="1050"/>
              <a:t>DiagnosisCodes</a:t>
            </a:r>
            <a:r>
              <a:rPr lang="en" sz="1200"/>
              <a:t> is not atomic (multiple values in one cell) → </a:t>
            </a:r>
            <a:r>
              <a:rPr b="1" lang="en" sz="1200"/>
              <a:t>violates 1NF</a:t>
            </a:r>
            <a:r>
              <a:rPr lang="en" sz="1200"/>
              <a:t>; </a:t>
            </a:r>
            <a:r>
              <a:rPr lang="en" sz="1050"/>
              <a:t>DoctorCity</a:t>
            </a:r>
            <a:r>
              <a:rPr lang="en" sz="1200"/>
              <a:t> depends on the doctor, not BookingID → </a:t>
            </a:r>
            <a:r>
              <a:rPr b="1" lang="en" sz="1200"/>
              <a:t>transitive dependency, violates 3NF</a:t>
            </a:r>
            <a:endParaRPr b="1" sz="1200"/>
          </a:p>
          <a:p>
            <a:pPr indent="-304800" lvl="0" marL="609600" marR="152400" rtl="0" algn="l">
              <a:spcBef>
                <a:spcPts val="0"/>
              </a:spcBef>
              <a:spcAft>
                <a:spcPts val="0"/>
              </a:spcAft>
              <a:buClr>
                <a:schemeClr val="dk2"/>
              </a:buClr>
              <a:buSzPts val="1200"/>
              <a:buFont typeface="Georgia"/>
              <a:buChar char="●"/>
            </a:pPr>
            <a:r>
              <a:rPr b="1" lang="en" sz="1200"/>
              <a:t>Extension:</a:t>
            </a:r>
            <a:r>
              <a:rPr lang="en" sz="1200"/>
              <a:t> Two violations — 1NF (non-atomic DiagnosisCodes) + 3NF (transitive: BookingID → DoctorID → DoctorCity)</a:t>
            </a:r>
            <a:endParaRPr sz="1200"/>
          </a:p>
          <a:p>
            <a:pPr indent="-304800" lvl="0" marL="609600" marR="152400" rtl="0" algn="l">
              <a:spcBef>
                <a:spcPts val="0"/>
              </a:spcBef>
              <a:spcAft>
                <a:spcPts val="0"/>
              </a:spcAft>
              <a:buClr>
                <a:schemeClr val="dk2"/>
              </a:buClr>
              <a:buSzPts val="1200"/>
              <a:buFont typeface="Georgia"/>
              <a:buChar char="●"/>
            </a:pPr>
            <a:r>
              <a:rPr b="1" lang="en" sz="1200"/>
              <a:t>Challenge:</a:t>
            </a:r>
            <a:r>
              <a:rPr lang="en" sz="1200"/>
              <a:t> Split into 3 tables: </a:t>
            </a:r>
            <a:r>
              <a:rPr lang="en" sz="1050"/>
              <a:t>Booking(BookingID, PatientName, DoctorID)</a:t>
            </a:r>
            <a:r>
              <a:rPr lang="en" sz="1200"/>
              <a:t>, </a:t>
            </a:r>
            <a:r>
              <a:rPr lang="en" sz="1050"/>
              <a:t>Doctor(DoctorID, DoctorCity)</a:t>
            </a:r>
            <a:r>
              <a:rPr lang="en" sz="1200"/>
              <a:t>, </a:t>
            </a:r>
            <a:r>
              <a:rPr lang="en" sz="1050"/>
              <a:t>BookingDiagnosis(BookingID, DiagnosisCode)</a:t>
            </a:r>
            <a:endParaRPr sz="1050"/>
          </a:p>
          <a:p>
            <a:pPr indent="0" lvl="0" marL="152400" marR="152400" rtl="0" algn="l">
              <a:lnSpc>
                <a:spcPct val="162500"/>
              </a:lnSpc>
              <a:spcBef>
                <a:spcPts val="0"/>
              </a:spcBef>
              <a:spcAft>
                <a:spcPts val="0"/>
              </a:spcAft>
              <a:buClr>
                <a:schemeClr val="dk2"/>
              </a:buClr>
              <a:buSzPts val="1100"/>
              <a:buFont typeface="Arial"/>
              <a:buNone/>
            </a:pPr>
            <a:r>
              <a:t/>
            </a:r>
            <a:endParaRPr sz="1050"/>
          </a:p>
          <a:p>
            <a:pPr indent="0" lvl="0" marL="152400" marR="152400" rtl="0" algn="l">
              <a:lnSpc>
                <a:spcPct val="162500"/>
              </a:lnSpc>
              <a:spcBef>
                <a:spcPts val="600"/>
              </a:spcBef>
              <a:spcAft>
                <a:spcPts val="0"/>
              </a:spcAft>
              <a:buClr>
                <a:schemeClr val="dk2"/>
              </a:buClr>
              <a:buSzPts val="1100"/>
              <a:buFont typeface="Arial"/>
              <a:buNone/>
            </a:pPr>
            <a:r>
              <a:rPr lang="en" sz="1050"/>
              <a:t>This scenario deliberately uses a </a:t>
            </a:r>
            <a:r>
              <a:rPr b="1" lang="en" sz="1200"/>
              <a:t>hospital context</a:t>
            </a:r>
            <a:r>
              <a:rPr lang="en" sz="1200"/>
              <a:t> to mirror the lesson's main task, so it feels like a natural review rather than a disconnected activity. The three tiers let students self-differentiate: most will spot the 1NF issue quickly, while the challenge requires reconstructing full 3NF tables from scratch.​</a:t>
            </a:r>
            <a:endParaRPr sz="1200"/>
          </a:p>
          <a:p>
            <a:pPr indent="0" lvl="0" marL="0" marR="228600" rtl="0" algn="l">
              <a:spcBef>
                <a:spcPts val="24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F9D58"/>
      </a:accent4>
      <a:accent5>
        <a:srgbClr val="01AFD1"/>
      </a:accent5>
      <a:accent6>
        <a:srgbClr val="9C27B0"/>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