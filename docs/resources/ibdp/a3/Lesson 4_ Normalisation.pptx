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797675" cy="9929800"/>
  <p:embeddedFontLst>
    <p:embeddedFont>
      <p:font typeface="Playfair Display"/>
      <p:regular r:id="rId35"/>
      <p:bold r:id="rId36"/>
      <p:italic r:id="rId37"/>
      <p:boldItalic r:id="rId38"/>
    </p:embeddedFont>
    <p:embeddedFont>
      <p:font typeface="Montserrat"/>
      <p:regular r:id="rId39"/>
      <p:bold r:id="rId40"/>
      <p:italic r:id="rId41"/>
      <p:boldItalic r:id="rId42"/>
    </p:embeddedFont>
    <p:embeddedFont>
      <p:font typeface="Oswald"/>
      <p:regular r:id="rId43"/>
      <p:bold r:id="rId44"/>
    </p:embeddedFont>
    <p:embeddedFont>
      <p:font typeface="Questrial"/>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1D6032-61F0-4706-8420-828B001EF563}">
  <a:tblStyle styleId="{D41D6032-61F0-4706-8420-828B001EF56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388F1F6-6D60-4381-A1E2-78519693504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Montserrat-bold.fntdata"/><Relationship Id="rId20" Type="http://schemas.openxmlformats.org/officeDocument/2006/relationships/slide" Target="slides/slide15.xml"/><Relationship Id="rId42" Type="http://schemas.openxmlformats.org/officeDocument/2006/relationships/font" Target="fonts/Montserrat-boldItalic.fntdata"/><Relationship Id="rId41" Type="http://schemas.openxmlformats.org/officeDocument/2006/relationships/font" Target="fonts/Montserrat-italic.fntdata"/><Relationship Id="rId22" Type="http://schemas.openxmlformats.org/officeDocument/2006/relationships/slide" Target="slides/slide17.xml"/><Relationship Id="rId44" Type="http://schemas.openxmlformats.org/officeDocument/2006/relationships/font" Target="fonts/Oswald-bold.fntdata"/><Relationship Id="rId21" Type="http://schemas.openxmlformats.org/officeDocument/2006/relationships/slide" Target="slides/slide16.xml"/><Relationship Id="rId43" Type="http://schemas.openxmlformats.org/officeDocument/2006/relationships/font" Target="fonts/Oswald-regular.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Questrial-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layfairDisplay-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PlayfairDisplay-italic.fntdata"/><Relationship Id="rId14" Type="http://schemas.openxmlformats.org/officeDocument/2006/relationships/slide" Target="slides/slide9.xml"/><Relationship Id="rId36" Type="http://schemas.openxmlformats.org/officeDocument/2006/relationships/font" Target="fonts/PlayfairDisplay-bold.fntdata"/><Relationship Id="rId17" Type="http://schemas.openxmlformats.org/officeDocument/2006/relationships/slide" Target="slides/slide12.xml"/><Relationship Id="rId39" Type="http://schemas.openxmlformats.org/officeDocument/2006/relationships/font" Target="fonts/Montserrat-regular.fntdata"/><Relationship Id="rId16" Type="http://schemas.openxmlformats.org/officeDocument/2006/relationships/slide" Target="slides/slide11.xml"/><Relationship Id="rId38" Type="http://schemas.openxmlformats.org/officeDocument/2006/relationships/font" Target="fonts/PlayfairDisplay-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79768" y="4716661"/>
            <a:ext cx="5438140" cy="4468416"/>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c535ad6ed2_0_16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1" name="Google Shape;41;g3c535ad6ed2_0_16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c5313b79cf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7" name="Google Shape;47;g3c5313b79cf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c5313b79cf_2_7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g3c5313b79cf_2_73:notes"/>
          <p:cNvSpPr txBox="1"/>
          <p:nvPr>
            <p:ph idx="1" type="body"/>
          </p:nvPr>
        </p:nvSpPr>
        <p:spPr>
          <a:xfrm>
            <a:off x="679768" y="4716661"/>
            <a:ext cx="5438100" cy="446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01b28fc27_0_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01b28fc27_0_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c535ad6ed2_0_10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66" name="Google Shape;66;g3c535ad6ed2_0_10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e01b28fc27_0_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74" name="Google Shape;74;g3e01b28fc27_0_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01b28fc27_1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01b28fc27_1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01b28fc27_1_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01b28fc27_1_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01b28fc27_1_1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01b28fc27_1_1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01b28fc27_1_2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01b28fc27_1_2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d8391cd2e0_0_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d8391cd2e0_0_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8391cd2e0_0_1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8391cd2e0_0_1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01b28fc27_1_2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01b28fc27_1_2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01b28fc27_1_3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01b28fc27_1_3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e01b28fc27_1_4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e01b28fc27_1_4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01b28fc27_1_4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e01b28fc27_1_4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01b28fc27_1_5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e01b28fc27_1_5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8391cd2e0_0_3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8391cd2e0_0_3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01b28fc27_1_6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01b28fc27_1_6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01b28fc27_1_7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01b28fc27_1_7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01b28fc27_1_77: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01b28fc27_1_77: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053d54da2_0_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053d54da2_0_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053d54da2_0_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053d54da2_0_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d87abdc8e0_1_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d87abdc8e0_1_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87abdc8e0_1_1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d87abdc8e0_1_1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87abdc8e0_1_2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d87abdc8e0_1_2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87abdc8e0_1_2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d87abdc8e0_1_2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d87abdc8e0_1_1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d87abdc8e0_1_1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535ad6ed2_0_13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535ad6ed2_0_13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4358475" y="0"/>
            <a:ext cx="3853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type="ctr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800"/>
              <a:buFont typeface="Questrial"/>
              <a:buNone/>
              <a:defRPr b="1" sz="6800">
                <a:latin typeface="Questrial"/>
                <a:ea typeface="Questrial"/>
                <a:cs typeface="Questrial"/>
                <a:sym typeface="Questrial"/>
              </a:defRPr>
            </a:lvl1pPr>
            <a:lvl2pPr lvl="1"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 name="Shape 15"/>
        <p:cNvGrpSpPr/>
        <p:nvPr/>
      </p:nvGrpSpPr>
      <p:grpSpPr>
        <a:xfrm>
          <a:off x="0" y="0"/>
          <a:ext cx="0" cy="0"/>
          <a:chOff x="0" y="0"/>
          <a:chExt cx="0" cy="0"/>
        </a:xfrm>
      </p:grpSpPr>
      <p:sp>
        <p:nvSpPr>
          <p:cNvPr id="16" name="Google Shape;16;p3"/>
          <p:cNvSpPr/>
          <p:nvPr/>
        </p:nvSpPr>
        <p:spPr>
          <a:xfrm>
            <a:off x="4216950" y="-75"/>
            <a:ext cx="4927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 name="Google Shape;17;p3"/>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18" name="Google Shape;18;p3"/>
          <p:cNvSpPr txBox="1"/>
          <p:nvPr>
            <p:ph type="title"/>
          </p:nvPr>
        </p:nvSpPr>
        <p:spPr>
          <a:xfrm>
            <a:off x="265500" y="802791"/>
            <a:ext cx="3748500" cy="1786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9" name="Google Shape;19;p3"/>
          <p:cNvSpPr txBox="1"/>
          <p:nvPr>
            <p:ph idx="1" type="subTitle"/>
          </p:nvPr>
        </p:nvSpPr>
        <p:spPr>
          <a:xfrm>
            <a:off x="265500" y="2717925"/>
            <a:ext cx="3807900" cy="154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 name="Google Shape;20;p3"/>
          <p:cNvSpPr txBox="1"/>
          <p:nvPr>
            <p:ph idx="2" type="body"/>
          </p:nvPr>
        </p:nvSpPr>
        <p:spPr>
          <a:xfrm>
            <a:off x="4310700" y="724200"/>
            <a:ext cx="46221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highlight>
                  <a:schemeClr val="lt1"/>
                </a:highlight>
              </a:defRPr>
            </a:lvl1pPr>
            <a:lvl2pPr indent="-317500" lvl="1" marL="914400" algn="l">
              <a:lnSpc>
                <a:spcPct val="115000"/>
              </a:lnSpc>
              <a:spcBef>
                <a:spcPts val="1600"/>
              </a:spcBef>
              <a:spcAft>
                <a:spcPts val="0"/>
              </a:spcAft>
              <a:buSzPts val="1400"/>
              <a:buChar char="○"/>
              <a:defRPr>
                <a:highlight>
                  <a:schemeClr val="lt1"/>
                </a:highlight>
              </a:defRPr>
            </a:lvl2pPr>
            <a:lvl3pPr indent="-317500" lvl="2" marL="1371600" algn="l">
              <a:lnSpc>
                <a:spcPct val="115000"/>
              </a:lnSpc>
              <a:spcBef>
                <a:spcPts val="1600"/>
              </a:spcBef>
              <a:spcAft>
                <a:spcPts val="0"/>
              </a:spcAft>
              <a:buSzPts val="1400"/>
              <a:buChar char="■"/>
              <a:defRPr>
                <a:highlight>
                  <a:schemeClr val="lt1"/>
                </a:highlight>
              </a:defRPr>
            </a:lvl3pPr>
            <a:lvl4pPr indent="-317500" lvl="3" marL="1828800" algn="l">
              <a:lnSpc>
                <a:spcPct val="115000"/>
              </a:lnSpc>
              <a:spcBef>
                <a:spcPts val="1600"/>
              </a:spcBef>
              <a:spcAft>
                <a:spcPts val="0"/>
              </a:spcAft>
              <a:buSzPts val="1400"/>
              <a:buChar char="●"/>
              <a:defRPr>
                <a:highlight>
                  <a:schemeClr val="lt1"/>
                </a:highlight>
              </a:defRPr>
            </a:lvl4pPr>
            <a:lvl5pPr indent="-317500" lvl="4" marL="2286000" algn="l">
              <a:lnSpc>
                <a:spcPct val="115000"/>
              </a:lnSpc>
              <a:spcBef>
                <a:spcPts val="1600"/>
              </a:spcBef>
              <a:spcAft>
                <a:spcPts val="0"/>
              </a:spcAft>
              <a:buSzPts val="1400"/>
              <a:buChar char="○"/>
              <a:defRPr>
                <a:highlight>
                  <a:schemeClr val="lt1"/>
                </a:highlight>
              </a:defRPr>
            </a:lvl5pPr>
            <a:lvl6pPr indent="-317500" lvl="5" marL="2743200" algn="l">
              <a:lnSpc>
                <a:spcPct val="115000"/>
              </a:lnSpc>
              <a:spcBef>
                <a:spcPts val="1600"/>
              </a:spcBef>
              <a:spcAft>
                <a:spcPts val="0"/>
              </a:spcAft>
              <a:buSzPts val="1400"/>
              <a:buChar char="■"/>
              <a:defRPr>
                <a:highlight>
                  <a:schemeClr val="lt1"/>
                </a:highlight>
              </a:defRPr>
            </a:lvl6pPr>
            <a:lvl7pPr indent="-317500" lvl="6" marL="3200400" algn="l">
              <a:lnSpc>
                <a:spcPct val="115000"/>
              </a:lnSpc>
              <a:spcBef>
                <a:spcPts val="1600"/>
              </a:spcBef>
              <a:spcAft>
                <a:spcPts val="0"/>
              </a:spcAft>
              <a:buSzPts val="1400"/>
              <a:buChar char="●"/>
              <a:defRPr>
                <a:highlight>
                  <a:schemeClr val="lt1"/>
                </a:highlight>
              </a:defRPr>
            </a:lvl7pPr>
            <a:lvl8pPr indent="-317500" lvl="7" marL="3657600" algn="l">
              <a:lnSpc>
                <a:spcPct val="115000"/>
              </a:lnSpc>
              <a:spcBef>
                <a:spcPts val="1600"/>
              </a:spcBef>
              <a:spcAft>
                <a:spcPts val="0"/>
              </a:spcAft>
              <a:buSzPts val="1400"/>
              <a:buChar char="○"/>
              <a:defRPr>
                <a:highlight>
                  <a:schemeClr val="lt1"/>
                </a:highlight>
              </a:defRPr>
            </a:lvl8pPr>
            <a:lvl9pPr indent="-317500" lvl="8" marL="4114800" algn="l">
              <a:lnSpc>
                <a:spcPct val="115000"/>
              </a:lnSpc>
              <a:spcBef>
                <a:spcPts val="1600"/>
              </a:spcBef>
              <a:spcAft>
                <a:spcPts val="1600"/>
              </a:spcAft>
              <a:buSzPts val="1400"/>
              <a:buChar char="■"/>
              <a:defRPr>
                <a:highlight>
                  <a:schemeClr val="lt1"/>
                </a:highlight>
              </a:defRPr>
            </a:lvl9pPr>
          </a:lstStyle>
          <a:p/>
        </p:txBody>
      </p:sp>
      <p:sp>
        <p:nvSpPr>
          <p:cNvPr id="21" name="Google Shape;21;p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82800" y="74750"/>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4" name="Google Shape;24;p4"/>
          <p:cNvSpPr txBox="1"/>
          <p:nvPr>
            <p:ph idx="1" type="body"/>
          </p:nvPr>
        </p:nvSpPr>
        <p:spPr>
          <a:xfrm>
            <a:off x="183775" y="776275"/>
            <a:ext cx="8520600" cy="3334800"/>
          </a:xfrm>
          <a:prstGeom prst="rect">
            <a:avLst/>
          </a:prstGeom>
          <a:noFill/>
          <a:ln>
            <a:noFill/>
          </a:ln>
        </p:spPr>
        <p:txBody>
          <a:bodyPr anchorCtr="0" anchor="t" bIns="91425" lIns="91425" spcFirstLastPara="1" rIns="91425" wrap="square" tIns="91425">
            <a:noAutofit/>
          </a:bodyPr>
          <a:lstStyle>
            <a:lvl1pPr indent="-374650" lvl="0" marL="457200" algn="l">
              <a:lnSpc>
                <a:spcPct val="115000"/>
              </a:lnSpc>
              <a:spcBef>
                <a:spcPts val="0"/>
              </a:spcBef>
              <a:spcAft>
                <a:spcPts val="0"/>
              </a:spcAft>
              <a:buSzPts val="2300"/>
              <a:buChar char="●"/>
              <a:defRPr sz="23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5" name="Google Shape;25;p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04800" y="4611905"/>
            <a:ext cx="8520600" cy="591000"/>
          </a:xfrm>
          <a:prstGeom prst="rect">
            <a:avLst/>
          </a:prstGeom>
          <a:noFill/>
          <a:ln>
            <a:noFill/>
          </a:ln>
        </p:spPr>
        <p:txBody>
          <a:bodyPr anchorCtr="0" anchor="t" bIns="91425" lIns="91425" spcFirstLastPara="1" rIns="91425" wrap="square" tIns="91425">
            <a:spAutoFit/>
          </a:bodyPr>
          <a:lstStyle/>
          <a:p>
            <a:pPr indent="-279400" lvl="0" marL="457200" rtl="0" algn="l">
              <a:lnSpc>
                <a:spcPct val="115000"/>
              </a:lnSpc>
              <a:spcBef>
                <a:spcPts val="160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Define the key terms of normalisation, including atomicity, unique identification, functional, partial-key and explain how they relate to data integrity. </a:t>
            </a:r>
            <a:endParaRPr sz="800">
              <a:solidFill>
                <a:schemeClr val="lt1"/>
              </a:solidFill>
              <a:highlight>
                <a:schemeClr val="dk2"/>
              </a:highlight>
              <a:latin typeface="Questrial"/>
              <a:ea typeface="Questrial"/>
              <a:cs typeface="Questrial"/>
              <a:sym typeface="Questrial"/>
            </a:endParaRPr>
          </a:p>
          <a:p>
            <a:pPr indent="-279400" lvl="0" marL="457200" rtl="0" algn="l">
              <a:lnSpc>
                <a:spcPct val="115000"/>
              </a:lnSpc>
              <a:spcBef>
                <a:spcPts val="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Apply the rules of 1NF, 2NF, and 3NF to identify and resolve normalisation issues such as data duplication</a:t>
            </a:r>
            <a:endParaRPr sz="800">
              <a:solidFill>
                <a:schemeClr val="lt1"/>
              </a:solidFill>
              <a:highlight>
                <a:schemeClr val="dk2"/>
              </a:highlight>
              <a:latin typeface="Questrial"/>
              <a:ea typeface="Questrial"/>
              <a:cs typeface="Questrial"/>
              <a:sym typeface="Questrial"/>
            </a:endParaRPr>
          </a:p>
          <a:p>
            <a:pPr indent="-279400" lvl="0" marL="457200" rtl="0" algn="l">
              <a:lnSpc>
                <a:spcPct val="115000"/>
              </a:lnSpc>
              <a:spcBef>
                <a:spcPts val="0"/>
              </a:spcBef>
              <a:spcAft>
                <a:spcPts val="0"/>
              </a:spcAft>
              <a:buClr>
                <a:schemeClr val="lt1"/>
              </a:buClr>
              <a:buSzPts val="800"/>
              <a:buFont typeface="Questrial"/>
              <a:buAutoNum type="arabicPeriod"/>
            </a:pPr>
            <a:r>
              <a:rPr lang="en" sz="800">
                <a:solidFill>
                  <a:schemeClr val="lt1"/>
                </a:solidFill>
                <a:highlight>
                  <a:schemeClr val="dk2"/>
                </a:highlight>
                <a:latin typeface="Questrial"/>
                <a:ea typeface="Questrial"/>
                <a:cs typeface="Questrial"/>
                <a:sym typeface="Questrial"/>
              </a:rPr>
              <a:t>Evaluate the trade-offs between normalisation and denormalisation</a:t>
            </a:r>
            <a:endParaRPr sz="800">
              <a:solidFill>
                <a:schemeClr val="lt1"/>
              </a:solidFill>
              <a:highlight>
                <a:schemeClr val="dk2"/>
              </a:highlight>
              <a:latin typeface="Questrial"/>
              <a:ea typeface="Questrial"/>
              <a:cs typeface="Questrial"/>
              <a:sym typeface="Quest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5"/>
        </a:solidFill>
      </p:bgPr>
    </p:bg>
    <p:spTree>
      <p:nvGrpSpPr>
        <p:cNvPr id="27" name="Shape 27"/>
        <p:cNvGrpSpPr/>
        <p:nvPr/>
      </p:nvGrpSpPr>
      <p:grpSpPr>
        <a:xfrm>
          <a:off x="0" y="0"/>
          <a:ext cx="0" cy="0"/>
          <a:chOff x="0" y="0"/>
          <a:chExt cx="0" cy="0"/>
        </a:xfrm>
      </p:grpSpPr>
      <p:sp>
        <p:nvSpPr>
          <p:cNvPr id="28" name="Google Shape;28;p5"/>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
          <p:cNvSpPr txBox="1"/>
          <p:nvPr>
            <p:ph type="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Font typeface="Questrial"/>
              <a:buNone/>
              <a:defRPr b="1" sz="4800">
                <a:latin typeface="Questrial"/>
                <a:ea typeface="Questrial"/>
                <a:cs typeface="Questrial"/>
                <a:sym typeface="Questrial"/>
              </a:defRPr>
            </a:lvl1pPr>
            <a:lvl2pPr lvl="1"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30" name="Google Shape;30;p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6"/>
          <p:cNvSpPr txBox="1"/>
          <p:nvPr>
            <p:ph idx="1" type="body"/>
          </p:nvPr>
        </p:nvSpPr>
        <p:spPr>
          <a:xfrm>
            <a:off x="3117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6"/>
          <p:cNvSpPr txBox="1"/>
          <p:nvPr>
            <p:ph idx="2" type="body"/>
          </p:nvPr>
        </p:nvSpPr>
        <p:spPr>
          <a:xfrm>
            <a:off x="48324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8" name="Google Shape;38;p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Questrial"/>
              <a:buChar char="●"/>
              <a:defRPr b="0" i="0" sz="1800" u="none" cap="none" strike="noStrike">
                <a:solidFill>
                  <a:schemeClr val="dk2"/>
                </a:solidFill>
                <a:latin typeface="Questrial"/>
                <a:ea typeface="Questrial"/>
                <a:cs typeface="Questrial"/>
                <a:sym typeface="Questrial"/>
              </a:defRPr>
            </a:lvl1pPr>
            <a:lvl2pPr indent="-317500" lvl="1" marL="914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2pPr>
            <a:lvl3pPr indent="-317500" lvl="2" marL="1371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3pPr>
            <a:lvl4pPr indent="-317500" lvl="3" marL="18288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4pPr>
            <a:lvl5pPr indent="-317500" lvl="4" marL="22860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5pPr>
            <a:lvl6pPr indent="-317500" lvl="5" marL="27432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6pPr>
            <a:lvl7pPr indent="-317500" lvl="6" marL="3200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7pPr>
            <a:lvl8pPr indent="-317500" lvl="7" marL="3657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8pPr>
            <a:lvl9pPr indent="-317500" lvl="8" marL="4114800" marR="0" rtl="0" algn="l">
              <a:lnSpc>
                <a:spcPct val="115000"/>
              </a:lnSpc>
              <a:spcBef>
                <a:spcPts val="1600"/>
              </a:spcBef>
              <a:spcAft>
                <a:spcPts val="160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tinyurl.com/ycy4wdhr" TargetMode="External"/><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8"/>
          <p:cNvSpPr txBox="1"/>
          <p:nvPr>
            <p:ph type="ctrTitle"/>
          </p:nvPr>
        </p:nvSpPr>
        <p:spPr>
          <a:xfrm>
            <a:off x="344250" y="1403850"/>
            <a:ext cx="84555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Lesson 4 Normalisation</a:t>
            </a:r>
            <a:endParaRPr/>
          </a:p>
        </p:txBody>
      </p:sp>
      <p:sp>
        <p:nvSpPr>
          <p:cNvPr id="44" name="Google Shape;44;p8"/>
          <p:cNvSpPr txBox="1"/>
          <p:nvPr>
            <p:ph idx="1" type="subTitle"/>
          </p:nvPr>
        </p:nvSpPr>
        <p:spPr>
          <a:xfrm>
            <a:off x="344250" y="3550650"/>
            <a:ext cx="49101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 Myran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L4 - </a:t>
            </a:r>
            <a:r>
              <a:rPr lang="en" sz="2800"/>
              <a:t>Syllabus Links</a:t>
            </a:r>
            <a:endParaRPr sz="2800"/>
          </a:p>
        </p:txBody>
      </p:sp>
      <p:sp>
        <p:nvSpPr>
          <p:cNvPr id="50" name="Google Shape;50;p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highlight>
                  <a:schemeClr val="lt1"/>
                </a:highlight>
              </a:rPr>
              <a:t>A3.2.5 Explain the difference between normal forms.</a:t>
            </a:r>
            <a:endParaRPr b="1" sz="1700">
              <a:highlight>
                <a:schemeClr val="lt1"/>
              </a:highlight>
            </a:endParaRPr>
          </a:p>
          <a:p>
            <a:pPr indent="-311150" lvl="0" marL="457200" rtl="0" algn="l">
              <a:spcBef>
                <a:spcPts val="1200"/>
              </a:spcBef>
              <a:spcAft>
                <a:spcPts val="0"/>
              </a:spcAft>
              <a:buSzPts val="1300"/>
              <a:buChar char="●"/>
            </a:pPr>
            <a:r>
              <a:rPr lang="en" sz="1300">
                <a:highlight>
                  <a:schemeClr val="lt1"/>
                </a:highlight>
              </a:rPr>
              <a:t>First normal form (1NF), second normal form (2NF), third normal form (3NF)</a:t>
            </a:r>
            <a:endParaRPr sz="1300">
              <a:highlight>
                <a:schemeClr val="lt1"/>
              </a:highlight>
            </a:endParaRPr>
          </a:p>
          <a:p>
            <a:pPr indent="-311150" lvl="0" marL="457200" rtl="0" algn="l">
              <a:spcBef>
                <a:spcPts val="0"/>
              </a:spcBef>
              <a:spcAft>
                <a:spcPts val="0"/>
              </a:spcAft>
              <a:buSzPts val="1300"/>
              <a:buChar char="●"/>
            </a:pPr>
            <a:r>
              <a:rPr lang="en" sz="1300">
                <a:highlight>
                  <a:schemeClr val="lt1"/>
                </a:highlight>
              </a:rPr>
              <a:t>The terms atomicity, unique identification, functional dependencies, partial-key dependencies, non- key/transitive dependencies</a:t>
            </a:r>
            <a:endParaRPr sz="1300">
              <a:highlight>
                <a:schemeClr val="lt1"/>
              </a:highlight>
            </a:endParaRPr>
          </a:p>
          <a:p>
            <a:pPr indent="-311150" lvl="0" marL="457200" rtl="0" algn="l">
              <a:spcBef>
                <a:spcPts val="0"/>
              </a:spcBef>
              <a:spcAft>
                <a:spcPts val="0"/>
              </a:spcAft>
              <a:buSzPts val="1300"/>
              <a:buChar char="●"/>
            </a:pPr>
            <a:r>
              <a:rPr lang="en" sz="1300">
                <a:highlight>
                  <a:schemeClr val="lt1"/>
                </a:highlight>
              </a:rPr>
              <a:t>Normalization issues can encompass data duplication, missing data, and a range of dependency concerns, including data dependencies, composite key dependencies, transitive dependencies, and multi-valued dependencies.</a:t>
            </a:r>
            <a:endParaRPr sz="1300">
              <a:highlight>
                <a:schemeClr val="lt1"/>
              </a:highlight>
            </a:endParaRPr>
          </a:p>
          <a:p>
            <a:pPr indent="0" lvl="0" marL="0" rtl="0" algn="l">
              <a:spcBef>
                <a:spcPts val="1500"/>
              </a:spcBef>
              <a:spcAft>
                <a:spcPts val="0"/>
              </a:spcAft>
              <a:buNone/>
            </a:pPr>
            <a:r>
              <a:rPr b="1" lang="en" sz="1700">
                <a:highlight>
                  <a:schemeClr val="lt1"/>
                </a:highlight>
              </a:rPr>
              <a:t>A3.2.7 Evaluate the need for denormalizing databases.</a:t>
            </a:r>
            <a:endParaRPr b="1" sz="1700">
              <a:highlight>
                <a:schemeClr val="lt1"/>
              </a:highlight>
            </a:endParaRPr>
          </a:p>
          <a:p>
            <a:pPr indent="-311150" lvl="0" marL="457200" rtl="0" algn="l">
              <a:spcBef>
                <a:spcPts val="1200"/>
              </a:spcBef>
              <a:spcAft>
                <a:spcPts val="0"/>
              </a:spcAft>
              <a:buSzPts val="1300"/>
              <a:buChar char="●"/>
            </a:pPr>
            <a:r>
              <a:rPr lang="en" sz="1300">
                <a:highlight>
                  <a:schemeClr val="lt1"/>
                </a:highlight>
              </a:rPr>
              <a:t>The advantages and disadvantages of normalizing and denormalizing databases</a:t>
            </a:r>
            <a:endParaRPr sz="1300">
              <a:highlight>
                <a:schemeClr val="lt1"/>
              </a:highlight>
            </a:endParaRPr>
          </a:p>
          <a:p>
            <a:pPr indent="-311150" lvl="0" marL="457200" rtl="0" algn="l">
              <a:spcBef>
                <a:spcPts val="0"/>
              </a:spcBef>
              <a:spcAft>
                <a:spcPts val="0"/>
              </a:spcAft>
              <a:buSzPts val="1300"/>
              <a:buChar char="●"/>
            </a:pPr>
            <a:r>
              <a:rPr lang="en" sz="1300">
                <a:highlight>
                  <a:schemeClr val="lt1"/>
                </a:highlight>
              </a:rPr>
              <a:t>Situations where denormalization can enhance performance, particularly in read-intensive applications</a:t>
            </a:r>
            <a:endParaRPr sz="1300">
              <a:highlight>
                <a:schemeClr val="lt1"/>
              </a:highlight>
            </a:endParaRPr>
          </a:p>
          <a:p>
            <a:pPr indent="-311150" lvl="0" marL="457200" rtl="0" algn="l">
              <a:spcBef>
                <a:spcPts val="0"/>
              </a:spcBef>
              <a:spcAft>
                <a:spcPts val="0"/>
              </a:spcAft>
              <a:buSzPts val="1300"/>
              <a:buChar char="●"/>
            </a:pPr>
            <a:r>
              <a:rPr lang="en" sz="1300">
                <a:highlight>
                  <a:schemeClr val="lt1"/>
                </a:highlight>
              </a:rPr>
              <a:t>The balance between straightforward query structures and the risk of data redundancy in denormalized schemas</a:t>
            </a:r>
            <a:endParaRPr b="1" sz="2000"/>
          </a:p>
          <a:p>
            <a:pPr indent="-228600" lvl="0" marL="457200" rtl="0" algn="l">
              <a:spcBef>
                <a:spcPts val="0"/>
              </a:spcBef>
              <a:spcAft>
                <a:spcPts val="0"/>
              </a:spcAft>
              <a:buClr>
                <a:srgbClr val="5C5962"/>
              </a:buClr>
              <a:buSzPts val="2200"/>
              <a:buFont typeface="Roboto"/>
              <a:buNone/>
            </a:pPr>
            <a:r>
              <a:t/>
            </a:r>
            <a:endParaRPr sz="2200">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0"/>
          <p:cNvSpPr txBox="1"/>
          <p:nvPr>
            <p:ph idx="2" type="body"/>
          </p:nvPr>
        </p:nvSpPr>
        <p:spPr>
          <a:xfrm>
            <a:off x="4310700" y="426100"/>
            <a:ext cx="4622100" cy="4203600"/>
          </a:xfrm>
          <a:prstGeom prst="rect">
            <a:avLst/>
          </a:prstGeom>
          <a:noFill/>
          <a:ln>
            <a:noFill/>
          </a:ln>
        </p:spPr>
        <p:txBody>
          <a:bodyPr anchorCtr="0" anchor="ctr" bIns="91425" lIns="91425" spcFirstLastPara="1" rIns="91425" wrap="square" tIns="91425">
            <a:noAutofit/>
          </a:bodyPr>
          <a:lstStyle/>
          <a:p>
            <a:pPr indent="-361950" lvl="0" marL="457200" rtl="0" algn="l">
              <a:spcBef>
                <a:spcPts val="1600"/>
              </a:spcBef>
              <a:spcAft>
                <a:spcPts val="0"/>
              </a:spcAft>
              <a:buClr>
                <a:srgbClr val="FFFFFF"/>
              </a:buClr>
              <a:buSzPts val="2100"/>
              <a:buAutoNum type="arabicPeriod"/>
            </a:pPr>
            <a:r>
              <a:rPr lang="en" sz="2100">
                <a:solidFill>
                  <a:srgbClr val="FFFFFF"/>
                </a:solidFill>
                <a:highlight>
                  <a:srgbClr val="000000"/>
                </a:highlight>
              </a:rPr>
              <a:t>Define the key terms of normalisation, including atomicity, unique identification, functional, partial-key and explain how they relate to data integrity. </a:t>
            </a:r>
            <a:endParaRPr sz="2100">
              <a:solidFill>
                <a:srgbClr val="FFFFFF"/>
              </a:solidFill>
              <a:highlight>
                <a:srgbClr val="000000"/>
              </a:highlight>
            </a:endParaRPr>
          </a:p>
          <a:p>
            <a:pPr indent="-361950" lvl="0" marL="457200" rtl="0" algn="l">
              <a:spcBef>
                <a:spcPts val="0"/>
              </a:spcBef>
              <a:spcAft>
                <a:spcPts val="0"/>
              </a:spcAft>
              <a:buClr>
                <a:srgbClr val="FFFFFF"/>
              </a:buClr>
              <a:buSzPts val="2100"/>
              <a:buAutoNum type="arabicPeriod"/>
            </a:pPr>
            <a:r>
              <a:rPr lang="en" sz="2100">
                <a:solidFill>
                  <a:srgbClr val="FFFFFF"/>
                </a:solidFill>
                <a:highlight>
                  <a:srgbClr val="000000"/>
                </a:highlight>
              </a:rPr>
              <a:t>Apply the rules of 1NF, 2NF, and 3NF to identify and resolve normalisation issues such as data duplication</a:t>
            </a:r>
            <a:endParaRPr sz="2100">
              <a:solidFill>
                <a:srgbClr val="FFFFFF"/>
              </a:solidFill>
              <a:highlight>
                <a:srgbClr val="000000"/>
              </a:highlight>
            </a:endParaRPr>
          </a:p>
          <a:p>
            <a:pPr indent="-361950" lvl="0" marL="457200" rtl="0" algn="l">
              <a:spcBef>
                <a:spcPts val="0"/>
              </a:spcBef>
              <a:spcAft>
                <a:spcPts val="0"/>
              </a:spcAft>
              <a:buClr>
                <a:srgbClr val="FFFFFF"/>
              </a:buClr>
              <a:buSzPts val="2100"/>
              <a:buAutoNum type="arabicPeriod"/>
            </a:pPr>
            <a:r>
              <a:rPr lang="en" sz="2100">
                <a:solidFill>
                  <a:srgbClr val="FFFFFF"/>
                </a:solidFill>
                <a:highlight>
                  <a:srgbClr val="000000"/>
                </a:highlight>
              </a:rPr>
              <a:t>Evaluate the trade-offs between normalisation and denormalisation</a:t>
            </a:r>
            <a:endParaRPr sz="2100">
              <a:solidFill>
                <a:srgbClr val="FFFFFF"/>
              </a:solidFill>
              <a:highlight>
                <a:srgbClr val="000000"/>
              </a:highlight>
            </a:endParaRPr>
          </a:p>
        </p:txBody>
      </p:sp>
      <p:sp>
        <p:nvSpPr>
          <p:cNvPr id="56" name="Google Shape;56;p10"/>
          <p:cNvSpPr txBox="1"/>
          <p:nvPr>
            <p:ph type="title"/>
          </p:nvPr>
        </p:nvSpPr>
        <p:spPr>
          <a:xfrm>
            <a:off x="265500" y="802803"/>
            <a:ext cx="3748500" cy="244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4200"/>
              <a:buNone/>
            </a:pPr>
            <a:r>
              <a:rPr lang="en" sz="3600"/>
              <a:t>Lesson 4 Normalisation</a:t>
            </a:r>
            <a:endParaRPr sz="4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normalisation…</a:t>
            </a:r>
            <a:endParaRPr/>
          </a:p>
        </p:txBody>
      </p:sp>
      <p:sp>
        <p:nvSpPr>
          <p:cNvPr id="62" name="Google Shape;62;p11"/>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3000"/>
              <a:t>…</a:t>
            </a:r>
            <a:r>
              <a:rPr lang="en" sz="3000"/>
              <a:t>represents the process of organising data in a relational database in a way to reduce data </a:t>
            </a:r>
            <a:r>
              <a:rPr b="1" lang="en" sz="3000">
                <a:solidFill>
                  <a:srgbClr val="0000FF"/>
                </a:solidFill>
              </a:rPr>
              <a:t>redundancy </a:t>
            </a:r>
            <a:r>
              <a:rPr lang="en" sz="3000"/>
              <a:t>and to improve </a:t>
            </a:r>
            <a:r>
              <a:rPr b="1" lang="en" sz="3000">
                <a:solidFill>
                  <a:srgbClr val="0000FF"/>
                </a:solidFill>
              </a:rPr>
              <a:t>data integrity</a:t>
            </a:r>
            <a:r>
              <a:rPr lang="en" sz="3000"/>
              <a:t>.</a:t>
            </a:r>
            <a:endParaRPr sz="3000"/>
          </a:p>
        </p:txBody>
      </p:sp>
      <p:pic>
        <p:nvPicPr>
          <p:cNvPr id="63" name="Google Shape;63;p11"/>
          <p:cNvPicPr preferRelativeResize="0"/>
          <p:nvPr/>
        </p:nvPicPr>
        <p:blipFill>
          <a:blip r:embed="rId3">
            <a:alphaModFix/>
          </a:blip>
          <a:stretch>
            <a:fillRect/>
          </a:stretch>
        </p:blipFill>
        <p:spPr>
          <a:xfrm>
            <a:off x="6249700" y="2600275"/>
            <a:ext cx="2407050" cy="24070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Redundancy and Integrity</a:t>
            </a:r>
            <a:endParaRPr/>
          </a:p>
        </p:txBody>
      </p:sp>
      <p:sp>
        <p:nvSpPr>
          <p:cNvPr id="69" name="Google Shape;69;p1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b="1" lang="en" sz="2500">
                <a:solidFill>
                  <a:srgbClr val="0000FF"/>
                </a:solidFill>
              </a:rPr>
              <a:t>Data redundancy </a:t>
            </a:r>
            <a:r>
              <a:rPr lang="en" sz="2500"/>
              <a:t>is reduced as each item of data only occurs in one location in the database. This can reduce the possibility of update anomalies occurring (</a:t>
            </a:r>
            <a:r>
              <a:rPr b="1" lang="en" sz="2500">
                <a:solidFill>
                  <a:srgbClr val="0000FF"/>
                </a:solidFill>
              </a:rPr>
              <a:t>data</a:t>
            </a:r>
            <a:r>
              <a:rPr lang="en" sz="2500"/>
              <a:t> </a:t>
            </a:r>
            <a:r>
              <a:rPr b="1" lang="en" sz="2500">
                <a:solidFill>
                  <a:srgbClr val="0000FF"/>
                </a:solidFill>
              </a:rPr>
              <a:t>integrity</a:t>
            </a:r>
            <a:r>
              <a:rPr lang="en" sz="2500"/>
              <a:t>), and it makes more etticient use of memory .</a:t>
            </a:r>
            <a:endParaRPr sz="2500"/>
          </a:p>
        </p:txBody>
      </p:sp>
      <p:pic>
        <p:nvPicPr>
          <p:cNvPr id="70" name="Google Shape;70;p12"/>
          <p:cNvPicPr preferRelativeResize="0"/>
          <p:nvPr/>
        </p:nvPicPr>
        <p:blipFill>
          <a:blip r:embed="rId3">
            <a:alphaModFix/>
          </a:blip>
          <a:stretch>
            <a:fillRect/>
          </a:stretch>
        </p:blipFill>
        <p:spPr>
          <a:xfrm>
            <a:off x="6366100" y="2803650"/>
            <a:ext cx="2419400" cy="2177450"/>
          </a:xfrm>
          <a:prstGeom prst="rect">
            <a:avLst/>
          </a:prstGeom>
          <a:noFill/>
          <a:ln>
            <a:noFill/>
          </a:ln>
        </p:spPr>
      </p:pic>
      <p:sp>
        <p:nvSpPr>
          <p:cNvPr id="71" name="Google Shape;71;p12"/>
          <p:cNvSpPr txBox="1"/>
          <p:nvPr/>
        </p:nvSpPr>
        <p:spPr>
          <a:xfrm>
            <a:off x="746525" y="2803650"/>
            <a:ext cx="5484900" cy="9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dk2"/>
                </a:solidFill>
                <a:highlight>
                  <a:srgbClr val="F4CCCC"/>
                </a:highlight>
                <a:latin typeface="Questrial"/>
                <a:ea typeface="Questrial"/>
                <a:cs typeface="Questrial"/>
                <a:sym typeface="Questrial"/>
              </a:rPr>
              <a:t>NOTE</a:t>
            </a:r>
            <a:r>
              <a:rPr lang="en" sz="1800">
                <a:solidFill>
                  <a:schemeClr val="dk2"/>
                </a:solidFill>
                <a:highlight>
                  <a:srgbClr val="F4CCCC"/>
                </a:highlight>
                <a:latin typeface="Questrial"/>
                <a:ea typeface="Questrial"/>
                <a:cs typeface="Questrial"/>
                <a:sym typeface="Questrial"/>
              </a:rPr>
              <a:t>: Typically, data redundancy is a good thing, in areas such as disaster recovery as having multiple copies of data means you can safely restore any lost data. Within the DB, however, this is bad!</a:t>
            </a:r>
            <a:endParaRPr sz="1800">
              <a:solidFill>
                <a:schemeClr val="dk2"/>
              </a:solidFill>
              <a:highlight>
                <a:srgbClr val="F4CCCC"/>
              </a:highlight>
              <a:latin typeface="Questrial"/>
              <a:ea typeface="Questrial"/>
              <a:cs typeface="Questrial"/>
              <a:sym typeface="Quest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Normalisation…</a:t>
            </a:r>
            <a:endParaRPr/>
          </a:p>
        </p:txBody>
      </p:sp>
      <p:sp>
        <p:nvSpPr>
          <p:cNvPr id="77" name="Google Shape;77;p1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Char char="●"/>
            </a:pPr>
            <a:r>
              <a:rPr lang="en" sz="2500"/>
              <a:t>L</a:t>
            </a:r>
            <a:r>
              <a:rPr lang="en" sz="2500"/>
              <a:t>eads to smaller tables with less information in each row, which leads to a reduction of input / output transfers</a:t>
            </a:r>
            <a:endParaRPr sz="2500"/>
          </a:p>
          <a:p>
            <a:pPr indent="-387350" lvl="0" marL="457200" rtl="0" algn="l">
              <a:spcBef>
                <a:spcPts val="0"/>
              </a:spcBef>
              <a:spcAft>
                <a:spcPts val="0"/>
              </a:spcAft>
              <a:buSzPts val="2500"/>
              <a:buChar char="●"/>
            </a:pPr>
            <a:r>
              <a:rPr lang="en" sz="2500"/>
              <a:t>CPU can work at full capacity since the likelihood of CPU activities being suspended is reduced. </a:t>
            </a:r>
            <a:endParaRPr sz="2500"/>
          </a:p>
          <a:p>
            <a:pPr indent="-387350" lvl="0" marL="457200" rtl="0" algn="l">
              <a:spcBef>
                <a:spcPts val="0"/>
              </a:spcBef>
              <a:spcAft>
                <a:spcPts val="0"/>
              </a:spcAft>
              <a:buSzPts val="2500"/>
              <a:buChar char="●"/>
            </a:pPr>
            <a:r>
              <a:rPr lang="en" sz="2500"/>
              <a:t>Is achieved through a series of stages called “normal forms”, where each normal form has specific requirements for the table to be normalised at that level.</a:t>
            </a:r>
            <a:endParaRPr sz="2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1NF: What must a table have?</a:t>
            </a:r>
            <a:endParaRPr/>
          </a:p>
        </p:txBody>
      </p:sp>
      <p:sp>
        <p:nvSpPr>
          <p:cNvPr id="83" name="Google Shape;83;p1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2400"/>
              <a:t>For a table to be in First Normal Form (1NF), it must:</a:t>
            </a:r>
            <a:endParaRPr sz="2400"/>
          </a:p>
          <a:p>
            <a:pPr indent="0" lvl="0" marL="457200" rtl="0" algn="l">
              <a:spcBef>
                <a:spcPts val="0"/>
              </a:spcBef>
              <a:spcAft>
                <a:spcPts val="0"/>
              </a:spcAft>
              <a:buClr>
                <a:schemeClr val="dk2"/>
              </a:buClr>
              <a:buSzPts val="1100"/>
              <a:buFont typeface="Arial"/>
              <a:buNone/>
            </a:pPr>
            <a:r>
              <a:rPr lang="en"/>
              <a:t>✓ Have a primary key (identifies each record uniquely)</a:t>
            </a:r>
            <a:endParaRPr/>
          </a:p>
          <a:p>
            <a:pPr indent="0" lvl="0" marL="457200" rtl="0" algn="l">
              <a:spcBef>
                <a:spcPts val="0"/>
              </a:spcBef>
              <a:spcAft>
                <a:spcPts val="0"/>
              </a:spcAft>
              <a:buClr>
                <a:schemeClr val="dk2"/>
              </a:buClr>
              <a:buSzPts val="1100"/>
              <a:buFont typeface="Arial"/>
              <a:buNone/>
            </a:pPr>
            <a:r>
              <a:rPr lang="en"/>
              <a:t>✓ Have no duplicate attributes (each column has unique name)</a:t>
            </a:r>
            <a:endParaRPr/>
          </a:p>
          <a:p>
            <a:pPr indent="0" lvl="0" marL="457200" rtl="0" algn="l">
              <a:spcBef>
                <a:spcPts val="0"/>
              </a:spcBef>
              <a:spcAft>
                <a:spcPts val="0"/>
              </a:spcAft>
              <a:buClr>
                <a:schemeClr val="dk2"/>
              </a:buClr>
              <a:buSzPts val="1100"/>
              <a:buFont typeface="Arial"/>
              <a:buNone/>
            </a:pPr>
            <a:r>
              <a:rPr lang="en"/>
              <a:t>✓ Have no repeating groups (no multiple values in one cell)</a:t>
            </a:r>
            <a:endParaRPr/>
          </a:p>
          <a:p>
            <a:pPr indent="0" lvl="0" marL="457200" rtl="0" algn="l">
              <a:spcBef>
                <a:spcPts val="0"/>
              </a:spcBef>
              <a:spcAft>
                <a:spcPts val="0"/>
              </a:spcAft>
              <a:buClr>
                <a:schemeClr val="dk2"/>
              </a:buClr>
              <a:buSzPts val="1100"/>
              <a:buFont typeface="Arial"/>
              <a:buNone/>
            </a:pPr>
            <a:r>
              <a:rPr lang="en"/>
              <a:t>✓ Have atomic values (data cannot be broken down further)</a:t>
            </a:r>
            <a:endParaRPr/>
          </a:p>
          <a:p>
            <a:pPr indent="0" lvl="0" marL="0" rtl="0" algn="l">
              <a:spcBef>
                <a:spcPts val="0"/>
              </a:spcBef>
              <a:spcAft>
                <a:spcPts val="0"/>
              </a:spcAft>
              <a:buClr>
                <a:schemeClr val="dk2"/>
              </a:buClr>
              <a:buSzPts val="1100"/>
              <a:buFont typeface="Arial"/>
              <a:buNone/>
            </a:pPr>
            <a:r>
              <a:t/>
            </a:r>
            <a:endParaRPr sz="2400"/>
          </a:p>
          <a:p>
            <a:pPr indent="0" lvl="0" marL="0" rtl="0" algn="l">
              <a:spcBef>
                <a:spcPts val="0"/>
              </a:spcBef>
              <a:spcAft>
                <a:spcPts val="0"/>
              </a:spcAft>
              <a:buClr>
                <a:schemeClr val="dk2"/>
              </a:buClr>
              <a:buSzPts val="1100"/>
              <a:buFont typeface="Arial"/>
              <a:buNone/>
            </a:pPr>
            <a:r>
              <a:rPr lang="en" sz="2400"/>
              <a:t>Think: What happens if TeacherName contains "John Smith"?</a:t>
            </a:r>
            <a:endParaRPr sz="2400"/>
          </a:p>
          <a:p>
            <a:pPr indent="0" lvl="0" marL="0" rtl="0" algn="l">
              <a:spcBef>
                <a:spcPts val="0"/>
              </a:spcBef>
              <a:spcAft>
                <a:spcPts val="0"/>
              </a:spcAft>
              <a:buNone/>
            </a:pPr>
            <a:r>
              <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Atomicity: Breaking Down Data</a:t>
            </a:r>
            <a:endParaRPr/>
          </a:p>
        </p:txBody>
      </p:sp>
      <p:sp>
        <p:nvSpPr>
          <p:cNvPr id="89" name="Google Shape;89;p15"/>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800"/>
              <a:t>Atomic = "</a:t>
            </a:r>
            <a:r>
              <a:rPr b="1" lang="en" sz="1800"/>
              <a:t>indivisible</a:t>
            </a:r>
            <a:r>
              <a:rPr lang="en" sz="1800"/>
              <a:t>" - each cell contains a single value</a:t>
            </a:r>
            <a:endParaRPr sz="1800"/>
          </a:p>
          <a:p>
            <a:pPr indent="0" lvl="0" marL="0" rtl="0" algn="l">
              <a:spcBef>
                <a:spcPts val="0"/>
              </a:spcBef>
              <a:spcAft>
                <a:spcPts val="0"/>
              </a:spcAft>
              <a:buClr>
                <a:schemeClr val="dk2"/>
              </a:buClr>
              <a:buSzPts val="1100"/>
              <a:buFont typeface="Arial"/>
              <a:buNone/>
            </a:pPr>
            <a:r>
              <a:t/>
            </a:r>
            <a:endParaRPr sz="1800"/>
          </a:p>
          <a:p>
            <a:pPr indent="0" lvl="0" marL="0" rtl="0" algn="l">
              <a:spcBef>
                <a:spcPts val="0"/>
              </a:spcBef>
              <a:spcAft>
                <a:spcPts val="0"/>
              </a:spcAft>
              <a:buClr>
                <a:schemeClr val="dk2"/>
              </a:buClr>
              <a:buSzPts val="1100"/>
              <a:buFont typeface="Arial"/>
              <a:buNone/>
            </a:pPr>
            <a:r>
              <a:rPr lang="en" sz="1800"/>
              <a:t>NOT Atomic:</a:t>
            </a:r>
            <a:endParaRPr sz="1800"/>
          </a:p>
          <a:p>
            <a:pPr indent="0" lvl="0" marL="0" rtl="0" algn="l">
              <a:spcBef>
                <a:spcPts val="0"/>
              </a:spcBef>
              <a:spcAft>
                <a:spcPts val="0"/>
              </a:spcAft>
              <a:buClr>
                <a:schemeClr val="dk2"/>
              </a:buClr>
              <a:buSzPts val="1100"/>
              <a:buFont typeface="Arial"/>
              <a:buNone/>
            </a:pPr>
            <a:r>
              <a:rPr lang="en" sz="1800"/>
              <a:t>TeacherName: "John Smith" ✗ (can be split into FirstName, LastName)</a:t>
            </a:r>
            <a:endParaRPr sz="1800"/>
          </a:p>
          <a:p>
            <a:pPr indent="0" lvl="0" marL="0" rtl="0" algn="l">
              <a:spcBef>
                <a:spcPts val="0"/>
              </a:spcBef>
              <a:spcAft>
                <a:spcPts val="0"/>
              </a:spcAft>
              <a:buClr>
                <a:schemeClr val="dk2"/>
              </a:buClr>
              <a:buSzPts val="1100"/>
              <a:buFont typeface="Arial"/>
              <a:buNone/>
            </a:pPr>
            <a:r>
              <a:rPr lang="en" sz="1800"/>
              <a:t>PhoneNumbers: "123-4567, 234-5678" ✗ (multiple values)</a:t>
            </a:r>
            <a:endParaRPr sz="1800"/>
          </a:p>
          <a:p>
            <a:pPr indent="0" lvl="0" marL="0" rtl="0" algn="l">
              <a:spcBef>
                <a:spcPts val="0"/>
              </a:spcBef>
              <a:spcAft>
                <a:spcPts val="0"/>
              </a:spcAft>
              <a:buClr>
                <a:schemeClr val="dk2"/>
              </a:buClr>
              <a:buSzPts val="1100"/>
              <a:buFont typeface="Arial"/>
              <a:buNone/>
            </a:pPr>
            <a:r>
              <a:t/>
            </a:r>
            <a:endParaRPr sz="1800"/>
          </a:p>
          <a:p>
            <a:pPr indent="0" lvl="0" marL="0" rtl="0" algn="l">
              <a:spcBef>
                <a:spcPts val="0"/>
              </a:spcBef>
              <a:spcAft>
                <a:spcPts val="0"/>
              </a:spcAft>
              <a:buClr>
                <a:schemeClr val="dk2"/>
              </a:buClr>
              <a:buSzPts val="1100"/>
              <a:buFont typeface="Arial"/>
              <a:buNone/>
            </a:pPr>
            <a:r>
              <a:rPr lang="en" sz="1800"/>
              <a:t>Atomic:</a:t>
            </a:r>
            <a:endParaRPr sz="1800"/>
          </a:p>
          <a:p>
            <a:pPr indent="0" lvl="0" marL="0" rtl="0" algn="l">
              <a:spcBef>
                <a:spcPts val="0"/>
              </a:spcBef>
              <a:spcAft>
                <a:spcPts val="0"/>
              </a:spcAft>
              <a:buClr>
                <a:schemeClr val="dk2"/>
              </a:buClr>
              <a:buSzPts val="1100"/>
              <a:buFont typeface="Arial"/>
              <a:buNone/>
            </a:pPr>
            <a:r>
              <a:rPr lang="en" sz="1800"/>
              <a:t>FirstName: "John" ✓</a:t>
            </a:r>
            <a:endParaRPr sz="1800"/>
          </a:p>
          <a:p>
            <a:pPr indent="0" lvl="0" marL="0" rtl="0" algn="l">
              <a:spcBef>
                <a:spcPts val="0"/>
              </a:spcBef>
              <a:spcAft>
                <a:spcPts val="0"/>
              </a:spcAft>
              <a:buClr>
                <a:schemeClr val="dk2"/>
              </a:buClr>
              <a:buSzPts val="1100"/>
              <a:buFont typeface="Arial"/>
              <a:buNone/>
            </a:pPr>
            <a:r>
              <a:rPr lang="en" sz="1800"/>
              <a:t>LastName: "Smith" ✓</a:t>
            </a:r>
            <a:endParaRPr sz="1800"/>
          </a:p>
          <a:p>
            <a:pPr indent="0" lvl="0" marL="0" rtl="0" algn="l">
              <a:spcBef>
                <a:spcPts val="0"/>
              </a:spcBef>
              <a:spcAft>
                <a:spcPts val="0"/>
              </a:spcAft>
              <a:buClr>
                <a:schemeClr val="dk2"/>
              </a:buClr>
              <a:buSzPts val="1100"/>
              <a:buFont typeface="Arial"/>
              <a:buNone/>
            </a:pPr>
            <a:r>
              <a:rPr lang="en" sz="1800"/>
              <a:t>PhoneNumber: "123-4567" ✓</a:t>
            </a:r>
            <a:endParaRPr sz="1800"/>
          </a:p>
          <a:p>
            <a:pPr indent="0" lvl="0" marL="0" rtl="0" algn="l">
              <a:spcBef>
                <a:spcPts val="0"/>
              </a:spcBef>
              <a:spcAft>
                <a:spcPts val="0"/>
              </a:spcAft>
              <a:buNone/>
            </a:pPr>
            <a:r>
              <a:t/>
            </a:r>
            <a:endParaRPr sz="1800"/>
          </a:p>
        </p:txBody>
      </p:sp>
      <p:sp>
        <p:nvSpPr>
          <p:cNvPr id="90" name="Google Shape;90;p15"/>
          <p:cNvSpPr txBox="1"/>
          <p:nvPr/>
        </p:nvSpPr>
        <p:spPr>
          <a:xfrm>
            <a:off x="4097825" y="3012175"/>
            <a:ext cx="30000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chemeClr val="dk2"/>
                </a:solidFill>
                <a:highlight>
                  <a:srgbClr val="C9DAF8"/>
                </a:highlight>
                <a:latin typeface="Questrial"/>
                <a:ea typeface="Questrial"/>
                <a:cs typeface="Questrial"/>
                <a:sym typeface="Questrial"/>
              </a:rPr>
              <a:t>Question: Why is atomicity important for data integrity?</a:t>
            </a:r>
            <a:endParaRPr b="1" sz="1800">
              <a:solidFill>
                <a:schemeClr val="dk2"/>
              </a:solidFill>
              <a:highlight>
                <a:srgbClr val="C9DAF8"/>
              </a:highlight>
              <a:latin typeface="Questrial"/>
              <a:ea typeface="Questrial"/>
              <a:cs typeface="Questrial"/>
              <a:sym typeface="Quest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Functional Dependencies</a:t>
            </a:r>
            <a:endParaRPr/>
          </a:p>
        </p:txBody>
      </p:sp>
      <p:sp>
        <p:nvSpPr>
          <p:cNvPr id="96" name="Google Shape;96;p16"/>
          <p:cNvSpPr txBox="1"/>
          <p:nvPr>
            <p:ph idx="1" type="body"/>
          </p:nvPr>
        </p:nvSpPr>
        <p:spPr>
          <a:xfrm>
            <a:off x="183775" y="776275"/>
            <a:ext cx="72024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2100"/>
              <a:t>A relationship where one attribute determines another</a:t>
            </a:r>
            <a:endParaRPr sz="2100"/>
          </a:p>
          <a:p>
            <a:pPr indent="0" lvl="0" marL="0" rtl="0" algn="l">
              <a:spcBef>
                <a:spcPts val="0"/>
              </a:spcBef>
              <a:spcAft>
                <a:spcPts val="0"/>
              </a:spcAft>
              <a:buClr>
                <a:schemeClr val="dk2"/>
              </a:buClr>
              <a:buSzPts val="1100"/>
              <a:buFont typeface="Arial"/>
              <a:buNone/>
            </a:pPr>
            <a:r>
              <a:rPr lang="en" sz="2100"/>
              <a:t>Determinant → Dependent</a:t>
            </a:r>
            <a:endParaRPr sz="2100"/>
          </a:p>
          <a:p>
            <a:pPr indent="0" lvl="0" marL="0" rtl="0" algn="l">
              <a:spcBef>
                <a:spcPts val="0"/>
              </a:spcBef>
              <a:spcAft>
                <a:spcPts val="0"/>
              </a:spcAft>
              <a:buClr>
                <a:schemeClr val="dk2"/>
              </a:buClr>
              <a:buSzPts val="1100"/>
              <a:buFont typeface="Arial"/>
              <a:buNone/>
            </a:pPr>
            <a:r>
              <a:t/>
            </a:r>
            <a:endParaRPr sz="2100"/>
          </a:p>
          <a:p>
            <a:pPr indent="0" lvl="0" marL="0" rtl="0" algn="l">
              <a:spcBef>
                <a:spcPts val="0"/>
              </a:spcBef>
              <a:spcAft>
                <a:spcPts val="0"/>
              </a:spcAft>
              <a:buClr>
                <a:schemeClr val="dk2"/>
              </a:buClr>
              <a:buSzPts val="1100"/>
              <a:buFont typeface="Arial"/>
              <a:buNone/>
            </a:pPr>
            <a:r>
              <a:rPr lang="en" sz="2100"/>
              <a:t>Example (STUDENT table):</a:t>
            </a:r>
            <a:endParaRPr sz="2100"/>
          </a:p>
          <a:p>
            <a:pPr indent="0" lvl="0" marL="0" rtl="0" algn="l">
              <a:spcBef>
                <a:spcPts val="0"/>
              </a:spcBef>
              <a:spcAft>
                <a:spcPts val="0"/>
              </a:spcAft>
              <a:buClr>
                <a:schemeClr val="dk2"/>
              </a:buClr>
              <a:buSzPts val="1100"/>
              <a:buFont typeface="Arial"/>
              <a:buNone/>
            </a:pPr>
            <a:r>
              <a:rPr lang="en" sz="2100"/>
              <a:t>StudentID → FirstName, LastName, DateOfBirth, Email</a:t>
            </a:r>
            <a:endParaRPr sz="2100"/>
          </a:p>
          <a:p>
            <a:pPr indent="0" lvl="0" marL="0" rtl="0" algn="l">
              <a:spcBef>
                <a:spcPts val="0"/>
              </a:spcBef>
              <a:spcAft>
                <a:spcPts val="0"/>
              </a:spcAft>
              <a:buClr>
                <a:schemeClr val="dk2"/>
              </a:buClr>
              <a:buSzPts val="1100"/>
              <a:buFont typeface="Arial"/>
              <a:buNone/>
            </a:pPr>
            <a:r>
              <a:rPr lang="en" sz="2100"/>
              <a:t>Types of Functional Dependencies:</a:t>
            </a:r>
            <a:endParaRPr sz="2100"/>
          </a:p>
          <a:p>
            <a:pPr indent="0" lvl="0" marL="457200" rtl="0" algn="l">
              <a:spcBef>
                <a:spcPts val="0"/>
              </a:spcBef>
              <a:spcAft>
                <a:spcPts val="0"/>
              </a:spcAft>
              <a:buClr>
                <a:schemeClr val="dk2"/>
              </a:buClr>
              <a:buSzPts val="1100"/>
              <a:buFont typeface="Arial"/>
              <a:buNone/>
            </a:pPr>
            <a:r>
              <a:rPr lang="en" sz="1900"/>
              <a:t>1. </a:t>
            </a:r>
            <a:r>
              <a:rPr b="1" lang="en" sz="1900"/>
              <a:t>Full</a:t>
            </a:r>
            <a:r>
              <a:rPr lang="en" sz="1900"/>
              <a:t>: Dependent fully determined by determinant</a:t>
            </a:r>
            <a:endParaRPr sz="1900"/>
          </a:p>
          <a:p>
            <a:pPr indent="0" lvl="0" marL="457200" rtl="0" algn="l">
              <a:spcBef>
                <a:spcPts val="0"/>
              </a:spcBef>
              <a:spcAft>
                <a:spcPts val="0"/>
              </a:spcAft>
              <a:buClr>
                <a:schemeClr val="dk2"/>
              </a:buClr>
              <a:buSzPts val="1100"/>
              <a:buFont typeface="Arial"/>
              <a:buNone/>
            </a:pPr>
            <a:r>
              <a:rPr lang="en" sz="1900"/>
              <a:t>2. </a:t>
            </a:r>
            <a:r>
              <a:rPr b="1" lang="en" sz="1900"/>
              <a:t>Partial</a:t>
            </a:r>
            <a:r>
              <a:rPr lang="en" sz="1900"/>
              <a:t>: Dependent only partially determined (problem in composite keys)</a:t>
            </a:r>
            <a:endParaRPr sz="1900"/>
          </a:p>
          <a:p>
            <a:pPr indent="0" lvl="0" marL="457200" rtl="0" algn="l">
              <a:spcBef>
                <a:spcPts val="0"/>
              </a:spcBef>
              <a:spcAft>
                <a:spcPts val="0"/>
              </a:spcAft>
              <a:buClr>
                <a:schemeClr val="dk2"/>
              </a:buClr>
              <a:buSzPts val="1100"/>
              <a:buFont typeface="Arial"/>
              <a:buNone/>
            </a:pPr>
            <a:r>
              <a:rPr lang="en" sz="1900"/>
              <a:t>3. </a:t>
            </a:r>
            <a:r>
              <a:rPr b="1" lang="en" sz="1900"/>
              <a:t>Transitive</a:t>
            </a:r>
            <a:r>
              <a:rPr lang="en" sz="1900"/>
              <a:t>: Non-key depends on another non-key</a:t>
            </a:r>
            <a:endParaRPr sz="1900"/>
          </a:p>
        </p:txBody>
      </p:sp>
      <p:sp>
        <p:nvSpPr>
          <p:cNvPr id="97" name="Google Shape;97;p16"/>
          <p:cNvSpPr txBox="1"/>
          <p:nvPr/>
        </p:nvSpPr>
        <p:spPr>
          <a:xfrm>
            <a:off x="6993675" y="178222"/>
            <a:ext cx="2078100" cy="215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900">
                <a:solidFill>
                  <a:schemeClr val="dk2"/>
                </a:solidFill>
                <a:highlight>
                  <a:srgbClr val="C9DAF8"/>
                </a:highlight>
                <a:latin typeface="Questrial"/>
                <a:ea typeface="Questrial"/>
                <a:cs typeface="Questrial"/>
                <a:sym typeface="Questrial"/>
              </a:rPr>
              <a:t>Discuss</a:t>
            </a:r>
            <a:r>
              <a:rPr lang="en" sz="1900">
                <a:solidFill>
                  <a:schemeClr val="dk2"/>
                </a:solidFill>
                <a:highlight>
                  <a:srgbClr val="C9DAF8"/>
                </a:highlight>
                <a:latin typeface="Questrial"/>
                <a:ea typeface="Questrial"/>
                <a:cs typeface="Questrial"/>
                <a:sym typeface="Questrial"/>
              </a:rPr>
              <a:t>: In pairs, identify the functional dependency in your TEACHER table</a:t>
            </a:r>
            <a:endParaRPr sz="1900">
              <a:solidFill>
                <a:schemeClr val="dk2"/>
              </a:solidFill>
              <a:highlight>
                <a:srgbClr val="C9DAF8"/>
              </a:highlight>
              <a:latin typeface="Questrial"/>
              <a:ea typeface="Questrial"/>
              <a:cs typeface="Questrial"/>
              <a:sym typeface="Quest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for Understanding: 1NF</a:t>
            </a:r>
            <a:endParaRPr/>
          </a:p>
        </p:txBody>
      </p:sp>
      <p:sp>
        <p:nvSpPr>
          <p:cNvPr id="103" name="Google Shape;103;p17"/>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800"/>
              <a:t>Answer these questions (Think-Pair-Share):</a:t>
            </a:r>
            <a:endParaRPr sz="1800"/>
          </a:p>
          <a:p>
            <a:pPr indent="0" lvl="0" marL="0" rtl="0" algn="l">
              <a:spcBef>
                <a:spcPts val="0"/>
              </a:spcBef>
              <a:spcAft>
                <a:spcPts val="0"/>
              </a:spcAft>
              <a:buClr>
                <a:schemeClr val="dk2"/>
              </a:buClr>
              <a:buSzPts val="1100"/>
              <a:buFont typeface="Arial"/>
              <a:buNone/>
            </a:pPr>
            <a:r>
              <a:t/>
            </a:r>
            <a:endParaRPr sz="1800"/>
          </a:p>
          <a:p>
            <a:pPr indent="0" lvl="0" marL="0" rtl="0" algn="l">
              <a:spcBef>
                <a:spcPts val="0"/>
              </a:spcBef>
              <a:spcAft>
                <a:spcPts val="0"/>
              </a:spcAft>
              <a:buClr>
                <a:schemeClr val="dk2"/>
              </a:buClr>
              <a:buSzPts val="1100"/>
              <a:buFont typeface="Arial"/>
              <a:buNone/>
            </a:pPr>
            <a:r>
              <a:rPr lang="en" sz="1800"/>
              <a:t>1. Which of these violates 1NF?</a:t>
            </a:r>
            <a:endParaRPr sz="1800"/>
          </a:p>
          <a:p>
            <a:pPr indent="0" lvl="0" marL="0" rtl="0" algn="l">
              <a:spcBef>
                <a:spcPts val="0"/>
              </a:spcBef>
              <a:spcAft>
                <a:spcPts val="0"/>
              </a:spcAft>
              <a:buClr>
                <a:schemeClr val="dk2"/>
              </a:buClr>
              <a:buSzPts val="1100"/>
              <a:buFont typeface="Arial"/>
              <a:buNone/>
            </a:pPr>
            <a:r>
              <a:rPr lang="en" sz="1800"/>
              <a:t>   a) StudentID: 12345</a:t>
            </a:r>
            <a:endParaRPr sz="1800"/>
          </a:p>
          <a:p>
            <a:pPr indent="0" lvl="0" marL="0" rtl="0" algn="l">
              <a:spcBef>
                <a:spcPts val="0"/>
              </a:spcBef>
              <a:spcAft>
                <a:spcPts val="0"/>
              </a:spcAft>
              <a:buClr>
                <a:schemeClr val="dk2"/>
              </a:buClr>
              <a:buSzPts val="1100"/>
              <a:buFont typeface="Arial"/>
              <a:buNone/>
            </a:pPr>
            <a:r>
              <a:rPr lang="en" sz="1800"/>
              <a:t>   b) Courses: "Math, Science, English"</a:t>
            </a:r>
            <a:endParaRPr sz="1800"/>
          </a:p>
          <a:p>
            <a:pPr indent="0" lvl="0" marL="0" rtl="0" algn="l">
              <a:spcBef>
                <a:spcPts val="0"/>
              </a:spcBef>
              <a:spcAft>
                <a:spcPts val="0"/>
              </a:spcAft>
              <a:buClr>
                <a:schemeClr val="dk2"/>
              </a:buClr>
              <a:buSzPts val="1100"/>
              <a:buFont typeface="Arial"/>
              <a:buNone/>
            </a:pPr>
            <a:r>
              <a:rPr lang="en" sz="1800"/>
              <a:t>   c) Age: 16</a:t>
            </a:r>
            <a:endParaRPr sz="1800"/>
          </a:p>
          <a:p>
            <a:pPr indent="0" lvl="0" marL="0" rtl="0" algn="l">
              <a:spcBef>
                <a:spcPts val="0"/>
              </a:spcBef>
              <a:spcAft>
                <a:spcPts val="0"/>
              </a:spcAft>
              <a:buClr>
                <a:schemeClr val="dk2"/>
              </a:buClr>
              <a:buSzPts val="1100"/>
              <a:buFont typeface="Arial"/>
              <a:buNone/>
            </a:pPr>
            <a:r>
              <a:rPr lang="en" sz="1800"/>
              <a:t>2. True or False: "Maria Rodriguez" is atomic data</a:t>
            </a:r>
            <a:endParaRPr sz="1800"/>
          </a:p>
          <a:p>
            <a:pPr indent="0" lvl="0" marL="0" rtl="0" algn="l">
              <a:spcBef>
                <a:spcPts val="0"/>
              </a:spcBef>
              <a:spcAft>
                <a:spcPts val="0"/>
              </a:spcAft>
              <a:buClr>
                <a:schemeClr val="dk2"/>
              </a:buClr>
              <a:buSzPts val="1100"/>
              <a:buFont typeface="Arial"/>
              <a:buNone/>
            </a:pPr>
            <a:r>
              <a:rPr lang="en" sz="1800"/>
              <a:t>3. What makes this problematic: TeacherSubjects: "Math, Physics"?</a:t>
            </a:r>
            <a:endParaRPr sz="1800"/>
          </a:p>
          <a:p>
            <a:pPr indent="0" lvl="0" marL="0" rtl="0" algn="l">
              <a:spcBef>
                <a:spcPts val="0"/>
              </a:spcBef>
              <a:spcAft>
                <a:spcPts val="0"/>
              </a:spcAft>
              <a:buClr>
                <a:schemeClr val="dk2"/>
              </a:buClr>
              <a:buSzPts val="1100"/>
              <a:buFont typeface="Arial"/>
              <a:buNone/>
            </a:pPr>
            <a:r>
              <a:rPr lang="en" sz="1800"/>
              <a:t>4. Give an example of a functional dependency from a COURSE table</a:t>
            </a:r>
            <a:endParaRPr sz="1800"/>
          </a:p>
          <a:p>
            <a:pPr indent="0" lvl="0" marL="0" rtl="0" algn="l">
              <a:spcBef>
                <a:spcPts val="0"/>
              </a:spcBef>
              <a:spcAft>
                <a:spcPts val="0"/>
              </a:spcAft>
              <a:buClr>
                <a:schemeClr val="dk2"/>
              </a:buClr>
              <a:buSzPts val="1100"/>
              <a:buFont typeface="Arial"/>
              <a:buNone/>
            </a:pPr>
            <a:r>
              <a:t/>
            </a:r>
            <a:endParaRPr sz="1800"/>
          </a:p>
          <a:p>
            <a:pPr indent="0" lvl="0" marL="0" rtl="0" algn="l">
              <a:spcBef>
                <a:spcPts val="0"/>
              </a:spcBef>
              <a:spcAft>
                <a:spcPts val="0"/>
              </a:spcAft>
              <a:buClr>
                <a:schemeClr val="dk2"/>
              </a:buClr>
              <a:buSzPts val="1100"/>
              <a:buFont typeface="Arial"/>
              <a:buNone/>
            </a:pPr>
            <a:r>
              <a:rPr lang="en" sz="1800"/>
              <a:t>Be prepared to explain your reasoning!</a:t>
            </a:r>
            <a:endParaRPr sz="1800"/>
          </a:p>
          <a:p>
            <a:pPr indent="0" lvl="0" marL="0" rtl="0" algn="l">
              <a:spcBef>
                <a:spcPts val="0"/>
              </a:spcBef>
              <a:spcAft>
                <a:spcPts val="0"/>
              </a:spcAft>
              <a:buNone/>
            </a:pPr>
            <a:r>
              <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ANSWERS</a:t>
            </a:r>
            <a:endParaRPr/>
          </a:p>
        </p:txBody>
      </p:sp>
      <p:sp>
        <p:nvSpPr>
          <p:cNvPr id="109" name="Google Shape;109;p1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2"/>
              </a:buClr>
              <a:buSzPts val="1100"/>
              <a:buFont typeface="Arial"/>
              <a:buNone/>
            </a:pPr>
            <a:r>
              <a:rPr lang="en" sz="1600">
                <a:solidFill>
                  <a:srgbClr val="FF0000"/>
                </a:solidFill>
              </a:rPr>
              <a:t>1. Which violates 1NF? → b) Courses: "Math, Science, English"</a:t>
            </a:r>
            <a:br>
              <a:rPr lang="en" sz="1600">
                <a:solidFill>
                  <a:srgbClr val="FF0000"/>
                </a:solidFill>
              </a:rPr>
            </a:br>
            <a:r>
              <a:rPr lang="en" sz="1600">
                <a:solidFill>
                  <a:srgbClr val="FF0000"/>
                </a:solidFill>
              </a:rPr>
              <a:t>This cell contains multiple values in a single field, violating the atomicity rule of 1NF. Options a) and c) are single, indivisible values and are fine.</a:t>
            </a:r>
            <a:endParaRPr sz="1600">
              <a:solidFill>
                <a:srgbClr val="FF0000"/>
              </a:solidFill>
            </a:endParaRPr>
          </a:p>
          <a:p>
            <a:pPr indent="0" lvl="0" marL="0" rtl="0" algn="l">
              <a:spcBef>
                <a:spcPts val="1200"/>
              </a:spcBef>
              <a:spcAft>
                <a:spcPts val="0"/>
              </a:spcAft>
              <a:buClr>
                <a:schemeClr val="dk2"/>
              </a:buClr>
              <a:buSzPts val="1100"/>
              <a:buFont typeface="Arial"/>
              <a:buNone/>
            </a:pPr>
            <a:r>
              <a:rPr lang="en" sz="1600">
                <a:solidFill>
                  <a:srgbClr val="FF0000"/>
                </a:solidFill>
              </a:rPr>
              <a:t>2. True or False: "Maria Rodriguez" is atomic data → False</a:t>
            </a:r>
            <a:br>
              <a:rPr lang="en" sz="1600">
                <a:solidFill>
                  <a:srgbClr val="FF0000"/>
                </a:solidFill>
              </a:rPr>
            </a:br>
            <a:r>
              <a:rPr lang="en" sz="1600">
                <a:solidFill>
                  <a:srgbClr val="FF0000"/>
                </a:solidFill>
              </a:rPr>
              <a:t>"Maria Rodriguez" can be broken down further into </a:t>
            </a:r>
            <a:r>
              <a:rPr lang="en" sz="1450">
                <a:solidFill>
                  <a:srgbClr val="FF0000"/>
                </a:solidFill>
              </a:rPr>
              <a:t>FirstName: "Maria"</a:t>
            </a:r>
            <a:r>
              <a:rPr lang="en" sz="1600">
                <a:solidFill>
                  <a:srgbClr val="FF0000"/>
                </a:solidFill>
              </a:rPr>
              <a:t> and </a:t>
            </a:r>
            <a:r>
              <a:rPr lang="en" sz="1450">
                <a:solidFill>
                  <a:srgbClr val="FF0000"/>
                </a:solidFill>
              </a:rPr>
              <a:t>LastName: "Rodriguez"</a:t>
            </a:r>
            <a:r>
              <a:rPr lang="en" sz="1600">
                <a:solidFill>
                  <a:srgbClr val="FF0000"/>
                </a:solidFill>
              </a:rPr>
              <a:t>. To satisfy atomicity (and therefore 1NF), these should be stored in separate columns.</a:t>
            </a:r>
            <a:endParaRPr sz="1600">
              <a:solidFill>
                <a:srgbClr val="FF0000"/>
              </a:solidFill>
            </a:endParaRPr>
          </a:p>
          <a:p>
            <a:pPr indent="0" lvl="0" marL="0" rtl="0" algn="l">
              <a:spcBef>
                <a:spcPts val="1200"/>
              </a:spcBef>
              <a:spcAft>
                <a:spcPts val="600"/>
              </a:spcAft>
              <a:buNone/>
            </a:pPr>
            <a:r>
              <a:rPr lang="en" sz="1600">
                <a:solidFill>
                  <a:srgbClr val="FF0000"/>
                </a:solidFill>
              </a:rPr>
              <a:t>3. What makes TeacherSubjects: "Math, Physics" problematic?</a:t>
            </a:r>
            <a:br>
              <a:rPr lang="en" sz="1600">
                <a:solidFill>
                  <a:srgbClr val="FF0000"/>
                </a:solidFill>
              </a:rPr>
            </a:br>
            <a:r>
              <a:rPr lang="en" sz="1600">
                <a:solidFill>
                  <a:srgbClr val="FF0000"/>
                </a:solidFill>
              </a:rPr>
              <a:t>It stores multiple values in one cell (a repeating group), which violates 1NF. This makes it impossible to query, sort, or filter individual subjects without parsing the string. The fix is to split into separate rows, e.g. one row per subject per teacher.</a:t>
            </a:r>
            <a:endParaRPr sz="27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ANSWERS</a:t>
            </a:r>
            <a:endParaRPr/>
          </a:p>
        </p:txBody>
      </p:sp>
      <p:sp>
        <p:nvSpPr>
          <p:cNvPr id="115" name="Google Shape;115;p1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700">
                <a:solidFill>
                  <a:srgbClr val="FF0000"/>
                </a:solidFill>
              </a:rPr>
              <a:t>4. Example functional dependency from a COURSE table:</a:t>
            </a:r>
            <a:endParaRPr sz="1700">
              <a:solidFill>
                <a:srgbClr val="FF0000"/>
              </a:solidFill>
            </a:endParaRPr>
          </a:p>
          <a:p>
            <a:pPr indent="0" lvl="0" marL="0" rtl="0" algn="l">
              <a:spcBef>
                <a:spcPts val="2400"/>
              </a:spcBef>
              <a:spcAft>
                <a:spcPts val="0"/>
              </a:spcAft>
              <a:buNone/>
            </a:pPr>
            <a:r>
              <a:rPr lang="en" sz="1550">
                <a:solidFill>
                  <a:srgbClr val="FF0000"/>
                </a:solidFill>
              </a:rPr>
              <a:t>CourseID → CourseName, TeacherID, RoomNumber</a:t>
            </a:r>
            <a:endParaRPr sz="1550">
              <a:solidFill>
                <a:srgbClr val="FF0000"/>
              </a:solidFill>
            </a:endParaRPr>
          </a:p>
          <a:p>
            <a:pPr indent="0" lvl="0" marL="0" rtl="0" algn="l">
              <a:spcBef>
                <a:spcPts val="2400"/>
              </a:spcBef>
              <a:spcAft>
                <a:spcPts val="0"/>
              </a:spcAft>
              <a:buNone/>
            </a:pPr>
            <a:r>
              <a:rPr lang="en" sz="1550">
                <a:solidFill>
                  <a:srgbClr val="FF0000"/>
                </a:solidFill>
              </a:rPr>
              <a:t>CourseID</a:t>
            </a:r>
            <a:r>
              <a:rPr lang="en" sz="1700">
                <a:solidFill>
                  <a:srgbClr val="FF0000"/>
                </a:solidFill>
              </a:rPr>
              <a:t> is the determinant — knowing the </a:t>
            </a:r>
            <a:r>
              <a:rPr lang="en" sz="1550">
                <a:solidFill>
                  <a:srgbClr val="FF0000"/>
                </a:solidFill>
              </a:rPr>
              <a:t>CourseID</a:t>
            </a:r>
            <a:r>
              <a:rPr lang="en" sz="1700">
                <a:solidFill>
                  <a:srgbClr val="FF0000"/>
                </a:solidFill>
              </a:rPr>
              <a:t> uniquely determines all other attributes in the COURSE table. Students could also suggest:</a:t>
            </a:r>
            <a:endParaRPr sz="1700">
              <a:solidFill>
                <a:srgbClr val="FF0000"/>
              </a:solidFill>
            </a:endParaRPr>
          </a:p>
          <a:p>
            <a:pPr indent="-336550" lvl="0" marL="457200" rtl="0" algn="l">
              <a:spcBef>
                <a:spcPts val="600"/>
              </a:spcBef>
              <a:spcAft>
                <a:spcPts val="0"/>
              </a:spcAft>
              <a:buClr>
                <a:srgbClr val="FF0000"/>
              </a:buClr>
              <a:buSzPts val="1700"/>
              <a:buFont typeface="Questrial"/>
              <a:buChar char="●"/>
            </a:pPr>
            <a:r>
              <a:rPr lang="en" sz="1550">
                <a:solidFill>
                  <a:srgbClr val="FF0000"/>
                </a:solidFill>
              </a:rPr>
              <a:t>CourseID → CourseName</a:t>
            </a:r>
            <a:endParaRPr sz="1550">
              <a:solidFill>
                <a:srgbClr val="FF0000"/>
              </a:solidFill>
            </a:endParaRPr>
          </a:p>
          <a:p>
            <a:pPr indent="-336550" lvl="0" marL="457200" rtl="0" algn="l">
              <a:spcBef>
                <a:spcPts val="0"/>
              </a:spcBef>
              <a:spcAft>
                <a:spcPts val="0"/>
              </a:spcAft>
              <a:buClr>
                <a:srgbClr val="FF0000"/>
              </a:buClr>
              <a:buSzPts val="1700"/>
              <a:buFont typeface="Questrial"/>
              <a:buChar char="●"/>
            </a:pPr>
            <a:r>
              <a:rPr lang="en" sz="1550">
                <a:solidFill>
                  <a:srgbClr val="FF0000"/>
                </a:solidFill>
              </a:rPr>
              <a:t>CourseID → TeacherID</a:t>
            </a:r>
            <a:endParaRPr sz="1550">
              <a:solidFill>
                <a:srgbClr val="FF0000"/>
              </a:solidFill>
            </a:endParaRPr>
          </a:p>
          <a:p>
            <a:pPr indent="0" lvl="0" marL="0" rtl="0" algn="l">
              <a:spcBef>
                <a:spcPts val="600"/>
              </a:spcBef>
              <a:spcAft>
                <a:spcPts val="0"/>
              </a:spcAft>
              <a:buNone/>
            </a:pPr>
            <a:r>
              <a:rPr lang="en" sz="1700">
                <a:solidFill>
                  <a:srgbClr val="FF0000"/>
                </a:solidFill>
              </a:rPr>
              <a:t>Both are valid partial examples of the same full functional dependency.</a:t>
            </a:r>
            <a:endParaRPr sz="1700">
              <a:solidFill>
                <a:srgbClr val="FF0000"/>
              </a:solidFill>
            </a:endParaRPr>
          </a:p>
          <a:p>
            <a:pPr indent="0" lvl="0" marL="0" rtl="0" algn="l">
              <a:spcBef>
                <a:spcPts val="600"/>
              </a:spcBef>
              <a:spcAft>
                <a:spcPts val="0"/>
              </a:spcAft>
              <a:buNone/>
            </a:pPr>
            <a:r>
              <a:t/>
            </a:r>
            <a:endParaRPr sz="28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Second Normal Form (2NF)</a:t>
            </a:r>
            <a:endParaRPr/>
          </a:p>
        </p:txBody>
      </p:sp>
      <p:sp>
        <p:nvSpPr>
          <p:cNvPr id="121" name="Google Shape;121;p20"/>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800"/>
              <a:t>Building on 1NF - A table is in 2NF if:</a:t>
            </a:r>
            <a:endParaRPr sz="1800"/>
          </a:p>
          <a:p>
            <a:pPr indent="0" lvl="0" marL="0" rtl="0" algn="l">
              <a:spcBef>
                <a:spcPts val="0"/>
              </a:spcBef>
              <a:spcAft>
                <a:spcPts val="0"/>
              </a:spcAft>
              <a:buClr>
                <a:schemeClr val="dk2"/>
              </a:buClr>
              <a:buSzPts val="1100"/>
              <a:buFont typeface="Arial"/>
              <a:buNone/>
            </a:pPr>
            <a:r>
              <a:t/>
            </a:r>
            <a:endParaRPr sz="1800"/>
          </a:p>
          <a:p>
            <a:pPr indent="0" lvl="0" marL="0" rtl="0" algn="l">
              <a:spcBef>
                <a:spcPts val="0"/>
              </a:spcBef>
              <a:spcAft>
                <a:spcPts val="0"/>
              </a:spcAft>
              <a:buClr>
                <a:schemeClr val="dk2"/>
              </a:buClr>
              <a:buSzPts val="1100"/>
              <a:buFont typeface="Arial"/>
              <a:buNone/>
            </a:pPr>
            <a:r>
              <a:rPr lang="en" sz="1800">
                <a:highlight>
                  <a:srgbClr val="D9EAD3"/>
                </a:highlight>
              </a:rPr>
              <a:t>✓ It is already in 1NF (meets all 1NF requirements)</a:t>
            </a:r>
            <a:endParaRPr sz="1800">
              <a:highlight>
                <a:srgbClr val="D9EAD3"/>
              </a:highlight>
            </a:endParaRPr>
          </a:p>
          <a:p>
            <a:pPr indent="0" lvl="0" marL="0" rtl="0" algn="l">
              <a:spcBef>
                <a:spcPts val="0"/>
              </a:spcBef>
              <a:spcAft>
                <a:spcPts val="0"/>
              </a:spcAft>
              <a:buClr>
                <a:schemeClr val="dk2"/>
              </a:buClr>
              <a:buSzPts val="1100"/>
              <a:buFont typeface="Arial"/>
              <a:buNone/>
            </a:pPr>
            <a:r>
              <a:rPr lang="en" sz="1800">
                <a:highlight>
                  <a:srgbClr val="D9EAD3"/>
                </a:highlight>
              </a:rPr>
              <a:t>✓ All non-key attributes are FULLY functionally dependent on the PRIMARY KEY</a:t>
            </a:r>
            <a:endParaRPr sz="1800">
              <a:highlight>
                <a:srgbClr val="D9EAD3"/>
              </a:highlight>
            </a:endParaRPr>
          </a:p>
          <a:p>
            <a:pPr indent="0" lvl="0" marL="0" rtl="0" algn="l">
              <a:spcBef>
                <a:spcPts val="0"/>
              </a:spcBef>
              <a:spcAft>
                <a:spcPts val="0"/>
              </a:spcAft>
              <a:buClr>
                <a:schemeClr val="dk2"/>
              </a:buClr>
              <a:buSzPts val="1100"/>
              <a:buFont typeface="Arial"/>
              <a:buNone/>
            </a:pPr>
            <a:r>
              <a:rPr lang="en" sz="1800">
                <a:highlight>
                  <a:srgbClr val="F4CCCC"/>
                </a:highlight>
              </a:rPr>
              <a:t>✗ No partial dependencies (when using composite keys)</a:t>
            </a:r>
            <a:endParaRPr sz="1800">
              <a:highlight>
                <a:srgbClr val="F4CCCC"/>
              </a:highlight>
            </a:endParaRPr>
          </a:p>
          <a:p>
            <a:pPr indent="0" lvl="0" marL="0" rtl="0" algn="l">
              <a:spcBef>
                <a:spcPts val="0"/>
              </a:spcBef>
              <a:spcAft>
                <a:spcPts val="0"/>
              </a:spcAft>
              <a:buClr>
                <a:schemeClr val="dk2"/>
              </a:buClr>
              <a:buSzPts val="1100"/>
              <a:buFont typeface="Arial"/>
              <a:buNone/>
            </a:pPr>
            <a:r>
              <a:rPr b="1" lang="en" sz="1800"/>
              <a:t>Key Problem: Partial Dependency</a:t>
            </a:r>
            <a:endParaRPr b="1" sz="1800"/>
          </a:p>
          <a:p>
            <a:pPr indent="0" lvl="0" marL="0" rtl="0" algn="l">
              <a:spcBef>
                <a:spcPts val="0"/>
              </a:spcBef>
              <a:spcAft>
                <a:spcPts val="0"/>
              </a:spcAft>
              <a:buClr>
                <a:schemeClr val="dk2"/>
              </a:buClr>
              <a:buSzPts val="1100"/>
              <a:buFont typeface="Arial"/>
              <a:buNone/>
            </a:pPr>
            <a:r>
              <a:rPr lang="en" sz="1800"/>
              <a:t>- Occurs when non-key attributes depend on PART of a composite key</a:t>
            </a:r>
            <a:endParaRPr sz="1800"/>
          </a:p>
          <a:p>
            <a:pPr indent="0" lvl="0" marL="0" rtl="0" algn="l">
              <a:spcBef>
                <a:spcPts val="0"/>
              </a:spcBef>
              <a:spcAft>
                <a:spcPts val="0"/>
              </a:spcAft>
              <a:buClr>
                <a:schemeClr val="dk2"/>
              </a:buClr>
              <a:buSzPts val="1100"/>
              <a:buFont typeface="Arial"/>
              <a:buNone/>
            </a:pPr>
            <a:r>
              <a:rPr lang="en" sz="1800"/>
              <a:t>- Solution: Split the table!</a:t>
            </a:r>
            <a:endParaRPr sz="1800"/>
          </a:p>
          <a:p>
            <a:pPr indent="0" lvl="0" marL="0" rtl="0" algn="l">
              <a:spcBef>
                <a:spcPts val="0"/>
              </a:spcBef>
              <a:spcAft>
                <a:spcPts val="0"/>
              </a:spcAft>
              <a:buClr>
                <a:schemeClr val="dk2"/>
              </a:buClr>
              <a:buSzPts val="1100"/>
              <a:buFont typeface="Arial"/>
              <a:buNone/>
            </a:pPr>
            <a:r>
              <a:t/>
            </a:r>
            <a:endParaRPr sz="1800"/>
          </a:p>
          <a:p>
            <a:pPr indent="0" lvl="0" marL="0" rtl="0" algn="l">
              <a:spcBef>
                <a:spcPts val="0"/>
              </a:spcBef>
              <a:spcAft>
                <a:spcPts val="0"/>
              </a:spcAft>
              <a:buClr>
                <a:schemeClr val="dk2"/>
              </a:buClr>
              <a:buSzPts val="1100"/>
              <a:buFont typeface="Arial"/>
              <a:buNone/>
            </a:pPr>
            <a:r>
              <a:rPr b="1" lang="en" sz="1800">
                <a:highlight>
                  <a:srgbClr val="C9DAF8"/>
                </a:highlight>
              </a:rPr>
              <a:t>Question</a:t>
            </a:r>
            <a:r>
              <a:rPr lang="en" sz="1800">
                <a:highlight>
                  <a:srgbClr val="C9DAF8"/>
                </a:highlight>
              </a:rPr>
              <a:t>: Why is this a problem for data integrity and redundancy?</a:t>
            </a:r>
            <a:endParaRPr sz="1800">
              <a:highlight>
                <a:srgbClr val="C9DAF8"/>
              </a:highlight>
            </a:endParaRPr>
          </a:p>
          <a:p>
            <a:pPr indent="0" lvl="0" marL="0" rtl="0" algn="l">
              <a:spcBef>
                <a:spcPts val="0"/>
              </a:spcBef>
              <a:spcAft>
                <a:spcPts val="0"/>
              </a:spcAft>
              <a:buNone/>
            </a:pPr>
            <a:r>
              <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2NF Example: CLUB Table Problem</a:t>
            </a:r>
            <a:endParaRPr/>
          </a:p>
        </p:txBody>
      </p:sp>
      <p:sp>
        <p:nvSpPr>
          <p:cNvPr id="127" name="Google Shape;127;p21"/>
          <p:cNvSpPr txBox="1"/>
          <p:nvPr>
            <p:ph idx="1" type="body"/>
          </p:nvPr>
        </p:nvSpPr>
        <p:spPr>
          <a:xfrm>
            <a:off x="183775" y="776275"/>
            <a:ext cx="8520600" cy="97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800"/>
              <a:t>CLUB table (NOT in 2NF):</a:t>
            </a:r>
            <a:endParaRPr sz="1800"/>
          </a:p>
          <a:p>
            <a:pPr indent="0" lvl="0" marL="0" rtl="0" algn="l">
              <a:spcBef>
                <a:spcPts val="0"/>
              </a:spcBef>
              <a:spcAft>
                <a:spcPts val="0"/>
              </a:spcAft>
              <a:buClr>
                <a:schemeClr val="dk2"/>
              </a:buClr>
              <a:buSzPts val="1100"/>
              <a:buFont typeface="Arial"/>
              <a:buNone/>
            </a:pPr>
            <a:r>
              <a:rPr lang="en" sz="1800"/>
              <a:t>Primary Key: (ClubTitle, StudentID) - COMPOSITE KEY</a:t>
            </a:r>
            <a:endParaRPr sz="1800"/>
          </a:p>
          <a:p>
            <a:pPr indent="0" lvl="0" marL="0" rtl="0" algn="l">
              <a:spcBef>
                <a:spcPts val="0"/>
              </a:spcBef>
              <a:spcAft>
                <a:spcPts val="0"/>
              </a:spcAft>
              <a:buNone/>
            </a:pPr>
            <a:r>
              <a:t/>
            </a:r>
            <a:endParaRPr sz="1800"/>
          </a:p>
        </p:txBody>
      </p:sp>
      <p:sp>
        <p:nvSpPr>
          <p:cNvPr id="128" name="Google Shape;128;p21"/>
          <p:cNvSpPr txBox="1"/>
          <p:nvPr/>
        </p:nvSpPr>
        <p:spPr>
          <a:xfrm>
            <a:off x="6104850" y="975457"/>
            <a:ext cx="28098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Questrial"/>
                <a:ea typeface="Questrial"/>
                <a:cs typeface="Questrial"/>
                <a:sym typeface="Questrial"/>
              </a:rPr>
              <a:t>Problem: TeacherName depends on ClubTitle only (partial dependency)</a:t>
            </a:r>
            <a:endParaRPr sz="18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None/>
            </a:pPr>
            <a:r>
              <a:rPr lang="en" sz="1800">
                <a:solidFill>
                  <a:schemeClr val="dk2"/>
                </a:solidFill>
                <a:latin typeface="Questrial"/>
                <a:ea typeface="Questrial"/>
                <a:cs typeface="Questrial"/>
                <a:sym typeface="Questrial"/>
              </a:rPr>
              <a:t>- NOT on the full composite key (ClubTitle + StudentID)</a:t>
            </a:r>
            <a:endParaRPr sz="1800">
              <a:solidFill>
                <a:schemeClr val="dk2"/>
              </a:solidFill>
              <a:latin typeface="Questrial"/>
              <a:ea typeface="Questrial"/>
              <a:cs typeface="Questrial"/>
              <a:sym typeface="Questrial"/>
            </a:endParaRPr>
          </a:p>
        </p:txBody>
      </p:sp>
      <p:graphicFrame>
        <p:nvGraphicFramePr>
          <p:cNvPr id="129" name="Google Shape;129;p21"/>
          <p:cNvGraphicFramePr/>
          <p:nvPr/>
        </p:nvGraphicFramePr>
        <p:xfrm>
          <a:off x="302125" y="1585175"/>
          <a:ext cx="3000000" cy="3000000"/>
        </p:xfrm>
        <a:graphic>
          <a:graphicData uri="http://schemas.openxmlformats.org/drawingml/2006/table">
            <a:tbl>
              <a:tblPr>
                <a:noFill/>
                <a:tableStyleId>{D41D6032-61F0-4706-8420-828B001EF563}</a:tableStyleId>
              </a:tblPr>
              <a:tblGrid>
                <a:gridCol w="1809750"/>
                <a:gridCol w="1809750"/>
                <a:gridCol w="1809750"/>
              </a:tblGrid>
              <a:tr h="381000">
                <a:tc>
                  <a:txBody>
                    <a:bodyPr/>
                    <a:lstStyle/>
                    <a:p>
                      <a:pPr indent="0" lvl="0" marL="0" rtl="0" algn="l">
                        <a:lnSpc>
                          <a:spcPct val="115000"/>
                        </a:lnSpc>
                        <a:spcBef>
                          <a:spcPts val="0"/>
                        </a:spcBef>
                        <a:spcAft>
                          <a:spcPts val="0"/>
                        </a:spcAft>
                        <a:buClr>
                          <a:schemeClr val="dk2"/>
                        </a:buClr>
                        <a:buSzPts val="1100"/>
                        <a:buFont typeface="Arial"/>
                        <a:buNone/>
                      </a:pPr>
                      <a:r>
                        <a:rPr b="1" lang="en" sz="1600">
                          <a:solidFill>
                            <a:schemeClr val="dk2"/>
                          </a:solidFill>
                          <a:latin typeface="Questrial"/>
                          <a:ea typeface="Questrial"/>
                          <a:cs typeface="Questrial"/>
                          <a:sym typeface="Questrial"/>
                        </a:rPr>
                        <a:t>ClubTitle </a:t>
                      </a:r>
                      <a:endParaRPr b="1" sz="1200"/>
                    </a:p>
                  </a:txBody>
                  <a:tcPr marT="91425" marB="91425" marR="91425" marL="91425">
                    <a:solidFill>
                      <a:srgbClr val="D9D2E9"/>
                    </a:solidFill>
                  </a:tcPr>
                </a:tc>
                <a:tc>
                  <a:txBody>
                    <a:bodyPr/>
                    <a:lstStyle/>
                    <a:p>
                      <a:pPr indent="0" lvl="0" marL="0" rtl="0" algn="l">
                        <a:lnSpc>
                          <a:spcPct val="115000"/>
                        </a:lnSpc>
                        <a:spcBef>
                          <a:spcPts val="0"/>
                        </a:spcBef>
                        <a:spcAft>
                          <a:spcPts val="0"/>
                        </a:spcAft>
                        <a:buClr>
                          <a:schemeClr val="dk2"/>
                        </a:buClr>
                        <a:buSzPts val="1100"/>
                        <a:buFont typeface="Arial"/>
                        <a:buNone/>
                      </a:pPr>
                      <a:r>
                        <a:rPr b="1" lang="en" sz="1600">
                          <a:solidFill>
                            <a:schemeClr val="dk2"/>
                          </a:solidFill>
                          <a:latin typeface="Questrial"/>
                          <a:ea typeface="Questrial"/>
                          <a:cs typeface="Questrial"/>
                          <a:sym typeface="Questrial"/>
                        </a:rPr>
                        <a:t>StudentID </a:t>
                      </a:r>
                      <a:endParaRPr b="1" sz="1200"/>
                    </a:p>
                  </a:txBody>
                  <a:tcPr marT="91425" marB="91425" marR="91425" marL="91425">
                    <a:solidFill>
                      <a:srgbClr val="D9D2E9"/>
                    </a:solidFill>
                  </a:tcPr>
                </a:tc>
                <a:tc>
                  <a:txBody>
                    <a:bodyPr/>
                    <a:lstStyle/>
                    <a:p>
                      <a:pPr indent="0" lvl="0" marL="0" rtl="0" algn="l">
                        <a:lnSpc>
                          <a:spcPct val="115000"/>
                        </a:lnSpc>
                        <a:spcBef>
                          <a:spcPts val="0"/>
                        </a:spcBef>
                        <a:spcAft>
                          <a:spcPts val="0"/>
                        </a:spcAft>
                        <a:buClr>
                          <a:schemeClr val="dk2"/>
                        </a:buClr>
                        <a:buSzPts val="1100"/>
                        <a:buFont typeface="Arial"/>
                        <a:buNone/>
                      </a:pPr>
                      <a:r>
                        <a:rPr b="1" lang="en" sz="1600">
                          <a:solidFill>
                            <a:schemeClr val="dk2"/>
                          </a:solidFill>
                          <a:latin typeface="Questrial"/>
                          <a:ea typeface="Questrial"/>
                          <a:cs typeface="Questrial"/>
                          <a:sym typeface="Questrial"/>
                        </a:rPr>
                        <a:t>TeacherName</a:t>
                      </a:r>
                      <a:endParaRPr b="1" sz="1200"/>
                    </a:p>
                  </a:txBody>
                  <a:tcPr marT="91425" marB="91425" marR="91425" marL="91425">
                    <a:solidFill>
                      <a:srgbClr val="D9D2E9"/>
                    </a:solidFill>
                  </a:tcPr>
                </a:tc>
              </a:tr>
              <a:tr h="381000">
                <a:tc>
                  <a:txBody>
                    <a:bodyPr/>
                    <a:lstStyle/>
                    <a:p>
                      <a:pPr indent="0" lvl="0" marL="0" rtl="0" algn="l">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Robotics </a:t>
                      </a:r>
                      <a:endParaRPr sz="1200"/>
                    </a:p>
                  </a:txBody>
                  <a:tcPr marT="91425" marB="91425" marR="91425" marL="91425"/>
                </a:tc>
                <a:tc>
                  <a:txBody>
                    <a:bodyPr/>
                    <a:lstStyle/>
                    <a:p>
                      <a:pPr indent="0" lvl="0" marL="0" rtl="0" algn="l">
                        <a:spcBef>
                          <a:spcPts val="0"/>
                        </a:spcBef>
                        <a:spcAft>
                          <a:spcPts val="0"/>
                        </a:spcAft>
                        <a:buNone/>
                      </a:pPr>
                      <a:r>
                        <a:rPr lang="en" sz="1200"/>
                        <a:t>1001</a:t>
                      </a:r>
                      <a:endParaRPr sz="1200"/>
                    </a:p>
                  </a:txBody>
                  <a:tcPr marT="91425" marB="91425" marR="91425" marL="91425"/>
                </a:tc>
                <a:tc>
                  <a:txBody>
                    <a:bodyPr/>
                    <a:lstStyle/>
                    <a:p>
                      <a:pPr indent="0" lvl="0" marL="0" rtl="0" algn="l">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Myran</a:t>
                      </a:r>
                      <a:endParaRPr sz="1200"/>
                    </a:p>
                  </a:txBody>
                  <a:tcPr marT="91425" marB="91425" marR="91425" marL="91425"/>
                </a:tc>
              </a:tr>
              <a:tr h="381000">
                <a:tc>
                  <a:txBody>
                    <a:bodyPr/>
                    <a:lstStyle/>
                    <a:p>
                      <a:pPr indent="0" lvl="0" marL="0" rtl="0" algn="l">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Robotics </a:t>
                      </a:r>
                      <a:endParaRPr sz="1200"/>
                    </a:p>
                  </a:txBody>
                  <a:tcPr marT="91425" marB="91425" marR="91425" marL="91425"/>
                </a:tc>
                <a:tc>
                  <a:txBody>
                    <a:bodyPr/>
                    <a:lstStyle/>
                    <a:p>
                      <a:pPr indent="0" lvl="0" marL="0" rtl="0" algn="l">
                        <a:spcBef>
                          <a:spcPts val="0"/>
                        </a:spcBef>
                        <a:spcAft>
                          <a:spcPts val="0"/>
                        </a:spcAft>
                        <a:buNone/>
                      </a:pPr>
                      <a:r>
                        <a:rPr lang="en" sz="1200"/>
                        <a:t>1002</a:t>
                      </a:r>
                      <a:endParaRPr sz="1200"/>
                    </a:p>
                  </a:txBody>
                  <a:tcPr marT="91425" marB="91425" marR="91425" marL="91425"/>
                </a:tc>
                <a:tc>
                  <a:txBody>
                    <a:bodyPr/>
                    <a:lstStyle/>
                    <a:p>
                      <a:pPr indent="0" lvl="0" marL="0" rtl="0" algn="l">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Myran</a:t>
                      </a:r>
                      <a:endParaRPr sz="1200"/>
                    </a:p>
                  </a:txBody>
                  <a:tcPr marT="91425" marB="91425" marR="91425" marL="91425"/>
                </a:tc>
              </a:tr>
              <a:tr h="381000">
                <a:tc>
                  <a:txBody>
                    <a:bodyPr/>
                    <a:lstStyle/>
                    <a:p>
                      <a:pPr indent="0" lvl="0" marL="0" rtl="0" algn="l">
                        <a:lnSpc>
                          <a:spcPct val="115000"/>
                        </a:lnSpc>
                        <a:spcBef>
                          <a:spcPts val="0"/>
                        </a:spcBef>
                        <a:spcAft>
                          <a:spcPts val="0"/>
                        </a:spcAft>
                        <a:buClr>
                          <a:schemeClr val="dk2"/>
                        </a:buClr>
                        <a:buSzPts val="1100"/>
                        <a:buFont typeface="Arial"/>
                        <a:buNone/>
                      </a:pPr>
                      <a:r>
                        <a:rPr lang="en" sz="1600">
                          <a:solidFill>
                            <a:schemeClr val="dk2"/>
                          </a:solidFill>
                          <a:latin typeface="Questrial"/>
                          <a:ea typeface="Questrial"/>
                          <a:cs typeface="Questrial"/>
                          <a:sym typeface="Questrial"/>
                        </a:rPr>
                        <a:t>Football</a:t>
                      </a:r>
                      <a:endParaRPr sz="1600">
                        <a:solidFill>
                          <a:schemeClr val="dk2"/>
                        </a:solidFill>
                        <a:latin typeface="Questrial"/>
                        <a:ea typeface="Questrial"/>
                        <a:cs typeface="Questrial"/>
                        <a:sym typeface="Questrial"/>
                      </a:endParaRPr>
                    </a:p>
                  </a:txBody>
                  <a:tcPr marT="91425" marB="91425" marR="91425" marL="91425"/>
                </a:tc>
                <a:tc>
                  <a:txBody>
                    <a:bodyPr/>
                    <a:lstStyle/>
                    <a:p>
                      <a:pPr indent="0" lvl="0" marL="0" rtl="0" algn="l">
                        <a:spcBef>
                          <a:spcPts val="0"/>
                        </a:spcBef>
                        <a:spcAft>
                          <a:spcPts val="0"/>
                        </a:spcAft>
                        <a:buNone/>
                      </a:pPr>
                      <a:r>
                        <a:rPr lang="en" sz="1200"/>
                        <a:t>1003</a:t>
                      </a:r>
                      <a:endParaRPr sz="1200"/>
                    </a:p>
                  </a:txBody>
                  <a:tcPr marT="91425" marB="91425" marR="91425" marL="91425"/>
                </a:tc>
                <a:tc>
                  <a:txBody>
                    <a:bodyPr/>
                    <a:lstStyle/>
                    <a:p>
                      <a:pPr indent="0" lvl="0" marL="0" rtl="0" algn="l">
                        <a:spcBef>
                          <a:spcPts val="0"/>
                        </a:spcBef>
                        <a:spcAft>
                          <a:spcPts val="0"/>
                        </a:spcAft>
                        <a:buNone/>
                      </a:pPr>
                      <a:r>
                        <a:rPr lang="en" sz="1200"/>
                        <a:t>Frans</a:t>
                      </a:r>
                      <a:endParaRPr sz="1200"/>
                    </a:p>
                  </a:txBody>
                  <a:tcPr marT="91425" marB="91425" marR="91425" marL="91425"/>
                </a:tc>
              </a:tr>
            </a:tbl>
          </a:graphicData>
        </a:graphic>
      </p:graphicFrame>
      <p:sp>
        <p:nvSpPr>
          <p:cNvPr id="130" name="Google Shape;130;p21"/>
          <p:cNvSpPr txBox="1"/>
          <p:nvPr/>
        </p:nvSpPr>
        <p:spPr>
          <a:xfrm>
            <a:off x="183775" y="3499450"/>
            <a:ext cx="52812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chemeClr val="dk2"/>
                </a:solidFill>
                <a:latin typeface="Questrial"/>
                <a:ea typeface="Questrial"/>
                <a:cs typeface="Questrial"/>
                <a:sym typeface="Questrial"/>
              </a:rPr>
              <a:t>Solution - Split into 2 tables:</a:t>
            </a:r>
            <a:endParaRPr sz="18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None/>
            </a:pPr>
            <a:r>
              <a:rPr lang="en" sz="1800">
                <a:solidFill>
                  <a:schemeClr val="dk2"/>
                </a:solidFill>
                <a:latin typeface="Questrial"/>
                <a:ea typeface="Questrial"/>
                <a:cs typeface="Questrial"/>
                <a:sym typeface="Questrial"/>
              </a:rPr>
              <a:t>CLUB_ENROLLMENT: (ClubTitle, StudentID)</a:t>
            </a:r>
            <a:endParaRPr sz="18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None/>
            </a:pPr>
            <a:r>
              <a:rPr lang="en" sz="1800">
                <a:solidFill>
                  <a:schemeClr val="dk2"/>
                </a:solidFill>
                <a:latin typeface="Questrial"/>
                <a:ea typeface="Questrial"/>
                <a:cs typeface="Questrial"/>
                <a:sym typeface="Questrial"/>
              </a:rPr>
              <a:t>CLUB_DETAILS: (ClubTitle, TeacherName)</a:t>
            </a:r>
            <a:endParaRPr sz="1800">
              <a:solidFill>
                <a:schemeClr val="dk2"/>
              </a:solidFill>
              <a:latin typeface="Questrial"/>
              <a:ea typeface="Questrial"/>
              <a:cs typeface="Questrial"/>
              <a:sym typeface="Questrial"/>
            </a:endParaRPr>
          </a:p>
        </p:txBody>
      </p:sp>
      <p:sp>
        <p:nvSpPr>
          <p:cNvPr id="131" name="Google Shape;131;p21"/>
          <p:cNvSpPr txBox="1"/>
          <p:nvPr/>
        </p:nvSpPr>
        <p:spPr>
          <a:xfrm>
            <a:off x="5914650" y="3707375"/>
            <a:ext cx="2052000" cy="5232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200">
                <a:solidFill>
                  <a:schemeClr val="dk2"/>
                </a:solidFill>
                <a:latin typeface="Questrial"/>
                <a:ea typeface="Questrial"/>
                <a:cs typeface="Questrial"/>
                <a:sym typeface="Questrial"/>
              </a:rPr>
              <a:t>Now in 2NF! ✓</a:t>
            </a:r>
            <a:endParaRPr sz="2200">
              <a:solidFill>
                <a:schemeClr val="dk2"/>
              </a:solidFill>
              <a:latin typeface="Questrial"/>
              <a:ea typeface="Questrial"/>
              <a:cs typeface="Questrial"/>
              <a:sym typeface="Quest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for Understanding: 2NF</a:t>
            </a:r>
            <a:endParaRPr/>
          </a:p>
        </p:txBody>
      </p:sp>
      <p:sp>
        <p:nvSpPr>
          <p:cNvPr id="137" name="Google Shape;137;p2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1. What must be true before a table can be in 2NF?</a:t>
            </a:r>
            <a:endParaRPr/>
          </a:p>
          <a:p>
            <a:pPr indent="0" lvl="0" marL="0" rtl="0" algn="l">
              <a:spcBef>
                <a:spcPts val="0"/>
              </a:spcBef>
              <a:spcAft>
                <a:spcPts val="0"/>
              </a:spcAft>
              <a:buClr>
                <a:schemeClr val="dk2"/>
              </a:buClr>
              <a:buSzPts val="1100"/>
              <a:buFont typeface="Arial"/>
              <a:buNone/>
            </a:pPr>
            <a:r>
              <a:rPr lang="en"/>
              <a:t>2. Given: ENROLLMENT(CourseID, StudentID, CourseName, Instructor)</a:t>
            </a:r>
            <a:endParaRPr/>
          </a:p>
          <a:p>
            <a:pPr indent="-374650" lvl="0" marL="457200" rtl="0" algn="l">
              <a:spcBef>
                <a:spcPts val="0"/>
              </a:spcBef>
              <a:spcAft>
                <a:spcPts val="0"/>
              </a:spcAft>
              <a:buSzPts val="2300"/>
              <a:buChar char="●"/>
            </a:pPr>
            <a:r>
              <a:rPr lang="en"/>
              <a:t>   </a:t>
            </a:r>
            <a:r>
              <a:rPr lang="en" sz="1900"/>
              <a:t>Primary Key: (CourseID, StudentID)</a:t>
            </a:r>
            <a:endParaRPr sz="1900"/>
          </a:p>
          <a:p>
            <a:pPr indent="-349250" lvl="0" marL="457200" rtl="0" algn="l">
              <a:spcBef>
                <a:spcPts val="0"/>
              </a:spcBef>
              <a:spcAft>
                <a:spcPts val="0"/>
              </a:spcAft>
              <a:buSzPts val="1900"/>
              <a:buChar char="●"/>
            </a:pPr>
            <a:r>
              <a:rPr lang="en" sz="1900"/>
              <a:t>   What is the problem with CourseName and Instructor?</a:t>
            </a:r>
            <a:endParaRPr sz="1900"/>
          </a:p>
          <a:p>
            <a:pPr indent="0" lvl="0" marL="0" rtl="0" algn="l">
              <a:spcBef>
                <a:spcPts val="0"/>
              </a:spcBef>
              <a:spcAft>
                <a:spcPts val="0"/>
              </a:spcAft>
              <a:buClr>
                <a:schemeClr val="dk2"/>
              </a:buClr>
              <a:buSzPts val="1100"/>
              <a:buFont typeface="Arial"/>
              <a:buNone/>
            </a:pPr>
            <a:r>
              <a:rPr lang="en"/>
              <a:t>3. How would you split this table to achieve 2NF?</a:t>
            </a:r>
            <a:endParaRPr/>
          </a:p>
          <a:p>
            <a:pPr indent="0" lvl="0" marL="0" rtl="0" algn="l">
              <a:spcBef>
                <a:spcPts val="0"/>
              </a:spcBef>
              <a:spcAft>
                <a:spcPts val="0"/>
              </a:spcAft>
              <a:buClr>
                <a:schemeClr val="dk2"/>
              </a:buClr>
              <a:buSzPts val="1100"/>
              <a:buFont typeface="Arial"/>
              <a:buNone/>
            </a:pPr>
            <a:r>
              <a:rPr lang="en"/>
              <a:t>4. Why does 2NF only matter when you have composite keys?</a:t>
            </a:r>
            <a:endParaRPr/>
          </a:p>
          <a:p>
            <a:pPr indent="0" lvl="0" marL="0" rtl="0" algn="l">
              <a:spcBef>
                <a:spcPts val="0"/>
              </a:spcBef>
              <a:spcAft>
                <a:spcPts val="0"/>
              </a:spcAft>
              <a:buClr>
                <a:schemeClr val="dk2"/>
              </a:buClr>
              <a:buSzPts val="1100"/>
              <a:buFont typeface="Arial"/>
              <a:buNone/>
            </a:pPr>
            <a:r>
              <a:t/>
            </a:r>
            <a:endParaRPr/>
          </a:p>
          <a:p>
            <a:pPr indent="0" lvl="0" marL="0" rtl="0" algn="l">
              <a:spcBef>
                <a:spcPts val="0"/>
              </a:spcBef>
              <a:spcAft>
                <a:spcPts val="0"/>
              </a:spcAft>
              <a:buClr>
                <a:schemeClr val="dk2"/>
              </a:buClr>
              <a:buSzPts val="1100"/>
              <a:buFont typeface="Arial"/>
              <a:buNone/>
            </a:pPr>
            <a:r>
              <a:rPr lang="en"/>
              <a:t>Share your answers with the class!</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Third Normal Form (3NF)</a:t>
            </a:r>
            <a:endParaRPr/>
          </a:p>
        </p:txBody>
      </p:sp>
      <p:sp>
        <p:nvSpPr>
          <p:cNvPr id="143" name="Google Shape;143;p2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600"/>
              <a:t>The highest level of normalisation - A table is in 3NF if:</a:t>
            </a:r>
            <a:endParaRPr sz="1600"/>
          </a:p>
          <a:p>
            <a:pPr indent="0" lvl="0" marL="0" rtl="0" algn="l">
              <a:spcBef>
                <a:spcPts val="0"/>
              </a:spcBef>
              <a:spcAft>
                <a:spcPts val="0"/>
              </a:spcAft>
              <a:buClr>
                <a:schemeClr val="dk2"/>
              </a:buClr>
              <a:buSzPts val="1100"/>
              <a:buFont typeface="Arial"/>
              <a:buNone/>
            </a:pPr>
            <a:r>
              <a:t/>
            </a:r>
            <a:endParaRPr sz="1600"/>
          </a:p>
          <a:p>
            <a:pPr indent="0" lvl="0" marL="0" rtl="0" algn="l">
              <a:spcBef>
                <a:spcPts val="0"/>
              </a:spcBef>
              <a:spcAft>
                <a:spcPts val="0"/>
              </a:spcAft>
              <a:buClr>
                <a:schemeClr val="dk2"/>
              </a:buClr>
              <a:buSzPts val="1100"/>
              <a:buFont typeface="Arial"/>
              <a:buNone/>
            </a:pPr>
            <a:r>
              <a:rPr lang="en" sz="1600">
                <a:highlight>
                  <a:srgbClr val="D9EAD3"/>
                </a:highlight>
              </a:rPr>
              <a:t>✓ It is already in 2NF (meets all 2NF requirements)</a:t>
            </a:r>
            <a:endParaRPr sz="1600">
              <a:highlight>
                <a:srgbClr val="D9EAD3"/>
              </a:highlight>
            </a:endParaRPr>
          </a:p>
          <a:p>
            <a:pPr indent="0" lvl="0" marL="0" rtl="0" algn="l">
              <a:spcBef>
                <a:spcPts val="0"/>
              </a:spcBef>
              <a:spcAft>
                <a:spcPts val="0"/>
              </a:spcAft>
              <a:buClr>
                <a:schemeClr val="dk2"/>
              </a:buClr>
              <a:buSzPts val="1100"/>
              <a:buFont typeface="Arial"/>
              <a:buNone/>
            </a:pPr>
            <a:r>
              <a:rPr lang="en" sz="1600">
                <a:highlight>
                  <a:srgbClr val="D9EAD3"/>
                </a:highlight>
              </a:rPr>
              <a:t>✓ All non-key attributes are independent of each other</a:t>
            </a:r>
            <a:endParaRPr sz="1600">
              <a:highlight>
                <a:srgbClr val="D9EAD3"/>
              </a:highlight>
            </a:endParaRPr>
          </a:p>
          <a:p>
            <a:pPr indent="0" lvl="0" marL="0" rtl="0" algn="l">
              <a:spcBef>
                <a:spcPts val="0"/>
              </a:spcBef>
              <a:spcAft>
                <a:spcPts val="0"/>
              </a:spcAft>
              <a:buClr>
                <a:schemeClr val="dk2"/>
              </a:buClr>
              <a:buSzPts val="1100"/>
              <a:buFont typeface="Arial"/>
              <a:buNone/>
            </a:pPr>
            <a:r>
              <a:rPr lang="en" sz="1600">
                <a:highlight>
                  <a:srgbClr val="F4CCCC"/>
                </a:highlight>
              </a:rPr>
              <a:t>✗ No transitive dependencies</a:t>
            </a:r>
            <a:endParaRPr sz="1600">
              <a:highlight>
                <a:srgbClr val="F4CCCC"/>
              </a:highlight>
            </a:endParaRPr>
          </a:p>
          <a:p>
            <a:pPr indent="0" lvl="0" marL="0" rtl="0" algn="l">
              <a:spcBef>
                <a:spcPts val="0"/>
              </a:spcBef>
              <a:spcAft>
                <a:spcPts val="0"/>
              </a:spcAft>
              <a:buClr>
                <a:schemeClr val="dk2"/>
              </a:buClr>
              <a:buSzPts val="1100"/>
              <a:buFont typeface="Arial"/>
              <a:buNone/>
            </a:pPr>
            <a:r>
              <a:rPr b="1" lang="en" sz="1600"/>
              <a:t>Key Problem: Transitive Dependency</a:t>
            </a:r>
            <a:endParaRPr b="1" sz="1600"/>
          </a:p>
          <a:p>
            <a:pPr indent="0" lvl="0" marL="0" rtl="0" algn="l">
              <a:spcBef>
                <a:spcPts val="0"/>
              </a:spcBef>
              <a:spcAft>
                <a:spcPts val="0"/>
              </a:spcAft>
              <a:buClr>
                <a:schemeClr val="dk2"/>
              </a:buClr>
              <a:buSzPts val="1100"/>
              <a:buFont typeface="Arial"/>
              <a:buNone/>
            </a:pPr>
            <a:r>
              <a:rPr lang="en" sz="1600"/>
              <a:t>- When a non-key attribute depends on ANOTHER non-key attribute</a:t>
            </a:r>
            <a:endParaRPr sz="1600"/>
          </a:p>
          <a:p>
            <a:pPr indent="0" lvl="0" marL="0" rtl="0" algn="l">
              <a:spcBef>
                <a:spcPts val="0"/>
              </a:spcBef>
              <a:spcAft>
                <a:spcPts val="0"/>
              </a:spcAft>
              <a:buClr>
                <a:schemeClr val="dk2"/>
              </a:buClr>
              <a:buSzPts val="1100"/>
              <a:buFont typeface="Arial"/>
              <a:buNone/>
            </a:pPr>
            <a:r>
              <a:rPr lang="en" sz="1600"/>
              <a:t>- Instead of depending directly on the primary key</a:t>
            </a:r>
            <a:endParaRPr sz="1600"/>
          </a:p>
          <a:p>
            <a:pPr indent="0" lvl="0" marL="0" rtl="0" algn="l">
              <a:spcBef>
                <a:spcPts val="0"/>
              </a:spcBef>
              <a:spcAft>
                <a:spcPts val="0"/>
              </a:spcAft>
              <a:buClr>
                <a:schemeClr val="dk2"/>
              </a:buClr>
              <a:buSzPts val="1100"/>
              <a:buFont typeface="Arial"/>
              <a:buNone/>
            </a:pPr>
            <a:r>
              <a:t/>
            </a:r>
            <a:endParaRPr sz="1600"/>
          </a:p>
          <a:p>
            <a:pPr indent="0" lvl="0" marL="0" rtl="0" algn="l">
              <a:spcBef>
                <a:spcPts val="0"/>
              </a:spcBef>
              <a:spcAft>
                <a:spcPts val="0"/>
              </a:spcAft>
              <a:buClr>
                <a:schemeClr val="dk2"/>
              </a:buClr>
              <a:buSzPts val="1100"/>
              <a:buFont typeface="Arial"/>
              <a:buNone/>
            </a:pPr>
            <a:r>
              <a:rPr lang="en" sz="1600"/>
              <a:t>Example: EmployeeID → DepartmentID → DepartmentName</a:t>
            </a:r>
            <a:endParaRPr sz="1600"/>
          </a:p>
          <a:p>
            <a:pPr indent="0" lvl="0" marL="0" rtl="0" algn="l">
              <a:spcBef>
                <a:spcPts val="0"/>
              </a:spcBef>
              <a:spcAft>
                <a:spcPts val="0"/>
              </a:spcAft>
              <a:buClr>
                <a:schemeClr val="dk2"/>
              </a:buClr>
              <a:buSzPts val="1100"/>
              <a:buFont typeface="Arial"/>
              <a:buNone/>
            </a:pPr>
            <a:r>
              <a:rPr lang="en" sz="1600"/>
              <a:t>(</a:t>
            </a:r>
            <a:r>
              <a:rPr b="1" lang="en" sz="1600"/>
              <a:t>DepartmentName</a:t>
            </a:r>
            <a:r>
              <a:rPr lang="en" sz="1600"/>
              <a:t> </a:t>
            </a:r>
            <a:r>
              <a:rPr lang="en" sz="1600" u="sng"/>
              <a:t>transitively </a:t>
            </a:r>
            <a:r>
              <a:rPr lang="en" sz="1600"/>
              <a:t>depends on </a:t>
            </a:r>
            <a:r>
              <a:rPr b="1" lang="en" sz="1600"/>
              <a:t>EmployeeID</a:t>
            </a:r>
            <a:r>
              <a:rPr lang="en" sz="1600"/>
              <a:t>)</a:t>
            </a:r>
            <a:endParaRPr sz="1600"/>
          </a:p>
          <a:p>
            <a:pPr indent="0" lvl="0" marL="0" rtl="0" algn="l">
              <a:spcBef>
                <a:spcPts val="0"/>
              </a:spcBef>
              <a:spcAft>
                <a:spcPts val="0"/>
              </a:spcAft>
              <a:buClr>
                <a:schemeClr val="dk2"/>
              </a:buClr>
              <a:buSzPts val="1100"/>
              <a:buFont typeface="Arial"/>
              <a:buNone/>
            </a:pPr>
            <a:r>
              <a:t/>
            </a:r>
            <a:endParaRPr sz="1600"/>
          </a:p>
          <a:p>
            <a:pPr indent="0" lvl="0" marL="0" rtl="0" algn="l">
              <a:spcBef>
                <a:spcPts val="0"/>
              </a:spcBef>
              <a:spcAft>
                <a:spcPts val="0"/>
              </a:spcAft>
              <a:buClr>
                <a:schemeClr val="dk2"/>
              </a:buClr>
              <a:buSzPts val="1100"/>
              <a:buFont typeface="Arial"/>
              <a:buNone/>
            </a:pPr>
            <a:r>
              <a:rPr lang="en" sz="1600"/>
              <a:t>Question: How does removing transitive dependencies reduce data redundancy?</a:t>
            </a:r>
            <a:endParaRPr sz="1600"/>
          </a:p>
          <a:p>
            <a:pPr indent="0" lvl="0" marL="0" rtl="0" algn="l">
              <a:spcBef>
                <a:spcPts val="0"/>
              </a:spcBef>
              <a:spcAft>
                <a:spcPts val="0"/>
              </a:spcAft>
              <a:buNone/>
            </a:pPr>
            <a:r>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3NF Worked Example: CLUB Table</a:t>
            </a:r>
            <a:endParaRPr/>
          </a:p>
        </p:txBody>
      </p:sp>
      <p:sp>
        <p:nvSpPr>
          <p:cNvPr id="149" name="Google Shape;149;p2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2000"/>
              <a:t>CLUB table in 2NF (but NOT in 3NF):</a:t>
            </a:r>
            <a:endParaRPr sz="2000"/>
          </a:p>
          <a:p>
            <a:pPr indent="0" lvl="0" marL="0" rtl="0" algn="l">
              <a:spcBef>
                <a:spcPts val="0"/>
              </a:spcBef>
              <a:spcAft>
                <a:spcPts val="0"/>
              </a:spcAft>
              <a:buClr>
                <a:schemeClr val="dk2"/>
              </a:buClr>
              <a:buSzPts val="1100"/>
              <a:buFont typeface="Arial"/>
              <a:buNone/>
            </a:pPr>
            <a:r>
              <a:rPr lang="en" sz="2000"/>
              <a:t>Primary Key: ClubID</a:t>
            </a:r>
            <a:endParaRPr sz="2000"/>
          </a:p>
          <a:p>
            <a:pPr indent="0" lvl="0" marL="0" rtl="0" algn="l">
              <a:spcBef>
                <a:spcPts val="0"/>
              </a:spcBef>
              <a:spcAft>
                <a:spcPts val="0"/>
              </a:spcAft>
              <a:buClr>
                <a:schemeClr val="dk2"/>
              </a:buClr>
              <a:buSzPts val="1100"/>
              <a:buFont typeface="Arial"/>
              <a:buNone/>
            </a:pPr>
            <a:r>
              <a:t/>
            </a:r>
            <a:endParaRPr sz="2000"/>
          </a:p>
          <a:p>
            <a:pPr indent="0" lvl="0" marL="0" rtl="0" algn="l">
              <a:spcBef>
                <a:spcPts val="0"/>
              </a:spcBef>
              <a:spcAft>
                <a:spcPts val="0"/>
              </a:spcAft>
              <a:buClr>
                <a:schemeClr val="dk2"/>
              </a:buClr>
              <a:buSzPts val="1100"/>
              <a:buFont typeface="Arial"/>
              <a:buNone/>
            </a:pPr>
            <a:r>
              <a:rPr b="1" lang="en" sz="2000"/>
              <a:t>Problem</a:t>
            </a:r>
            <a:r>
              <a:rPr lang="en" sz="2000"/>
              <a:t>: TeacherLastName depends</a:t>
            </a:r>
            <a:br>
              <a:rPr lang="en" sz="2000"/>
            </a:br>
            <a:r>
              <a:rPr lang="en" sz="2000"/>
              <a:t> on TeacherID (transitive dependency)</a:t>
            </a:r>
            <a:endParaRPr sz="2000"/>
          </a:p>
          <a:p>
            <a:pPr indent="0" lvl="0" marL="0" rtl="0" algn="l">
              <a:spcBef>
                <a:spcPts val="0"/>
              </a:spcBef>
              <a:spcAft>
                <a:spcPts val="0"/>
              </a:spcAft>
              <a:buClr>
                <a:schemeClr val="dk2"/>
              </a:buClr>
              <a:buSzPts val="1100"/>
              <a:buFont typeface="Arial"/>
              <a:buNone/>
            </a:pPr>
            <a:r>
              <a:rPr lang="en" sz="2000"/>
              <a:t>- TeacherID is NOT the primary key</a:t>
            </a:r>
            <a:endParaRPr sz="2000"/>
          </a:p>
          <a:p>
            <a:pPr indent="0" lvl="0" marL="0" rtl="0" algn="l">
              <a:spcBef>
                <a:spcPts val="0"/>
              </a:spcBef>
              <a:spcAft>
                <a:spcPts val="0"/>
              </a:spcAft>
              <a:buClr>
                <a:schemeClr val="dk2"/>
              </a:buClr>
              <a:buSzPts val="1100"/>
              <a:buFont typeface="Arial"/>
              <a:buNone/>
            </a:pPr>
            <a:r>
              <a:t/>
            </a:r>
            <a:endParaRPr sz="2000"/>
          </a:p>
          <a:p>
            <a:pPr indent="0" lvl="0" marL="0" rtl="0" algn="l">
              <a:spcBef>
                <a:spcPts val="0"/>
              </a:spcBef>
              <a:spcAft>
                <a:spcPts val="0"/>
              </a:spcAft>
              <a:buClr>
                <a:schemeClr val="dk2"/>
              </a:buClr>
              <a:buSzPts val="1100"/>
              <a:buFont typeface="Arial"/>
              <a:buNone/>
            </a:pPr>
            <a:r>
              <a:rPr b="1" lang="en" sz="2000"/>
              <a:t>Solution </a:t>
            </a:r>
            <a:r>
              <a:rPr lang="en" sz="2000"/>
              <a:t>- Split into 2 tables:</a:t>
            </a:r>
            <a:endParaRPr sz="2000"/>
          </a:p>
          <a:p>
            <a:pPr indent="0" lvl="0" marL="0" rtl="0" algn="l">
              <a:spcBef>
                <a:spcPts val="0"/>
              </a:spcBef>
              <a:spcAft>
                <a:spcPts val="0"/>
              </a:spcAft>
              <a:buClr>
                <a:schemeClr val="dk2"/>
              </a:buClr>
              <a:buSzPts val="1100"/>
              <a:buFont typeface="Arial"/>
              <a:buNone/>
            </a:pPr>
            <a:r>
              <a:rPr lang="en" sz="2000"/>
              <a:t>CLUBDETAILS: (ClubID, ClubTitle, TeacherID)</a:t>
            </a:r>
            <a:endParaRPr sz="2000"/>
          </a:p>
          <a:p>
            <a:pPr indent="0" lvl="0" marL="0" rtl="0" algn="l">
              <a:spcBef>
                <a:spcPts val="0"/>
              </a:spcBef>
              <a:spcAft>
                <a:spcPts val="0"/>
              </a:spcAft>
              <a:buClr>
                <a:schemeClr val="dk2"/>
              </a:buClr>
              <a:buSzPts val="1100"/>
              <a:buFont typeface="Arial"/>
              <a:buNone/>
            </a:pPr>
            <a:r>
              <a:rPr lang="en" sz="2000"/>
              <a:t>TEACHERDETAILS: (TeacherID, TeacherLastName)</a:t>
            </a:r>
            <a:endParaRPr sz="2000"/>
          </a:p>
        </p:txBody>
      </p:sp>
      <p:graphicFrame>
        <p:nvGraphicFramePr>
          <p:cNvPr id="150" name="Google Shape;150;p24"/>
          <p:cNvGraphicFramePr/>
          <p:nvPr/>
        </p:nvGraphicFramePr>
        <p:xfrm>
          <a:off x="4753350" y="901015"/>
          <a:ext cx="3000000" cy="3000000"/>
        </p:xfrm>
        <a:graphic>
          <a:graphicData uri="http://schemas.openxmlformats.org/drawingml/2006/table">
            <a:tbl>
              <a:tblPr>
                <a:noFill/>
                <a:tableStyleId>{D41D6032-61F0-4706-8420-828B001EF563}</a:tableStyleId>
              </a:tblPr>
              <a:tblGrid>
                <a:gridCol w="757025"/>
                <a:gridCol w="1170125"/>
                <a:gridCol w="987175"/>
                <a:gridCol w="1412075"/>
              </a:tblGrid>
              <a:tr h="381000">
                <a:tc>
                  <a:txBody>
                    <a:bodyPr/>
                    <a:lstStyle/>
                    <a:p>
                      <a:pPr indent="0" lvl="0" marL="0" rtl="0" algn="l">
                        <a:spcBef>
                          <a:spcPts val="0"/>
                        </a:spcBef>
                        <a:spcAft>
                          <a:spcPts val="0"/>
                        </a:spcAft>
                        <a:buNone/>
                      </a:pPr>
                      <a:r>
                        <a:rPr b="1" lang="en" sz="1300"/>
                        <a:t>ClubID</a:t>
                      </a:r>
                      <a:endParaRPr b="1" sz="1300"/>
                    </a:p>
                  </a:txBody>
                  <a:tcPr marT="91425" marB="91425" marR="91425" marL="91425">
                    <a:solidFill>
                      <a:srgbClr val="D9D2E9"/>
                    </a:solidFill>
                  </a:tcPr>
                </a:tc>
                <a:tc>
                  <a:txBody>
                    <a:bodyPr/>
                    <a:lstStyle/>
                    <a:p>
                      <a:pPr indent="0" lvl="0" marL="0" rtl="0" algn="l">
                        <a:spcBef>
                          <a:spcPts val="0"/>
                        </a:spcBef>
                        <a:spcAft>
                          <a:spcPts val="0"/>
                        </a:spcAft>
                        <a:buNone/>
                      </a:pPr>
                      <a:r>
                        <a:rPr b="1" lang="en" sz="1300"/>
                        <a:t>ClubTitle</a:t>
                      </a:r>
                      <a:endParaRPr b="1" sz="1300"/>
                    </a:p>
                  </a:txBody>
                  <a:tcPr marT="91425" marB="91425" marR="91425" marL="91425">
                    <a:solidFill>
                      <a:srgbClr val="D9D2E9"/>
                    </a:solidFill>
                  </a:tcPr>
                </a:tc>
                <a:tc>
                  <a:txBody>
                    <a:bodyPr/>
                    <a:lstStyle/>
                    <a:p>
                      <a:pPr indent="0" lvl="0" marL="0" rtl="0" algn="l">
                        <a:spcBef>
                          <a:spcPts val="0"/>
                        </a:spcBef>
                        <a:spcAft>
                          <a:spcPts val="0"/>
                        </a:spcAft>
                        <a:buNone/>
                      </a:pPr>
                      <a:r>
                        <a:rPr b="1" lang="en" sz="1300"/>
                        <a:t>TeacherID</a:t>
                      </a:r>
                      <a:endParaRPr b="1" sz="1300"/>
                    </a:p>
                  </a:txBody>
                  <a:tcPr marT="91425" marB="91425" marR="91425" marL="91425">
                    <a:solidFill>
                      <a:srgbClr val="D9D2E9"/>
                    </a:solidFill>
                  </a:tcPr>
                </a:tc>
                <a:tc>
                  <a:txBody>
                    <a:bodyPr/>
                    <a:lstStyle/>
                    <a:p>
                      <a:pPr indent="0" lvl="0" marL="0" rtl="0" algn="l">
                        <a:spcBef>
                          <a:spcPts val="0"/>
                        </a:spcBef>
                        <a:spcAft>
                          <a:spcPts val="0"/>
                        </a:spcAft>
                        <a:buNone/>
                      </a:pPr>
                      <a:r>
                        <a:rPr b="1" lang="en" sz="1300"/>
                        <a:t>TeacherFName</a:t>
                      </a:r>
                      <a:endParaRPr b="1" sz="1300"/>
                    </a:p>
                  </a:txBody>
                  <a:tcPr marT="91425" marB="91425" marR="91425" marL="91425">
                    <a:solidFill>
                      <a:srgbClr val="D9D2E9"/>
                    </a:solidFill>
                  </a:tcPr>
                </a:tc>
              </a:tr>
              <a:tr h="381000">
                <a:tc>
                  <a:txBody>
                    <a:bodyPr/>
                    <a:lstStyle/>
                    <a:p>
                      <a:pPr indent="0" lvl="0" marL="0" rtl="0" algn="l">
                        <a:spcBef>
                          <a:spcPts val="0"/>
                        </a:spcBef>
                        <a:spcAft>
                          <a:spcPts val="0"/>
                        </a:spcAft>
                        <a:buNone/>
                      </a:pPr>
                      <a:r>
                        <a:rPr lang="en"/>
                        <a:t>105</a:t>
                      </a:r>
                      <a:endParaRPr/>
                    </a:p>
                  </a:txBody>
                  <a:tcPr marT="91425" marB="91425" marR="91425" marL="91425">
                    <a:solidFill>
                      <a:srgbClr val="F4CCCC"/>
                    </a:solidFill>
                  </a:tcPr>
                </a:tc>
                <a:tc>
                  <a:txBody>
                    <a:bodyPr/>
                    <a:lstStyle/>
                    <a:p>
                      <a:pPr indent="0" lvl="0" marL="0" rtl="0" algn="l">
                        <a:spcBef>
                          <a:spcPts val="0"/>
                        </a:spcBef>
                        <a:spcAft>
                          <a:spcPts val="0"/>
                        </a:spcAft>
                        <a:buNone/>
                      </a:pPr>
                      <a:r>
                        <a:rPr lang="en"/>
                        <a:t>Robotics</a:t>
                      </a:r>
                      <a:endParaRPr/>
                    </a:p>
                  </a:txBody>
                  <a:tcPr marT="91425" marB="91425" marR="91425" marL="91425">
                    <a:solidFill>
                      <a:srgbClr val="F4CCCC"/>
                    </a:solidFill>
                  </a:tcPr>
                </a:tc>
                <a:tc>
                  <a:txBody>
                    <a:bodyPr/>
                    <a:lstStyle/>
                    <a:p>
                      <a:pPr indent="0" lvl="0" marL="0" rtl="0" algn="l">
                        <a:spcBef>
                          <a:spcPts val="0"/>
                        </a:spcBef>
                        <a:spcAft>
                          <a:spcPts val="0"/>
                        </a:spcAft>
                        <a:buNone/>
                      </a:pPr>
                      <a:r>
                        <a:rPr lang="en"/>
                        <a:t>1</a:t>
                      </a:r>
                      <a:endParaRPr/>
                    </a:p>
                  </a:txBody>
                  <a:tcPr marT="91425" marB="91425" marR="91425" marL="91425">
                    <a:solidFill>
                      <a:srgbClr val="F4CCCC"/>
                    </a:solidFill>
                  </a:tcPr>
                </a:tc>
                <a:tc>
                  <a:txBody>
                    <a:bodyPr/>
                    <a:lstStyle/>
                    <a:p>
                      <a:pPr indent="0" lvl="0" marL="0" rtl="0" algn="l">
                        <a:spcBef>
                          <a:spcPts val="0"/>
                        </a:spcBef>
                        <a:spcAft>
                          <a:spcPts val="0"/>
                        </a:spcAft>
                        <a:buNone/>
                      </a:pPr>
                      <a:r>
                        <a:rPr lang="en"/>
                        <a:t>Myran</a:t>
                      </a:r>
                      <a:endParaRPr/>
                    </a:p>
                  </a:txBody>
                  <a:tcPr marT="91425" marB="91425" marR="91425" marL="91425">
                    <a:solidFill>
                      <a:srgbClr val="F4CCCC"/>
                    </a:solidFill>
                  </a:tcPr>
                </a:tc>
              </a:tr>
              <a:tr h="381000">
                <a:tc>
                  <a:txBody>
                    <a:bodyPr/>
                    <a:lstStyle/>
                    <a:p>
                      <a:pPr indent="0" lvl="0" marL="0" rtl="0" algn="l">
                        <a:spcBef>
                          <a:spcPts val="0"/>
                        </a:spcBef>
                        <a:spcAft>
                          <a:spcPts val="0"/>
                        </a:spcAft>
                        <a:buNone/>
                      </a:pPr>
                      <a:r>
                        <a:rPr lang="en"/>
                        <a:t>202</a:t>
                      </a:r>
                      <a:endParaRPr/>
                    </a:p>
                  </a:txBody>
                  <a:tcPr marT="91425" marB="91425" marR="91425" marL="91425"/>
                </a:tc>
                <a:tc>
                  <a:txBody>
                    <a:bodyPr/>
                    <a:lstStyle/>
                    <a:p>
                      <a:pPr indent="0" lvl="0" marL="0" rtl="0" algn="l">
                        <a:spcBef>
                          <a:spcPts val="0"/>
                        </a:spcBef>
                        <a:spcAft>
                          <a:spcPts val="0"/>
                        </a:spcAft>
                        <a:buNone/>
                      </a:pPr>
                      <a:r>
                        <a:rPr lang="en"/>
                        <a:t>Football</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Frans</a:t>
                      </a:r>
                      <a:endParaRPr/>
                    </a:p>
                  </a:txBody>
                  <a:tcPr marT="91425" marB="91425" marR="91425" marL="91425"/>
                </a:tc>
              </a:tr>
              <a:tr h="381000">
                <a:tc>
                  <a:txBody>
                    <a:bodyPr/>
                    <a:lstStyle/>
                    <a:p>
                      <a:pPr indent="0" lvl="0" marL="0" rtl="0" algn="l">
                        <a:spcBef>
                          <a:spcPts val="0"/>
                        </a:spcBef>
                        <a:spcAft>
                          <a:spcPts val="0"/>
                        </a:spcAft>
                        <a:buNone/>
                      </a:pPr>
                      <a:r>
                        <a:rPr lang="en"/>
                        <a:t>106</a:t>
                      </a:r>
                      <a:endParaRPr/>
                    </a:p>
                  </a:txBody>
                  <a:tcPr marT="91425" marB="91425" marR="91425" marL="91425"/>
                </a:tc>
                <a:tc>
                  <a:txBody>
                    <a:bodyPr/>
                    <a:lstStyle/>
                    <a:p>
                      <a:pPr indent="0" lvl="0" marL="0" rtl="0" algn="l">
                        <a:spcBef>
                          <a:spcPts val="0"/>
                        </a:spcBef>
                        <a:spcAft>
                          <a:spcPts val="0"/>
                        </a:spcAft>
                        <a:buNone/>
                      </a:pPr>
                      <a:r>
                        <a:rPr lang="en"/>
                        <a:t>Arts &amp; Crafts</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Jane</a:t>
                      </a:r>
                      <a:endParaRPr/>
                    </a:p>
                  </a:txBody>
                  <a:tcPr marT="91425" marB="91425" marR="91425" marL="91425"/>
                </a:tc>
              </a:tr>
              <a:tr h="381000">
                <a:tc>
                  <a:txBody>
                    <a:bodyPr/>
                    <a:lstStyle/>
                    <a:p>
                      <a:pPr indent="0" lvl="0" marL="0" rtl="0" algn="l">
                        <a:spcBef>
                          <a:spcPts val="0"/>
                        </a:spcBef>
                        <a:spcAft>
                          <a:spcPts val="0"/>
                        </a:spcAft>
                        <a:buNone/>
                      </a:pPr>
                      <a:r>
                        <a:rPr lang="en"/>
                        <a:t>109</a:t>
                      </a:r>
                      <a:endParaRPr/>
                    </a:p>
                  </a:txBody>
                  <a:tcPr marT="91425" marB="91425" marR="91425" marL="91425">
                    <a:solidFill>
                      <a:srgbClr val="F4CCCC"/>
                    </a:solidFill>
                  </a:tcPr>
                </a:tc>
                <a:tc>
                  <a:txBody>
                    <a:bodyPr/>
                    <a:lstStyle/>
                    <a:p>
                      <a:pPr indent="0" lvl="0" marL="0" rtl="0" algn="l">
                        <a:spcBef>
                          <a:spcPts val="0"/>
                        </a:spcBef>
                        <a:spcAft>
                          <a:spcPts val="0"/>
                        </a:spcAft>
                        <a:buNone/>
                      </a:pPr>
                      <a:r>
                        <a:rPr lang="en"/>
                        <a:t>Chess</a:t>
                      </a:r>
                      <a:endParaRPr/>
                    </a:p>
                  </a:txBody>
                  <a:tcPr marT="91425" marB="91425" marR="91425" marL="91425">
                    <a:solidFill>
                      <a:srgbClr val="F4CCCC"/>
                    </a:solidFill>
                  </a:tcPr>
                </a:tc>
                <a:tc>
                  <a:txBody>
                    <a:bodyPr/>
                    <a:lstStyle/>
                    <a:p>
                      <a:pPr indent="0" lvl="0" marL="0" rtl="0" algn="l">
                        <a:spcBef>
                          <a:spcPts val="0"/>
                        </a:spcBef>
                        <a:spcAft>
                          <a:spcPts val="0"/>
                        </a:spcAft>
                        <a:buNone/>
                      </a:pPr>
                      <a:r>
                        <a:rPr lang="en"/>
                        <a:t>1</a:t>
                      </a:r>
                      <a:endParaRPr/>
                    </a:p>
                  </a:txBody>
                  <a:tcPr marT="91425" marB="91425" marR="91425" marL="91425">
                    <a:solidFill>
                      <a:srgbClr val="F4CCCC"/>
                    </a:solidFill>
                  </a:tcPr>
                </a:tc>
                <a:tc>
                  <a:txBody>
                    <a:bodyPr/>
                    <a:lstStyle/>
                    <a:p>
                      <a:pPr indent="0" lvl="0" marL="0" rtl="0" algn="l">
                        <a:spcBef>
                          <a:spcPts val="0"/>
                        </a:spcBef>
                        <a:spcAft>
                          <a:spcPts val="0"/>
                        </a:spcAft>
                        <a:buNone/>
                      </a:pPr>
                      <a:r>
                        <a:rPr lang="en"/>
                        <a:t>Myran</a:t>
                      </a:r>
                      <a:endParaRPr/>
                    </a:p>
                  </a:txBody>
                  <a:tcPr marT="91425" marB="91425" marR="91425" marL="91425">
                    <a:solidFill>
                      <a:srgbClr val="F4CCCC"/>
                    </a:solidFill>
                  </a:tcPr>
                </a:tc>
              </a:tr>
            </a:tbl>
          </a:graphicData>
        </a:graphic>
      </p:graphicFrame>
      <p:sp>
        <p:nvSpPr>
          <p:cNvPr id="151" name="Google Shape;151;p24"/>
          <p:cNvSpPr txBox="1"/>
          <p:nvPr/>
        </p:nvSpPr>
        <p:spPr>
          <a:xfrm>
            <a:off x="6079750" y="3346825"/>
            <a:ext cx="3000000" cy="8466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dk2"/>
                </a:solidFill>
                <a:latin typeface="Questrial"/>
                <a:ea typeface="Questrial"/>
                <a:cs typeface="Questrial"/>
                <a:sym typeface="Questrial"/>
              </a:rPr>
              <a:t>Now in 3NF! ✓ Data redundancy eliminated!</a:t>
            </a:r>
            <a:endParaRPr sz="2000">
              <a:solidFill>
                <a:schemeClr val="dk2"/>
              </a:solidFill>
              <a:latin typeface="Questrial"/>
              <a:ea typeface="Questrial"/>
              <a:cs typeface="Questrial"/>
              <a:sym typeface="Quest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5"/>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25"/>
          <p:cNvPicPr preferRelativeResize="0"/>
          <p:nvPr/>
        </p:nvPicPr>
        <p:blipFill>
          <a:blip r:embed="rId3">
            <a:alphaModFix/>
          </a:blip>
          <a:stretch>
            <a:fillRect/>
          </a:stretch>
        </p:blipFill>
        <p:spPr>
          <a:xfrm>
            <a:off x="1366838" y="1052513"/>
            <a:ext cx="6410325" cy="3038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for Understanding: 3NF</a:t>
            </a:r>
            <a:endParaRPr/>
          </a:p>
        </p:txBody>
      </p:sp>
      <p:sp>
        <p:nvSpPr>
          <p:cNvPr id="164" name="Google Shape;164;p26"/>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Group Activity - Analyse this table:</a:t>
            </a:r>
            <a:endParaRPr/>
          </a:p>
          <a:p>
            <a:pPr indent="0" lvl="0" marL="0" rtl="0" algn="l">
              <a:spcBef>
                <a:spcPts val="0"/>
              </a:spcBef>
              <a:spcAft>
                <a:spcPts val="0"/>
              </a:spcAft>
              <a:buClr>
                <a:schemeClr val="dk2"/>
              </a:buClr>
              <a:buSzPts val="1100"/>
              <a:buFont typeface="Arial"/>
              <a:buNone/>
            </a:pPr>
            <a:r>
              <a:rPr b="1" lang="en"/>
              <a:t>PROJECT</a:t>
            </a:r>
            <a:r>
              <a:rPr lang="en"/>
              <a:t>(ProjectID, ProjectName, ManagerID, ManagerName, ManagerDept)</a:t>
            </a:r>
            <a:endParaRPr/>
          </a:p>
          <a:p>
            <a:pPr indent="0" lvl="0" marL="0" rtl="0" algn="l">
              <a:spcBef>
                <a:spcPts val="0"/>
              </a:spcBef>
              <a:spcAft>
                <a:spcPts val="0"/>
              </a:spcAft>
              <a:buClr>
                <a:schemeClr val="dk2"/>
              </a:buClr>
              <a:buSzPts val="1100"/>
              <a:buFont typeface="Arial"/>
              <a:buNone/>
            </a:pPr>
            <a:r>
              <a:rPr lang="en"/>
              <a:t>1. Is this table in 1NF? Why or why not?</a:t>
            </a:r>
            <a:endParaRPr/>
          </a:p>
          <a:p>
            <a:pPr indent="0" lvl="0" marL="0" rtl="0" algn="l">
              <a:spcBef>
                <a:spcPts val="0"/>
              </a:spcBef>
              <a:spcAft>
                <a:spcPts val="0"/>
              </a:spcAft>
              <a:buClr>
                <a:schemeClr val="dk2"/>
              </a:buClr>
              <a:buSzPts val="1100"/>
              <a:buFont typeface="Arial"/>
              <a:buNone/>
            </a:pPr>
            <a:r>
              <a:rPr lang="en"/>
              <a:t>2. Is this table in 2NF? Explain.</a:t>
            </a:r>
            <a:endParaRPr/>
          </a:p>
          <a:p>
            <a:pPr indent="0" lvl="0" marL="0" rtl="0" algn="l">
              <a:spcBef>
                <a:spcPts val="0"/>
              </a:spcBef>
              <a:spcAft>
                <a:spcPts val="0"/>
              </a:spcAft>
              <a:buClr>
                <a:schemeClr val="dk2"/>
              </a:buClr>
              <a:buSzPts val="1100"/>
              <a:buFont typeface="Arial"/>
              <a:buNone/>
            </a:pPr>
            <a:r>
              <a:rPr lang="en"/>
              <a:t>3. Is this table in 3NF? If not, identify the transitive dependency.</a:t>
            </a:r>
            <a:endParaRPr/>
          </a:p>
          <a:p>
            <a:pPr indent="0" lvl="0" marL="0" rtl="0" algn="l">
              <a:spcBef>
                <a:spcPts val="0"/>
              </a:spcBef>
              <a:spcAft>
                <a:spcPts val="0"/>
              </a:spcAft>
              <a:buClr>
                <a:schemeClr val="dk2"/>
              </a:buClr>
              <a:buSzPts val="1100"/>
              <a:buFont typeface="Arial"/>
              <a:buNone/>
            </a:pPr>
            <a:r>
              <a:rPr lang="en"/>
              <a:t>4. How would you restructure this to achieve 3NF?</a:t>
            </a:r>
            <a:endParaRPr/>
          </a:p>
          <a:p>
            <a:pPr indent="0" lvl="0" marL="0" rtl="0" algn="l">
              <a:spcBef>
                <a:spcPts val="0"/>
              </a:spcBef>
              <a:spcAft>
                <a:spcPts val="0"/>
              </a:spcAft>
              <a:buClr>
                <a:schemeClr val="dk2"/>
              </a:buClr>
              <a:buSzPts val="1100"/>
              <a:buFont typeface="Arial"/>
              <a:buNone/>
            </a:pPr>
            <a:r>
              <a:rPr lang="en"/>
              <a:t>5. Compare: What are the benefits of normalizing to 3NF?</a:t>
            </a:r>
            <a:endParaRPr/>
          </a:p>
          <a:p>
            <a:pPr indent="0" lvl="0" marL="0" rtl="0" algn="l">
              <a:spcBef>
                <a:spcPts val="0"/>
              </a:spcBef>
              <a:spcAft>
                <a:spcPts val="0"/>
              </a:spcAft>
              <a:buClr>
                <a:schemeClr val="dk2"/>
              </a:buClr>
              <a:buSzPts val="1100"/>
              <a:buFont typeface="Arial"/>
              <a:buNone/>
            </a:pPr>
            <a:r>
              <a:rPr lang="en"/>
              <a:t>Present your solution!</a:t>
            </a:r>
            <a:endParaRPr/>
          </a:p>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Discussion: Why Normalise?</a:t>
            </a:r>
            <a:endParaRPr/>
          </a:p>
        </p:txBody>
      </p:sp>
      <p:sp>
        <p:nvSpPr>
          <p:cNvPr id="170" name="Google Shape;170;p27"/>
          <p:cNvSpPr txBox="1"/>
          <p:nvPr>
            <p:ph idx="1" type="body"/>
          </p:nvPr>
        </p:nvSpPr>
        <p:spPr>
          <a:xfrm>
            <a:off x="183775" y="776275"/>
            <a:ext cx="66885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700"/>
              <a:t>Reflect on what we've learned - Discuss as a class:</a:t>
            </a:r>
            <a:endParaRPr sz="1700"/>
          </a:p>
          <a:p>
            <a:pPr indent="0" lvl="0" marL="0" rtl="0" algn="l">
              <a:spcBef>
                <a:spcPts val="0"/>
              </a:spcBef>
              <a:spcAft>
                <a:spcPts val="0"/>
              </a:spcAft>
              <a:buClr>
                <a:schemeClr val="dk2"/>
              </a:buClr>
              <a:buSzPts val="1100"/>
              <a:buFont typeface="Arial"/>
              <a:buNone/>
            </a:pPr>
            <a:r>
              <a:rPr lang="en" sz="1700"/>
              <a:t>1. What problems does normalisation solve?</a:t>
            </a:r>
            <a:endParaRPr sz="1700"/>
          </a:p>
          <a:p>
            <a:pPr indent="0" lvl="0" marL="0" rtl="0" algn="l">
              <a:spcBef>
                <a:spcPts val="0"/>
              </a:spcBef>
              <a:spcAft>
                <a:spcPts val="0"/>
              </a:spcAft>
              <a:buClr>
                <a:schemeClr val="dk2"/>
              </a:buClr>
              <a:buSzPts val="1100"/>
              <a:buFont typeface="Arial"/>
              <a:buNone/>
            </a:pPr>
            <a:r>
              <a:rPr lang="en" sz="1700"/>
              <a:t>   - Data redundancy</a:t>
            </a:r>
            <a:endParaRPr sz="1700"/>
          </a:p>
          <a:p>
            <a:pPr indent="0" lvl="0" marL="0" rtl="0" algn="l">
              <a:spcBef>
                <a:spcPts val="0"/>
              </a:spcBef>
              <a:spcAft>
                <a:spcPts val="0"/>
              </a:spcAft>
              <a:buClr>
                <a:schemeClr val="dk2"/>
              </a:buClr>
              <a:buSzPts val="1100"/>
              <a:buFont typeface="Arial"/>
              <a:buNone/>
            </a:pPr>
            <a:r>
              <a:rPr lang="en" sz="1700"/>
              <a:t>   - Update anomalies</a:t>
            </a:r>
            <a:endParaRPr sz="1700"/>
          </a:p>
          <a:p>
            <a:pPr indent="0" lvl="0" marL="0" rtl="0" algn="l">
              <a:spcBef>
                <a:spcPts val="0"/>
              </a:spcBef>
              <a:spcAft>
                <a:spcPts val="0"/>
              </a:spcAft>
              <a:buClr>
                <a:schemeClr val="dk2"/>
              </a:buClr>
              <a:buSzPts val="1100"/>
              <a:buFont typeface="Arial"/>
              <a:buNone/>
            </a:pPr>
            <a:r>
              <a:rPr lang="en" sz="1700"/>
              <a:t>   - Insertion anomalies</a:t>
            </a:r>
            <a:endParaRPr sz="1700"/>
          </a:p>
          <a:p>
            <a:pPr indent="0" lvl="0" marL="0" rtl="0" algn="l">
              <a:spcBef>
                <a:spcPts val="0"/>
              </a:spcBef>
              <a:spcAft>
                <a:spcPts val="0"/>
              </a:spcAft>
              <a:buClr>
                <a:schemeClr val="dk2"/>
              </a:buClr>
              <a:buSzPts val="1100"/>
              <a:buFont typeface="Arial"/>
              <a:buNone/>
            </a:pPr>
            <a:r>
              <a:rPr lang="en" sz="1700"/>
              <a:t>   - Deletion anomalies</a:t>
            </a:r>
            <a:endParaRPr sz="1700"/>
          </a:p>
          <a:p>
            <a:pPr indent="0" lvl="0" marL="0" rtl="0" algn="l">
              <a:spcBef>
                <a:spcPts val="0"/>
              </a:spcBef>
              <a:spcAft>
                <a:spcPts val="0"/>
              </a:spcAft>
              <a:buClr>
                <a:schemeClr val="dk2"/>
              </a:buClr>
              <a:buSzPts val="1100"/>
              <a:buFont typeface="Arial"/>
              <a:buNone/>
            </a:pPr>
            <a:r>
              <a:rPr lang="en" sz="1700"/>
              <a:t>2. What's the trade-off?</a:t>
            </a:r>
            <a:endParaRPr sz="1700"/>
          </a:p>
          <a:p>
            <a:pPr indent="0" lvl="0" marL="0" rtl="0" algn="l">
              <a:spcBef>
                <a:spcPts val="0"/>
              </a:spcBef>
              <a:spcAft>
                <a:spcPts val="0"/>
              </a:spcAft>
              <a:buClr>
                <a:schemeClr val="dk2"/>
              </a:buClr>
              <a:buSzPts val="1100"/>
              <a:buFont typeface="Arial"/>
              <a:buNone/>
            </a:pPr>
            <a:r>
              <a:rPr lang="en" sz="1700"/>
              <a:t>   - More tables = more complex queries (need JOIN operations)</a:t>
            </a:r>
            <a:endParaRPr sz="1700"/>
          </a:p>
          <a:p>
            <a:pPr indent="0" lvl="0" marL="0" rtl="0" algn="l">
              <a:spcBef>
                <a:spcPts val="0"/>
              </a:spcBef>
              <a:spcAft>
                <a:spcPts val="0"/>
              </a:spcAft>
              <a:buClr>
                <a:schemeClr val="dk2"/>
              </a:buClr>
              <a:buSzPts val="1100"/>
              <a:buFont typeface="Arial"/>
              <a:buNone/>
            </a:pPr>
            <a:r>
              <a:rPr lang="en" sz="1700"/>
              <a:t>   - Performance considerations</a:t>
            </a:r>
            <a:endParaRPr sz="1700"/>
          </a:p>
          <a:p>
            <a:pPr indent="0" lvl="0" marL="0" rtl="0" algn="l">
              <a:spcBef>
                <a:spcPts val="0"/>
              </a:spcBef>
              <a:spcAft>
                <a:spcPts val="0"/>
              </a:spcAft>
              <a:buClr>
                <a:schemeClr val="dk2"/>
              </a:buClr>
              <a:buSzPts val="1100"/>
              <a:buFont typeface="Arial"/>
              <a:buNone/>
            </a:pPr>
            <a:r>
              <a:rPr lang="en" sz="1700"/>
              <a:t>3. When might you NOT normalise to 3NF?</a:t>
            </a:r>
            <a:endParaRPr sz="1700"/>
          </a:p>
          <a:p>
            <a:pPr indent="0" lvl="0" marL="0" rtl="0" algn="l">
              <a:spcBef>
                <a:spcPts val="0"/>
              </a:spcBef>
              <a:spcAft>
                <a:spcPts val="0"/>
              </a:spcAft>
              <a:buClr>
                <a:schemeClr val="dk2"/>
              </a:buClr>
              <a:buSzPts val="1100"/>
              <a:buFont typeface="Arial"/>
              <a:buNone/>
            </a:pPr>
            <a:r>
              <a:rPr lang="en" sz="1700"/>
              <a:t>   - Read-heavy applications</a:t>
            </a:r>
            <a:endParaRPr sz="1700"/>
          </a:p>
          <a:p>
            <a:pPr indent="0" lvl="0" marL="0" rtl="0" algn="l">
              <a:spcBef>
                <a:spcPts val="0"/>
              </a:spcBef>
              <a:spcAft>
                <a:spcPts val="0"/>
              </a:spcAft>
              <a:buClr>
                <a:schemeClr val="dk2"/>
              </a:buClr>
              <a:buSzPts val="1100"/>
              <a:buFont typeface="Arial"/>
              <a:buNone/>
            </a:pPr>
            <a:r>
              <a:rPr lang="en" sz="1700"/>
              <a:t>   - Data warehousing scenarios</a:t>
            </a:r>
            <a:endParaRPr sz="1700"/>
          </a:p>
        </p:txBody>
      </p:sp>
      <p:sp>
        <p:nvSpPr>
          <p:cNvPr id="171" name="Google Shape;171;p27"/>
          <p:cNvSpPr txBox="1"/>
          <p:nvPr/>
        </p:nvSpPr>
        <p:spPr>
          <a:xfrm>
            <a:off x="5406600" y="144775"/>
            <a:ext cx="3637200" cy="169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2200">
                <a:solidFill>
                  <a:schemeClr val="dk2"/>
                </a:solidFill>
                <a:highlight>
                  <a:srgbClr val="C9DAF8"/>
                </a:highlight>
                <a:latin typeface="Questrial"/>
                <a:ea typeface="Questrial"/>
                <a:cs typeface="Questrial"/>
                <a:sym typeface="Questrial"/>
              </a:rPr>
              <a:t>Real-world application</a:t>
            </a:r>
            <a:endParaRPr b="1" sz="2200">
              <a:solidFill>
                <a:schemeClr val="dk2"/>
              </a:solidFill>
              <a:highlight>
                <a:srgbClr val="C9DAF8"/>
              </a:highlight>
              <a:latin typeface="Questrial"/>
              <a:ea typeface="Questrial"/>
              <a:cs typeface="Questrial"/>
              <a:sym typeface="Questrial"/>
            </a:endParaRPr>
          </a:p>
          <a:p>
            <a:pPr indent="0" lvl="0" marL="0" rtl="0" algn="ctr">
              <a:lnSpc>
                <a:spcPct val="115000"/>
              </a:lnSpc>
              <a:spcBef>
                <a:spcPts val="0"/>
              </a:spcBef>
              <a:spcAft>
                <a:spcPts val="0"/>
              </a:spcAft>
              <a:buNone/>
            </a:pPr>
            <a:r>
              <a:rPr lang="en" sz="2200">
                <a:solidFill>
                  <a:schemeClr val="dk2"/>
                </a:solidFill>
                <a:highlight>
                  <a:srgbClr val="C9DAF8"/>
                </a:highlight>
                <a:latin typeface="Questrial"/>
                <a:ea typeface="Questrial"/>
                <a:cs typeface="Questrial"/>
                <a:sym typeface="Questrial"/>
              </a:rPr>
              <a:t>Where would you use normalisation in a school database?</a:t>
            </a:r>
            <a:endParaRPr sz="2200">
              <a:solidFill>
                <a:schemeClr val="dk2"/>
              </a:solidFill>
              <a:highlight>
                <a:srgbClr val="C9DAF8"/>
              </a:highlight>
              <a:latin typeface="Questrial"/>
              <a:ea typeface="Questrial"/>
              <a:cs typeface="Questrial"/>
              <a:sym typeface="Questrial"/>
            </a:endParaRPr>
          </a:p>
        </p:txBody>
      </p:sp>
      <p:pic>
        <p:nvPicPr>
          <p:cNvPr id="172" name="Google Shape;172;p27"/>
          <p:cNvPicPr preferRelativeResize="0"/>
          <p:nvPr/>
        </p:nvPicPr>
        <p:blipFill>
          <a:blip r:embed="rId3">
            <a:alphaModFix/>
          </a:blip>
          <a:stretch>
            <a:fillRect/>
          </a:stretch>
        </p:blipFill>
        <p:spPr>
          <a:xfrm>
            <a:off x="6274800" y="1941325"/>
            <a:ext cx="2769001" cy="19739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Normalising Databases</a:t>
            </a:r>
            <a:endParaRPr/>
          </a:p>
        </p:txBody>
      </p:sp>
      <p:sp>
        <p:nvSpPr>
          <p:cNvPr id="178" name="Google Shape;178;p2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Normalisation is the process of organising a database to reduce data redundancy and improve data integrity.</a:t>
            </a:r>
            <a:endParaRPr sz="2400"/>
          </a:p>
          <a:p>
            <a:pPr indent="0" lvl="0" marL="0" rtl="0" algn="l">
              <a:spcBef>
                <a:spcPts val="1200"/>
              </a:spcBef>
              <a:spcAft>
                <a:spcPts val="0"/>
              </a:spcAft>
              <a:buClr>
                <a:schemeClr val="dk2"/>
              </a:buClr>
              <a:buSzPts val="1100"/>
              <a:buFont typeface="Arial"/>
              <a:buNone/>
            </a:pPr>
            <a:r>
              <a:rPr b="1" lang="en" sz="1800"/>
              <a:t>Key goals:</a:t>
            </a:r>
            <a:endParaRPr b="1" sz="1800"/>
          </a:p>
          <a:p>
            <a:pPr indent="-342900" lvl="0" marL="457200" rtl="0" algn="l">
              <a:spcBef>
                <a:spcPts val="600"/>
              </a:spcBef>
              <a:spcAft>
                <a:spcPts val="0"/>
              </a:spcAft>
              <a:buClr>
                <a:schemeClr val="dk2"/>
              </a:buClr>
              <a:buSzPts val="1800"/>
              <a:buFont typeface="Questrial"/>
              <a:buChar char="●"/>
            </a:pPr>
            <a:r>
              <a:rPr lang="en" sz="1800"/>
              <a:t>Eliminate duplicate data (e.g., the same author name stored in multiple places)</a:t>
            </a:r>
            <a:endParaRPr sz="1800"/>
          </a:p>
          <a:p>
            <a:pPr indent="-342900" lvl="0" marL="457200" rtl="0" algn="l">
              <a:spcBef>
                <a:spcPts val="0"/>
              </a:spcBef>
              <a:spcAft>
                <a:spcPts val="0"/>
              </a:spcAft>
              <a:buClr>
                <a:schemeClr val="dk2"/>
              </a:buClr>
              <a:buSzPts val="1800"/>
              <a:buFont typeface="Questrial"/>
              <a:buChar char="●"/>
            </a:pPr>
            <a:r>
              <a:rPr lang="en" sz="1800"/>
              <a:t>Ensure data is stored logically in separate, related tables</a:t>
            </a:r>
            <a:endParaRPr sz="1800"/>
          </a:p>
          <a:p>
            <a:pPr indent="-342900" lvl="0" marL="457200" rtl="0" algn="l">
              <a:spcBef>
                <a:spcPts val="0"/>
              </a:spcBef>
              <a:spcAft>
                <a:spcPts val="0"/>
              </a:spcAft>
              <a:buClr>
                <a:schemeClr val="dk2"/>
              </a:buClr>
              <a:buSzPts val="1800"/>
              <a:buFont typeface="Questrial"/>
              <a:buChar char="●"/>
            </a:pPr>
            <a:r>
              <a:rPr lang="en" sz="1800"/>
              <a:t>Make the database easier to maintain and scale</a:t>
            </a:r>
            <a:endParaRPr sz="1800"/>
          </a:p>
          <a:p>
            <a:pPr indent="0" lvl="0" marL="0" rtl="0" algn="l">
              <a:spcBef>
                <a:spcPts val="600"/>
              </a:spcBef>
              <a:spcAft>
                <a:spcPts val="0"/>
              </a:spcAft>
              <a:buClr>
                <a:schemeClr val="dk2"/>
              </a:buClr>
              <a:buSzPts val="1100"/>
              <a:buFont typeface="Arial"/>
              <a:buNone/>
            </a:pPr>
            <a:r>
              <a:rPr lang="en" sz="2200"/>
              <a:t>A fully normalised database follows rules called Normal Forms: 1NF → 2NF → 3NF</a:t>
            </a:r>
            <a:endParaRPr sz="2200"/>
          </a:p>
          <a:p>
            <a:pPr indent="0" lvl="0" marL="0" rtl="0" algn="l">
              <a:spcBef>
                <a:spcPts val="600"/>
              </a:spcBef>
              <a:spcAft>
                <a:spcPts val="0"/>
              </a:spcAft>
              <a:buNone/>
            </a:pPr>
            <a:r>
              <a:t/>
            </a:r>
            <a:endParaRPr sz="29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Pros &amp; Cons of Normalising</a:t>
            </a:r>
            <a:endParaRPr/>
          </a:p>
        </p:txBody>
      </p:sp>
      <p:graphicFrame>
        <p:nvGraphicFramePr>
          <p:cNvPr id="184" name="Google Shape;184;p29"/>
          <p:cNvGraphicFramePr/>
          <p:nvPr/>
        </p:nvGraphicFramePr>
        <p:xfrm>
          <a:off x="485375" y="734483"/>
          <a:ext cx="3000000" cy="3000000"/>
        </p:xfrm>
        <a:graphic>
          <a:graphicData uri="http://schemas.openxmlformats.org/drawingml/2006/table">
            <a:tbl>
              <a:tblPr>
                <a:noFill/>
                <a:tableStyleId>{7388F1F6-6D60-4381-A1E2-785196935048}</a:tableStyleId>
              </a:tblPr>
              <a:tblGrid>
                <a:gridCol w="4133500"/>
                <a:gridCol w="4039750"/>
              </a:tblGrid>
              <a:tr h="477000">
                <a:tc>
                  <a:txBody>
                    <a:bodyPr/>
                    <a:lstStyle/>
                    <a:p>
                      <a:pPr indent="0" lvl="0" marL="0" rtl="0" algn="l">
                        <a:lnSpc>
                          <a:spcPct val="115000"/>
                        </a:lnSpc>
                        <a:spcBef>
                          <a:spcPts val="0"/>
                        </a:spcBef>
                        <a:spcAft>
                          <a:spcPts val="0"/>
                        </a:spcAft>
                        <a:buNone/>
                      </a:pPr>
                      <a:r>
                        <a:rPr b="1" lang="en" sz="1800">
                          <a:latin typeface="Questrial"/>
                          <a:ea typeface="Questrial"/>
                          <a:cs typeface="Questrial"/>
                          <a:sym typeface="Questrial"/>
                        </a:rPr>
                        <a:t>✅ Advantages</a:t>
                      </a:r>
                      <a:endParaRPr b="1"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800">
                          <a:latin typeface="Questrial"/>
                          <a:ea typeface="Questrial"/>
                          <a:cs typeface="Questrial"/>
                          <a:sym typeface="Questrial"/>
                        </a:rPr>
                        <a:t>❌ Disadvantages</a:t>
                      </a:r>
                      <a:endParaRPr b="1"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rgbClr val="F2F2F2"/>
                    </a:solidFill>
                  </a:tcPr>
                </a:tc>
              </a:tr>
              <a:tr h="732750">
                <a:tc>
                  <a:txBody>
                    <a:bodyPr/>
                    <a:lstStyle/>
                    <a:p>
                      <a:pPr indent="0" lvl="0" marL="0" rtl="0" algn="l">
                        <a:spcBef>
                          <a:spcPts val="0"/>
                        </a:spcBef>
                        <a:spcAft>
                          <a:spcPts val="0"/>
                        </a:spcAft>
                        <a:buNone/>
                      </a:pPr>
                      <a:r>
                        <a:rPr lang="en" sz="1800">
                          <a:latin typeface="Questrial"/>
                          <a:ea typeface="Questrial"/>
                          <a:cs typeface="Questrial"/>
                          <a:sym typeface="Questrial"/>
                        </a:rPr>
                        <a:t>Reduces data redundancy: less storage waste</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Questrial"/>
                          <a:ea typeface="Questrial"/>
                          <a:cs typeface="Questrial"/>
                          <a:sym typeface="Questrial"/>
                        </a:rPr>
                        <a:t>Complex schema with many tables: harder to understand</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1034000">
                <a:tc>
                  <a:txBody>
                    <a:bodyPr/>
                    <a:lstStyle/>
                    <a:p>
                      <a:pPr indent="0" lvl="0" marL="0" rtl="0" algn="l">
                        <a:spcBef>
                          <a:spcPts val="0"/>
                        </a:spcBef>
                        <a:spcAft>
                          <a:spcPts val="0"/>
                        </a:spcAft>
                        <a:buNone/>
                      </a:pPr>
                      <a:r>
                        <a:rPr lang="en" sz="1800">
                          <a:latin typeface="Questrial"/>
                          <a:ea typeface="Questrial"/>
                          <a:cs typeface="Questrial"/>
                          <a:sym typeface="Questrial"/>
                        </a:rPr>
                        <a:t>Ensures data integrity: insert/update/delete stay consistent</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Questrial"/>
                          <a:ea typeface="Questrial"/>
                          <a:cs typeface="Questrial"/>
                          <a:sym typeface="Questrial"/>
                        </a:rPr>
                        <a:t>Increased query complexity: more JOINs needed</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732750">
                <a:tc>
                  <a:txBody>
                    <a:bodyPr/>
                    <a:lstStyle/>
                    <a:p>
                      <a:pPr indent="0" lvl="0" marL="0" rtl="0" algn="l">
                        <a:spcBef>
                          <a:spcPts val="0"/>
                        </a:spcBef>
                        <a:spcAft>
                          <a:spcPts val="0"/>
                        </a:spcAft>
                        <a:buNone/>
                      </a:pPr>
                      <a:r>
                        <a:rPr lang="en" sz="1800">
                          <a:latin typeface="Questrial"/>
                          <a:ea typeface="Questrial"/>
                          <a:cs typeface="Questrial"/>
                          <a:sym typeface="Questrial"/>
                        </a:rPr>
                        <a:t>Supports efficient data retrieval</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Questrial"/>
                          <a:ea typeface="Questrial"/>
                          <a:cs typeface="Questrial"/>
                          <a:sym typeface="Questrial"/>
                        </a:rPr>
                        <a:t>More storage used for extra tables &amp; relationships</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732750">
                <a:tc>
                  <a:txBody>
                    <a:bodyPr/>
                    <a:lstStyle/>
                    <a:p>
                      <a:pPr indent="0" lvl="0" marL="0" rtl="0" algn="l">
                        <a:spcBef>
                          <a:spcPts val="0"/>
                        </a:spcBef>
                        <a:spcAft>
                          <a:spcPts val="0"/>
                        </a:spcAft>
                        <a:buNone/>
                      </a:pPr>
                      <a:r>
                        <a:rPr lang="en" sz="1800">
                          <a:latin typeface="Questrial"/>
                          <a:ea typeface="Questrial"/>
                          <a:cs typeface="Questrial"/>
                          <a:sym typeface="Questrial"/>
                        </a:rPr>
                        <a:t>Easier to scale: add new data without restructuring</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Questrial"/>
                          <a:ea typeface="Questrial"/>
                          <a:cs typeface="Questrial"/>
                          <a:sym typeface="Questrial"/>
                        </a:rPr>
                        <a:t>Not ideal for all use cases (e.g. real-time analytics)</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732750">
                <a:tc>
                  <a:txBody>
                    <a:bodyPr/>
                    <a:lstStyle/>
                    <a:p>
                      <a:pPr indent="0" lvl="0" marL="0" rtl="0" algn="l">
                        <a:spcBef>
                          <a:spcPts val="0"/>
                        </a:spcBef>
                        <a:spcAft>
                          <a:spcPts val="0"/>
                        </a:spcAft>
                        <a:buNone/>
                      </a:pPr>
                      <a:r>
                        <a:rPr lang="en" sz="1800">
                          <a:latin typeface="Questrial"/>
                          <a:ea typeface="Questrial"/>
                          <a:cs typeface="Questrial"/>
                          <a:sym typeface="Questrial"/>
                        </a:rPr>
                        <a:t>Simplifies maintenance: change one table, not many</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800">
                          <a:latin typeface="Questrial"/>
                          <a:ea typeface="Questrial"/>
                          <a:cs typeface="Questrial"/>
                          <a:sym typeface="Questrial"/>
                        </a:rPr>
                        <a:t>Over-normalisation can hurt performance</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Denormalising Databases</a:t>
            </a:r>
            <a:endParaRPr/>
          </a:p>
        </p:txBody>
      </p:sp>
      <p:sp>
        <p:nvSpPr>
          <p:cNvPr id="190" name="Google Shape;190;p30"/>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Denormalisation is the deliberate process of adding back redundancy into a database to improve read/query performance.</a:t>
            </a:r>
            <a:endParaRPr/>
          </a:p>
          <a:p>
            <a:pPr indent="0" lvl="0" marL="0" rtl="0" algn="l">
              <a:spcBef>
                <a:spcPts val="0"/>
              </a:spcBef>
              <a:spcAft>
                <a:spcPts val="0"/>
              </a:spcAft>
              <a:buNone/>
            </a:pPr>
            <a:r>
              <a:rPr lang="en" sz="1900">
                <a:highlight>
                  <a:srgbClr val="C9DAF8"/>
                </a:highlight>
              </a:rPr>
              <a:t>Why would we do this? </a:t>
            </a:r>
            <a:endParaRPr sz="1900">
              <a:highlight>
                <a:srgbClr val="C9DAF8"/>
              </a:highlight>
            </a:endParaRPr>
          </a:p>
          <a:p>
            <a:pPr indent="457200" lvl="0" marL="914400" rtl="0" algn="l">
              <a:spcBef>
                <a:spcPts val="0"/>
              </a:spcBef>
              <a:spcAft>
                <a:spcPts val="0"/>
              </a:spcAft>
              <a:buNone/>
            </a:pPr>
            <a:r>
              <a:rPr lang="en" sz="1900">
                <a:highlight>
                  <a:srgbClr val="C9DAF8"/>
                </a:highlight>
              </a:rPr>
              <a:t>Sometimes speed matters more than perfect structure:</a:t>
            </a:r>
            <a:endParaRPr sz="1900">
              <a:highlight>
                <a:srgbClr val="C9DAF8"/>
              </a:highlight>
            </a:endParaRPr>
          </a:p>
        </p:txBody>
      </p:sp>
      <p:graphicFrame>
        <p:nvGraphicFramePr>
          <p:cNvPr id="191" name="Google Shape;191;p30"/>
          <p:cNvGraphicFramePr/>
          <p:nvPr/>
        </p:nvGraphicFramePr>
        <p:xfrm>
          <a:off x="41675" y="2768550"/>
          <a:ext cx="3000000" cy="3000000"/>
        </p:xfrm>
        <a:graphic>
          <a:graphicData uri="http://schemas.openxmlformats.org/drawingml/2006/table">
            <a:tbl>
              <a:tblPr>
                <a:noFill/>
                <a:tableStyleId>{7388F1F6-6D60-4381-A1E2-785196935048}</a:tableStyleId>
              </a:tblPr>
              <a:tblGrid>
                <a:gridCol w="3105150"/>
                <a:gridCol w="5846600"/>
              </a:tblGrid>
              <a:tr h="333375">
                <a:tc>
                  <a:txBody>
                    <a:bodyPr/>
                    <a:lstStyle/>
                    <a:p>
                      <a:pPr indent="0" lvl="0" marL="0" rtl="0" algn="l">
                        <a:lnSpc>
                          <a:spcPct val="115000"/>
                        </a:lnSpc>
                        <a:spcBef>
                          <a:spcPts val="0"/>
                        </a:spcBef>
                        <a:spcAft>
                          <a:spcPts val="0"/>
                        </a:spcAft>
                        <a:buNone/>
                      </a:pPr>
                      <a:r>
                        <a:rPr b="1" lang="en" sz="1800">
                          <a:latin typeface="Questrial"/>
                          <a:ea typeface="Questrial"/>
                          <a:cs typeface="Questrial"/>
                          <a:sym typeface="Questrial"/>
                        </a:rPr>
                        <a:t>When to Denormalise</a:t>
                      </a:r>
                      <a:endParaRPr b="1"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1800">
                          <a:latin typeface="Questrial"/>
                          <a:ea typeface="Questrial"/>
                          <a:cs typeface="Questrial"/>
                          <a:sym typeface="Questrial"/>
                        </a:rPr>
                        <a:t>Why It Helps</a:t>
                      </a:r>
                      <a:endParaRPr b="1"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rgbClr val="F2F2F2"/>
                    </a:solidFill>
                  </a:tcPr>
                </a:tc>
              </a:tr>
              <a:tr h="333375">
                <a:tc>
                  <a:txBody>
                    <a:bodyPr/>
                    <a:lstStyle/>
                    <a:p>
                      <a:pPr indent="0" lvl="0" marL="0" rtl="0" algn="l">
                        <a:spcBef>
                          <a:spcPts val="0"/>
                        </a:spcBef>
                        <a:spcAft>
                          <a:spcPts val="0"/>
                        </a:spcAft>
                        <a:buNone/>
                      </a:pPr>
                      <a:r>
                        <a:rPr lang="en" sz="1800">
                          <a:latin typeface="Questrial"/>
                          <a:ea typeface="Questrial"/>
                          <a:cs typeface="Questrial"/>
                          <a:sym typeface="Questrial"/>
                        </a:rPr>
                        <a:t>Read-intensive applications</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Questrial"/>
                          <a:ea typeface="Questrial"/>
                          <a:cs typeface="Questrial"/>
                          <a:sym typeface="Questrial"/>
                        </a:rPr>
                        <a:t>Fewer JOINs = faster data retrieval</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333375">
                <a:tc>
                  <a:txBody>
                    <a:bodyPr/>
                    <a:lstStyle/>
                    <a:p>
                      <a:pPr indent="0" lvl="0" marL="0" rtl="0" algn="l">
                        <a:spcBef>
                          <a:spcPts val="0"/>
                        </a:spcBef>
                        <a:spcAft>
                          <a:spcPts val="0"/>
                        </a:spcAft>
                        <a:buNone/>
                      </a:pPr>
                      <a:r>
                        <a:rPr lang="en" sz="1800">
                          <a:latin typeface="Questrial"/>
                          <a:ea typeface="Questrial"/>
                          <a:cs typeface="Questrial"/>
                          <a:sym typeface="Questrial"/>
                        </a:rPr>
                        <a:t>Reporting &amp; analytics</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Questrial"/>
                          <a:ea typeface="Questrial"/>
                          <a:cs typeface="Questrial"/>
                          <a:sym typeface="Questrial"/>
                        </a:rPr>
                        <a:t>Simpler queries across large datasets</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333375">
                <a:tc>
                  <a:txBody>
                    <a:bodyPr/>
                    <a:lstStyle/>
                    <a:p>
                      <a:pPr indent="0" lvl="0" marL="0" rtl="0" algn="l">
                        <a:spcBef>
                          <a:spcPts val="0"/>
                        </a:spcBef>
                        <a:spcAft>
                          <a:spcPts val="0"/>
                        </a:spcAft>
                        <a:buNone/>
                      </a:pPr>
                      <a:r>
                        <a:rPr lang="en" sz="1800">
                          <a:latin typeface="Questrial"/>
                          <a:ea typeface="Questrial"/>
                          <a:cs typeface="Questrial"/>
                          <a:sym typeface="Questrial"/>
                        </a:rPr>
                        <a:t>Data warehousing</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1800">
                          <a:latin typeface="Questrial"/>
                          <a:ea typeface="Questrial"/>
                          <a:cs typeface="Questrial"/>
                          <a:sym typeface="Questrial"/>
                        </a:rPr>
                        <a:t>Historical data accessed quickly without complex joins</a:t>
                      </a:r>
                      <a:endParaRPr sz="18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Pros &amp; Cons Denomalisation</a:t>
            </a:r>
            <a:endParaRPr/>
          </a:p>
        </p:txBody>
      </p:sp>
      <p:graphicFrame>
        <p:nvGraphicFramePr>
          <p:cNvPr id="197" name="Google Shape;197;p31"/>
          <p:cNvGraphicFramePr/>
          <p:nvPr/>
        </p:nvGraphicFramePr>
        <p:xfrm>
          <a:off x="629300" y="1030025"/>
          <a:ext cx="3000000" cy="3000000"/>
        </p:xfrm>
        <a:graphic>
          <a:graphicData uri="http://schemas.openxmlformats.org/drawingml/2006/table">
            <a:tbl>
              <a:tblPr>
                <a:noFill/>
                <a:tableStyleId>{7388F1F6-6D60-4381-A1E2-785196935048}</a:tableStyleId>
              </a:tblPr>
              <a:tblGrid>
                <a:gridCol w="3439175"/>
                <a:gridCol w="4195450"/>
              </a:tblGrid>
              <a:tr h="361950">
                <a:tc>
                  <a:txBody>
                    <a:bodyPr/>
                    <a:lstStyle/>
                    <a:p>
                      <a:pPr indent="0" lvl="0" marL="0" rtl="0" algn="l">
                        <a:lnSpc>
                          <a:spcPct val="115000"/>
                        </a:lnSpc>
                        <a:spcBef>
                          <a:spcPts val="0"/>
                        </a:spcBef>
                        <a:spcAft>
                          <a:spcPts val="0"/>
                        </a:spcAft>
                        <a:buNone/>
                      </a:pPr>
                      <a:r>
                        <a:rPr b="1" lang="en" sz="2200">
                          <a:latin typeface="Questrial"/>
                          <a:ea typeface="Questrial"/>
                          <a:cs typeface="Questrial"/>
                          <a:sym typeface="Questrial"/>
                        </a:rPr>
                        <a:t>✅ Advantages</a:t>
                      </a:r>
                      <a:endParaRPr b="1"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rgbClr val="F2F2F2"/>
                    </a:solidFill>
                  </a:tcPr>
                </a:tc>
                <a:tc>
                  <a:txBody>
                    <a:bodyPr/>
                    <a:lstStyle/>
                    <a:p>
                      <a:pPr indent="0" lvl="0" marL="0" rtl="0" algn="l">
                        <a:lnSpc>
                          <a:spcPct val="115000"/>
                        </a:lnSpc>
                        <a:spcBef>
                          <a:spcPts val="0"/>
                        </a:spcBef>
                        <a:spcAft>
                          <a:spcPts val="0"/>
                        </a:spcAft>
                        <a:buNone/>
                      </a:pPr>
                      <a:r>
                        <a:rPr b="1" lang="en" sz="2200">
                          <a:latin typeface="Questrial"/>
                          <a:ea typeface="Questrial"/>
                          <a:cs typeface="Questrial"/>
                          <a:sym typeface="Questrial"/>
                        </a:rPr>
                        <a:t>❌ Disadvantages</a:t>
                      </a:r>
                      <a:endParaRPr b="1"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solidFill>
                      <a:srgbClr val="F2F2F2"/>
                    </a:solidFill>
                  </a:tcPr>
                </a:tc>
              </a:tr>
              <a:tr h="333375">
                <a:tc>
                  <a:txBody>
                    <a:bodyPr/>
                    <a:lstStyle/>
                    <a:p>
                      <a:pPr indent="0" lvl="0" marL="0" rtl="0" algn="l">
                        <a:spcBef>
                          <a:spcPts val="0"/>
                        </a:spcBef>
                        <a:spcAft>
                          <a:spcPts val="0"/>
                        </a:spcAft>
                        <a:buNone/>
                      </a:pPr>
                      <a:r>
                        <a:rPr lang="en" sz="2200">
                          <a:latin typeface="Questrial"/>
                          <a:ea typeface="Questrial"/>
                          <a:cs typeface="Questrial"/>
                          <a:sym typeface="Questrial"/>
                        </a:rPr>
                        <a:t>Faster query performance</a:t>
                      </a:r>
                      <a:endParaRPr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Questrial"/>
                          <a:ea typeface="Questrial"/>
                          <a:cs typeface="Questrial"/>
                          <a:sym typeface="Questrial"/>
                        </a:rPr>
                        <a:t>Data redundancy: risk of inconsistencies</a:t>
                      </a:r>
                      <a:endParaRPr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333375">
                <a:tc>
                  <a:txBody>
                    <a:bodyPr/>
                    <a:lstStyle/>
                    <a:p>
                      <a:pPr indent="0" lvl="0" marL="0" rtl="0" algn="l">
                        <a:spcBef>
                          <a:spcPts val="0"/>
                        </a:spcBef>
                        <a:spcAft>
                          <a:spcPts val="0"/>
                        </a:spcAft>
                        <a:buNone/>
                      </a:pPr>
                      <a:r>
                        <a:rPr lang="en" sz="2200">
                          <a:latin typeface="Questrial"/>
                          <a:ea typeface="Questrial"/>
                          <a:cs typeface="Questrial"/>
                          <a:sym typeface="Questrial"/>
                        </a:rPr>
                        <a:t>Simpler data retrieval</a:t>
                      </a:r>
                      <a:endParaRPr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Questrial"/>
                          <a:ea typeface="Questrial"/>
                          <a:cs typeface="Questrial"/>
                          <a:sym typeface="Questrial"/>
                        </a:rPr>
                        <a:t>Increased storage overhead</a:t>
                      </a:r>
                      <a:endParaRPr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r h="333375">
                <a:tc>
                  <a:txBody>
                    <a:bodyPr/>
                    <a:lstStyle/>
                    <a:p>
                      <a:pPr indent="0" lvl="0" marL="0" rtl="0" algn="l">
                        <a:spcBef>
                          <a:spcPts val="0"/>
                        </a:spcBef>
                        <a:spcAft>
                          <a:spcPts val="0"/>
                        </a:spcAft>
                        <a:buNone/>
                      </a:pPr>
                      <a:r>
                        <a:rPr lang="en" sz="2200">
                          <a:latin typeface="Questrial"/>
                          <a:ea typeface="Questrial"/>
                          <a:cs typeface="Questrial"/>
                          <a:sym typeface="Questrial"/>
                        </a:rPr>
                        <a:t>Better scalability for large datasets</a:t>
                      </a:r>
                      <a:endParaRPr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c>
                  <a:txBody>
                    <a:bodyPr/>
                    <a:lstStyle/>
                    <a:p>
                      <a:pPr indent="0" lvl="0" marL="0" rtl="0" algn="l">
                        <a:spcBef>
                          <a:spcPts val="0"/>
                        </a:spcBef>
                        <a:spcAft>
                          <a:spcPts val="0"/>
                        </a:spcAft>
                        <a:buNone/>
                      </a:pPr>
                      <a:r>
                        <a:rPr lang="en" sz="2200">
                          <a:latin typeface="Questrial"/>
                          <a:ea typeface="Questrial"/>
                          <a:cs typeface="Questrial"/>
                          <a:sym typeface="Questrial"/>
                        </a:rPr>
                        <a:t>Harder to maintain and update</a:t>
                      </a:r>
                      <a:endParaRPr sz="2200">
                        <a:latin typeface="Questrial"/>
                        <a:ea typeface="Questrial"/>
                        <a:cs typeface="Questrial"/>
                        <a:sym typeface="Questrial"/>
                      </a:endParaRPr>
                    </a:p>
                  </a:txBody>
                  <a:tcPr marT="76200" marB="76200" marR="76200" marL="76200">
                    <a:lnL cap="flat" cmpd="sng" w="6800">
                      <a:solidFill>
                        <a:srgbClr val="DDDDDD"/>
                      </a:solidFill>
                      <a:prstDash val="solid"/>
                      <a:round/>
                      <a:headEnd len="sm" w="sm" type="none"/>
                      <a:tailEnd len="sm" w="sm" type="none"/>
                    </a:lnL>
                    <a:lnR cap="flat" cmpd="sng" w="6800">
                      <a:solidFill>
                        <a:srgbClr val="DDDDDD"/>
                      </a:solidFill>
                      <a:prstDash val="solid"/>
                      <a:round/>
                      <a:headEnd len="sm" w="sm" type="none"/>
                      <a:tailEnd len="sm" w="sm" type="none"/>
                    </a:lnR>
                    <a:lnT cap="flat" cmpd="sng" w="6800">
                      <a:solidFill>
                        <a:srgbClr val="DDDDDD"/>
                      </a:solidFill>
                      <a:prstDash val="solid"/>
                      <a:round/>
                      <a:headEnd len="sm" w="sm" type="none"/>
                      <a:tailEnd len="sm" w="sm" type="none"/>
                    </a:lnT>
                    <a:lnB cap="flat" cmpd="sng" w="6800">
                      <a:solidFill>
                        <a:srgbClr val="DDDDDD"/>
                      </a:solidFill>
                      <a:prstDash val="solid"/>
                      <a:round/>
                      <a:headEnd len="sm" w="sm" type="none"/>
                      <a:tailEnd len="sm" w="sm" type="none"/>
                    </a:lnB>
                  </a:tcPr>
                </a:tc>
              </a:tr>
            </a:tbl>
          </a:graphicData>
        </a:graphic>
      </p:graphicFrame>
      <p:sp>
        <p:nvSpPr>
          <p:cNvPr id="198" name="Google Shape;198;p31"/>
          <p:cNvSpPr txBox="1"/>
          <p:nvPr/>
        </p:nvSpPr>
        <p:spPr>
          <a:xfrm>
            <a:off x="629300" y="3831250"/>
            <a:ext cx="79155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highlight>
                  <a:srgbClr val="FFF2CC"/>
                </a:highlight>
                <a:latin typeface="Questrial"/>
                <a:ea typeface="Questrial"/>
                <a:cs typeface="Questrial"/>
                <a:sym typeface="Questrial"/>
              </a:rPr>
              <a:t>⚠️ Finding the right balance between normalisation and denormalisation depends on your application's needs.</a:t>
            </a:r>
            <a:endParaRPr b="1" sz="1700">
              <a:highlight>
                <a:srgbClr val="FFF2CC"/>
              </a:highlight>
              <a:latin typeface="Questrial"/>
              <a:ea typeface="Questrial"/>
              <a:cs typeface="Questrial"/>
              <a:sym typeface="Questrial"/>
            </a:endParaRPr>
          </a:p>
          <a:p>
            <a:pPr indent="0" lvl="0" marL="0" rtl="0" algn="l">
              <a:spcBef>
                <a:spcPts val="0"/>
              </a:spcBef>
              <a:spcAft>
                <a:spcPts val="0"/>
              </a:spcAft>
              <a:buNone/>
            </a:pPr>
            <a:r>
              <a:t/>
            </a:r>
            <a:endParaRPr b="1" sz="1700">
              <a:highlight>
                <a:srgbClr val="FFF2CC"/>
              </a:highlight>
              <a:latin typeface="Questrial"/>
              <a:ea typeface="Questrial"/>
              <a:cs typeface="Questrial"/>
              <a:sym typeface="Quest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Quick Check: Normalisation &amp; Denormalisation</a:t>
            </a:r>
            <a:endParaRPr/>
          </a:p>
        </p:txBody>
      </p:sp>
      <p:sp>
        <p:nvSpPr>
          <p:cNvPr id="204" name="Google Shape;204;p3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2"/>
              </a:buClr>
              <a:buSzPts val="1100"/>
              <a:buFont typeface="Arial"/>
              <a:buNone/>
            </a:pPr>
            <a:r>
              <a:rPr b="1" lang="en" sz="1400"/>
              <a:t>Question 1:</a:t>
            </a:r>
            <a:br>
              <a:rPr b="1" lang="en" sz="1400"/>
            </a:br>
            <a:r>
              <a:rPr b="1" lang="en" sz="1400"/>
              <a:t>What is the main purpose of normalising a database?</a:t>
            </a:r>
            <a:endParaRPr b="1" sz="1400"/>
          </a:p>
          <a:p>
            <a:pPr indent="-317500" lvl="0" marL="457200" rtl="0" algn="l">
              <a:spcBef>
                <a:spcPts val="600"/>
              </a:spcBef>
              <a:spcAft>
                <a:spcPts val="0"/>
              </a:spcAft>
              <a:buClr>
                <a:schemeClr val="dk2"/>
              </a:buClr>
              <a:buSzPts val="1400"/>
              <a:buFont typeface="Questrial"/>
              <a:buChar char="●"/>
            </a:pPr>
            <a:r>
              <a:rPr lang="en" sz="1400"/>
              <a:t>A) To speed up read queries </a:t>
            </a:r>
            <a:endParaRPr sz="1400"/>
          </a:p>
          <a:p>
            <a:pPr indent="-317500" lvl="0" marL="457200" rtl="0" algn="l">
              <a:spcBef>
                <a:spcPts val="0"/>
              </a:spcBef>
              <a:spcAft>
                <a:spcPts val="0"/>
              </a:spcAft>
              <a:buClr>
                <a:schemeClr val="dk2"/>
              </a:buClr>
              <a:buSzPts val="1400"/>
              <a:buFont typeface="Questrial"/>
              <a:buChar char="●"/>
            </a:pPr>
            <a:r>
              <a:rPr lang="en" sz="1400"/>
              <a:t>B) To reduce data redundancy and improve data integrity </a:t>
            </a:r>
            <a:endParaRPr sz="1400"/>
          </a:p>
          <a:p>
            <a:pPr indent="-317500" lvl="0" marL="457200" rtl="0" algn="l">
              <a:spcBef>
                <a:spcPts val="0"/>
              </a:spcBef>
              <a:spcAft>
                <a:spcPts val="0"/>
              </a:spcAft>
              <a:buClr>
                <a:schemeClr val="dk2"/>
              </a:buClr>
              <a:buSzPts val="1400"/>
              <a:buFont typeface="Questrial"/>
              <a:buChar char="●"/>
            </a:pPr>
            <a:r>
              <a:rPr lang="en" sz="1400"/>
              <a:t>C) To combine all data into a single table </a:t>
            </a:r>
            <a:endParaRPr sz="1400"/>
          </a:p>
          <a:p>
            <a:pPr indent="-317500" lvl="0" marL="457200" rtl="0" algn="l">
              <a:spcBef>
                <a:spcPts val="0"/>
              </a:spcBef>
              <a:spcAft>
                <a:spcPts val="0"/>
              </a:spcAft>
              <a:buClr>
                <a:schemeClr val="dk2"/>
              </a:buClr>
              <a:buSzPts val="1400"/>
              <a:buFont typeface="Questrial"/>
              <a:buChar char="●"/>
            </a:pPr>
            <a:r>
              <a:rPr lang="en" sz="1400"/>
              <a:t>D) To remove all relationships between tables </a:t>
            </a:r>
            <a:endParaRPr sz="1400"/>
          </a:p>
          <a:p>
            <a:pPr indent="0" lvl="0" marL="0" rtl="0" algn="l">
              <a:spcBef>
                <a:spcPts val="600"/>
              </a:spcBef>
              <a:spcAft>
                <a:spcPts val="0"/>
              </a:spcAft>
              <a:buNone/>
            </a:pPr>
            <a:r>
              <a:rPr b="1" lang="en" sz="1400"/>
              <a:t>Question 2:</a:t>
            </a:r>
            <a:br>
              <a:rPr b="1" lang="en" sz="1400"/>
            </a:br>
            <a:r>
              <a:rPr b="1" lang="en" sz="1400"/>
              <a:t>Which of the following is a </a:t>
            </a:r>
            <a:r>
              <a:rPr b="1" i="1" lang="en" sz="1400"/>
              <a:t>disadvantage</a:t>
            </a:r>
            <a:r>
              <a:rPr b="1" lang="en" sz="1400"/>
              <a:t> of normalisation?</a:t>
            </a:r>
            <a:endParaRPr b="1" sz="1400"/>
          </a:p>
          <a:p>
            <a:pPr indent="-317500" lvl="0" marL="457200" rtl="0" algn="l">
              <a:spcBef>
                <a:spcPts val="600"/>
              </a:spcBef>
              <a:spcAft>
                <a:spcPts val="0"/>
              </a:spcAft>
              <a:buClr>
                <a:schemeClr val="dk2"/>
              </a:buClr>
              <a:buSzPts val="1400"/>
              <a:buFont typeface="Questrial"/>
              <a:buChar char="●"/>
            </a:pPr>
            <a:r>
              <a:rPr lang="en" sz="1400"/>
              <a:t>A) Data is stored in multiple places </a:t>
            </a:r>
            <a:endParaRPr sz="1400"/>
          </a:p>
          <a:p>
            <a:pPr indent="-317500" lvl="0" marL="457200" rtl="0" algn="l">
              <a:spcBef>
                <a:spcPts val="0"/>
              </a:spcBef>
              <a:spcAft>
                <a:spcPts val="0"/>
              </a:spcAft>
              <a:buClr>
                <a:schemeClr val="dk2"/>
              </a:buClr>
              <a:buSzPts val="1400"/>
              <a:buFont typeface="Questrial"/>
              <a:buChar char="●"/>
            </a:pPr>
            <a:r>
              <a:rPr lang="en" sz="1400"/>
              <a:t>B) Increased query complexity due to multiple JOINs </a:t>
            </a:r>
            <a:endParaRPr sz="1400"/>
          </a:p>
          <a:p>
            <a:pPr indent="-317500" lvl="0" marL="457200" rtl="0" algn="l">
              <a:spcBef>
                <a:spcPts val="0"/>
              </a:spcBef>
              <a:spcAft>
                <a:spcPts val="0"/>
              </a:spcAft>
              <a:buClr>
                <a:schemeClr val="dk2"/>
              </a:buClr>
              <a:buSzPts val="1400"/>
              <a:buFont typeface="Questrial"/>
              <a:buChar char="●"/>
            </a:pPr>
            <a:r>
              <a:rPr lang="en" sz="1400"/>
              <a:t>C) Faster updates because all data is in one table </a:t>
            </a:r>
            <a:endParaRPr sz="1400"/>
          </a:p>
          <a:p>
            <a:pPr indent="-317500" lvl="0" marL="457200" rtl="0" algn="l">
              <a:spcBef>
                <a:spcPts val="0"/>
              </a:spcBef>
              <a:spcAft>
                <a:spcPts val="0"/>
              </a:spcAft>
              <a:buClr>
                <a:schemeClr val="dk2"/>
              </a:buClr>
              <a:buSzPts val="1400"/>
              <a:buFont typeface="Questrial"/>
              <a:buChar char="●"/>
            </a:pPr>
            <a:r>
              <a:rPr lang="en" sz="1400"/>
              <a:t>D) Data redundancy causes inconsistencies </a:t>
            </a:r>
            <a:endParaRPr sz="1400"/>
          </a:p>
          <a:p>
            <a:pPr indent="0" lvl="0" marL="0" rtl="0" algn="l">
              <a:spcBef>
                <a:spcPts val="0"/>
              </a:spcBef>
              <a:spcAft>
                <a:spcPts val="0"/>
              </a:spcAft>
              <a:buNone/>
            </a:pPr>
            <a:r>
              <a:t/>
            </a:r>
            <a:endParaRPr sz="14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Quick Check: Normalisation &amp; Denormalisation</a:t>
            </a:r>
            <a:endParaRPr/>
          </a:p>
        </p:txBody>
      </p:sp>
      <p:sp>
        <p:nvSpPr>
          <p:cNvPr id="210" name="Google Shape;210;p3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t>Question 1:</a:t>
            </a:r>
            <a:br>
              <a:rPr b="1" lang="en" sz="1400"/>
            </a:br>
            <a:r>
              <a:rPr b="1" lang="en" sz="1400"/>
              <a:t>What is the main purpose of normalising a database?</a:t>
            </a:r>
            <a:endParaRPr b="1" sz="1400"/>
          </a:p>
          <a:p>
            <a:pPr indent="-317500" lvl="0" marL="457200" rtl="0" algn="l">
              <a:spcBef>
                <a:spcPts val="600"/>
              </a:spcBef>
              <a:spcAft>
                <a:spcPts val="0"/>
              </a:spcAft>
              <a:buClr>
                <a:schemeClr val="dk2"/>
              </a:buClr>
              <a:buSzPts val="1400"/>
              <a:buFont typeface="Questrial"/>
              <a:buChar char="●"/>
            </a:pPr>
            <a:r>
              <a:rPr lang="en" sz="1400"/>
              <a:t>A) To speed up read queries ❌</a:t>
            </a:r>
            <a:endParaRPr sz="1400"/>
          </a:p>
          <a:p>
            <a:pPr indent="-317500" lvl="0" marL="457200" rtl="0" algn="l">
              <a:spcBef>
                <a:spcPts val="0"/>
              </a:spcBef>
              <a:spcAft>
                <a:spcPts val="0"/>
              </a:spcAft>
              <a:buClr>
                <a:schemeClr val="dk2"/>
              </a:buClr>
              <a:buSzPts val="1400"/>
              <a:buFont typeface="Questrial"/>
              <a:buChar char="●"/>
            </a:pPr>
            <a:r>
              <a:rPr lang="en" sz="1400"/>
              <a:t>B) To reduce data redundancy and improve data integrity ✅</a:t>
            </a:r>
            <a:endParaRPr sz="1400"/>
          </a:p>
          <a:p>
            <a:pPr indent="-317500" lvl="0" marL="457200" rtl="0" algn="l">
              <a:spcBef>
                <a:spcPts val="0"/>
              </a:spcBef>
              <a:spcAft>
                <a:spcPts val="0"/>
              </a:spcAft>
              <a:buClr>
                <a:schemeClr val="dk2"/>
              </a:buClr>
              <a:buSzPts val="1400"/>
              <a:buFont typeface="Questrial"/>
              <a:buChar char="●"/>
            </a:pPr>
            <a:r>
              <a:rPr lang="en" sz="1400"/>
              <a:t>C) To combine all data into a single table ❌</a:t>
            </a:r>
            <a:endParaRPr sz="1400"/>
          </a:p>
          <a:p>
            <a:pPr indent="-317500" lvl="0" marL="457200" rtl="0" algn="l">
              <a:spcBef>
                <a:spcPts val="0"/>
              </a:spcBef>
              <a:spcAft>
                <a:spcPts val="0"/>
              </a:spcAft>
              <a:buClr>
                <a:schemeClr val="dk2"/>
              </a:buClr>
              <a:buSzPts val="1400"/>
              <a:buFont typeface="Questrial"/>
              <a:buChar char="●"/>
            </a:pPr>
            <a:r>
              <a:rPr lang="en" sz="1400"/>
              <a:t>D) To remove all relationships between tables ❌</a:t>
            </a:r>
            <a:endParaRPr sz="1400"/>
          </a:p>
          <a:p>
            <a:pPr indent="0" lvl="0" marL="0" rtl="0" algn="l">
              <a:spcBef>
                <a:spcPts val="600"/>
              </a:spcBef>
              <a:spcAft>
                <a:spcPts val="0"/>
              </a:spcAft>
              <a:buNone/>
            </a:pPr>
            <a:r>
              <a:rPr b="1" lang="en" sz="1400"/>
              <a:t>Question 2:</a:t>
            </a:r>
            <a:br>
              <a:rPr b="1" lang="en" sz="1400"/>
            </a:br>
            <a:r>
              <a:rPr b="1" lang="en" sz="1400"/>
              <a:t>Which of the following is a </a:t>
            </a:r>
            <a:r>
              <a:rPr b="1" i="1" lang="en" sz="1400"/>
              <a:t>disadvantage</a:t>
            </a:r>
            <a:r>
              <a:rPr b="1" lang="en" sz="1400"/>
              <a:t> of normalisation?</a:t>
            </a:r>
            <a:endParaRPr b="1" sz="1400"/>
          </a:p>
          <a:p>
            <a:pPr indent="-317500" lvl="0" marL="457200" rtl="0" algn="l">
              <a:spcBef>
                <a:spcPts val="600"/>
              </a:spcBef>
              <a:spcAft>
                <a:spcPts val="0"/>
              </a:spcAft>
              <a:buClr>
                <a:schemeClr val="dk2"/>
              </a:buClr>
              <a:buSzPts val="1400"/>
              <a:buFont typeface="Questrial"/>
              <a:buChar char="●"/>
            </a:pPr>
            <a:r>
              <a:rPr lang="en" sz="1400"/>
              <a:t>A) Data is stored in multiple places ❌</a:t>
            </a:r>
            <a:endParaRPr sz="1400"/>
          </a:p>
          <a:p>
            <a:pPr indent="-317500" lvl="0" marL="457200" rtl="0" algn="l">
              <a:spcBef>
                <a:spcPts val="0"/>
              </a:spcBef>
              <a:spcAft>
                <a:spcPts val="0"/>
              </a:spcAft>
              <a:buClr>
                <a:schemeClr val="dk2"/>
              </a:buClr>
              <a:buSzPts val="1400"/>
              <a:buFont typeface="Questrial"/>
              <a:buChar char="●"/>
            </a:pPr>
            <a:r>
              <a:rPr lang="en" sz="1400"/>
              <a:t>B) Increased query complexity due to multiple JOINs ✅</a:t>
            </a:r>
            <a:endParaRPr sz="1400"/>
          </a:p>
          <a:p>
            <a:pPr indent="-317500" lvl="0" marL="457200" rtl="0" algn="l">
              <a:spcBef>
                <a:spcPts val="0"/>
              </a:spcBef>
              <a:spcAft>
                <a:spcPts val="0"/>
              </a:spcAft>
              <a:buClr>
                <a:schemeClr val="dk2"/>
              </a:buClr>
              <a:buSzPts val="1400"/>
              <a:buFont typeface="Questrial"/>
              <a:buChar char="●"/>
            </a:pPr>
            <a:r>
              <a:rPr lang="en" sz="1400"/>
              <a:t>C) Faster updates because all data is in one table ❌</a:t>
            </a:r>
            <a:endParaRPr sz="1400"/>
          </a:p>
          <a:p>
            <a:pPr indent="-317500" lvl="0" marL="457200" rtl="0" algn="l">
              <a:spcBef>
                <a:spcPts val="0"/>
              </a:spcBef>
              <a:spcAft>
                <a:spcPts val="0"/>
              </a:spcAft>
              <a:buClr>
                <a:schemeClr val="dk2"/>
              </a:buClr>
              <a:buSzPts val="1400"/>
              <a:buFont typeface="Questrial"/>
              <a:buChar char="●"/>
            </a:pPr>
            <a:r>
              <a:rPr lang="en" sz="1400"/>
              <a:t>D) Data redundancy causes inconsistencies ❌</a:t>
            </a:r>
            <a:endParaRPr sz="1400"/>
          </a:p>
          <a:p>
            <a:pPr indent="0" lvl="0" marL="0" rtl="0" algn="l">
              <a:spcBef>
                <a:spcPts val="0"/>
              </a:spcBef>
              <a:spcAft>
                <a:spcPts val="0"/>
              </a:spcAft>
              <a:buNone/>
            </a:pPr>
            <a:r>
              <a:t/>
            </a:r>
            <a:endParaRPr sz="1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 Quick Check: Normalisation &amp; Denormalisation</a:t>
            </a:r>
            <a:endParaRPr/>
          </a:p>
          <a:p>
            <a:pPr indent="0" lvl="0" marL="0" rtl="0" algn="l">
              <a:spcBef>
                <a:spcPts val="0"/>
              </a:spcBef>
              <a:spcAft>
                <a:spcPts val="0"/>
              </a:spcAft>
              <a:buNone/>
            </a:pPr>
            <a:r>
              <a:t/>
            </a:r>
            <a:endParaRPr/>
          </a:p>
        </p:txBody>
      </p:sp>
      <p:sp>
        <p:nvSpPr>
          <p:cNvPr id="216" name="Google Shape;216;p34"/>
          <p:cNvSpPr txBox="1"/>
          <p:nvPr>
            <p:ph idx="1" type="body"/>
          </p:nvPr>
        </p:nvSpPr>
        <p:spPr>
          <a:xfrm>
            <a:off x="183775" y="776275"/>
            <a:ext cx="8520600" cy="3692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1400"/>
              <a:t>Question 3:</a:t>
            </a:r>
            <a:br>
              <a:rPr b="1" lang="en" sz="1400"/>
            </a:br>
            <a:r>
              <a:rPr b="1" lang="en" sz="1400"/>
              <a:t>A company runs a dashboard that only reads data and never updates it. Should they consider denormalisation?</a:t>
            </a:r>
            <a:endParaRPr b="1" sz="1400"/>
          </a:p>
          <a:p>
            <a:pPr indent="-317500" lvl="0" marL="457200" rtl="0" algn="l">
              <a:spcBef>
                <a:spcPts val="600"/>
              </a:spcBef>
              <a:spcAft>
                <a:spcPts val="0"/>
              </a:spcAft>
              <a:buClr>
                <a:schemeClr val="dk2"/>
              </a:buClr>
              <a:buSzPts val="1400"/>
              <a:buFont typeface="Questrial"/>
              <a:buChar char="●"/>
            </a:pPr>
            <a:r>
              <a:rPr lang="en" sz="1400"/>
              <a:t>A) No — normalisation always performs better </a:t>
            </a:r>
            <a:endParaRPr sz="1400"/>
          </a:p>
          <a:p>
            <a:pPr indent="-317500" lvl="0" marL="457200" rtl="0" algn="l">
              <a:spcBef>
                <a:spcPts val="0"/>
              </a:spcBef>
              <a:spcAft>
                <a:spcPts val="0"/>
              </a:spcAft>
              <a:buClr>
                <a:schemeClr val="dk2"/>
              </a:buClr>
              <a:buSzPts val="1400"/>
              <a:buFont typeface="Questrial"/>
              <a:buChar char="●"/>
            </a:pPr>
            <a:r>
              <a:rPr lang="en" sz="1400"/>
              <a:t>B) Yes — denormalisation improves read-heavy query performance </a:t>
            </a:r>
            <a:endParaRPr sz="1400"/>
          </a:p>
          <a:p>
            <a:pPr indent="-317500" lvl="0" marL="457200" rtl="0" algn="l">
              <a:spcBef>
                <a:spcPts val="0"/>
              </a:spcBef>
              <a:spcAft>
                <a:spcPts val="0"/>
              </a:spcAft>
              <a:buClr>
                <a:schemeClr val="dk2"/>
              </a:buClr>
              <a:buSzPts val="1400"/>
              <a:buFont typeface="Questrial"/>
              <a:buChar char="●"/>
            </a:pPr>
            <a:r>
              <a:rPr lang="en" sz="1400"/>
              <a:t>C) No — denormalisation only works for small databases </a:t>
            </a:r>
            <a:endParaRPr sz="1400"/>
          </a:p>
          <a:p>
            <a:pPr indent="-317500" lvl="0" marL="457200" rtl="0" algn="l">
              <a:spcBef>
                <a:spcPts val="0"/>
              </a:spcBef>
              <a:spcAft>
                <a:spcPts val="0"/>
              </a:spcAft>
              <a:buClr>
                <a:schemeClr val="dk2"/>
              </a:buClr>
              <a:buSzPts val="1400"/>
              <a:buFont typeface="Questrial"/>
              <a:buChar char="●"/>
            </a:pPr>
            <a:r>
              <a:rPr lang="en" sz="1400"/>
              <a:t>D) Yes — denormalisation removes all data from the database </a:t>
            </a:r>
            <a:endParaRPr sz="1400"/>
          </a:p>
          <a:p>
            <a:pPr indent="0" lvl="0" marL="0" rtl="0" algn="l">
              <a:spcBef>
                <a:spcPts val="600"/>
              </a:spcBef>
              <a:spcAft>
                <a:spcPts val="0"/>
              </a:spcAft>
              <a:buNone/>
            </a:pPr>
            <a:r>
              <a:rPr b="1" lang="en" sz="1400"/>
              <a:t>Question 4:</a:t>
            </a:r>
            <a:br>
              <a:rPr b="1" lang="en" sz="1400"/>
            </a:br>
            <a:r>
              <a:rPr b="1" lang="en" sz="1400"/>
              <a:t>Which scenario is BEST suited for denormalisation?</a:t>
            </a:r>
            <a:endParaRPr b="1" sz="1400"/>
          </a:p>
          <a:p>
            <a:pPr indent="-317500" lvl="0" marL="457200" rtl="0" algn="l">
              <a:spcBef>
                <a:spcPts val="600"/>
              </a:spcBef>
              <a:spcAft>
                <a:spcPts val="0"/>
              </a:spcAft>
              <a:buClr>
                <a:schemeClr val="dk2"/>
              </a:buClr>
              <a:buSzPts val="1400"/>
              <a:buFont typeface="Questrial"/>
              <a:buChar char="●"/>
            </a:pPr>
            <a:r>
              <a:rPr lang="en" sz="1400"/>
              <a:t>A) A student registration system that updates daily </a:t>
            </a:r>
            <a:endParaRPr sz="1400"/>
          </a:p>
          <a:p>
            <a:pPr indent="-317500" lvl="0" marL="457200" rtl="0" algn="l">
              <a:spcBef>
                <a:spcPts val="0"/>
              </a:spcBef>
              <a:spcAft>
                <a:spcPts val="0"/>
              </a:spcAft>
              <a:buClr>
                <a:schemeClr val="dk2"/>
              </a:buClr>
              <a:buSzPts val="1400"/>
              <a:buFont typeface="Questrial"/>
              <a:buChar char="●"/>
            </a:pPr>
            <a:r>
              <a:rPr lang="en" sz="1400"/>
              <a:t>B) A real-time inventory system </a:t>
            </a:r>
            <a:endParaRPr sz="1400"/>
          </a:p>
          <a:p>
            <a:pPr indent="-317500" lvl="0" marL="457200" rtl="0" algn="l">
              <a:spcBef>
                <a:spcPts val="0"/>
              </a:spcBef>
              <a:spcAft>
                <a:spcPts val="0"/>
              </a:spcAft>
              <a:buClr>
                <a:schemeClr val="dk2"/>
              </a:buClr>
              <a:buSzPts val="1400"/>
              <a:buFont typeface="Questrial"/>
              <a:buChar char="●"/>
            </a:pPr>
            <a:r>
              <a:rPr lang="en" sz="1400"/>
              <a:t>C) A data warehouse storing historical sales reports </a:t>
            </a:r>
            <a:endParaRPr sz="1400"/>
          </a:p>
          <a:p>
            <a:pPr indent="-317500" lvl="0" marL="457200" rtl="0" algn="l">
              <a:spcBef>
                <a:spcPts val="0"/>
              </a:spcBef>
              <a:spcAft>
                <a:spcPts val="0"/>
              </a:spcAft>
              <a:buClr>
                <a:schemeClr val="dk2"/>
              </a:buClr>
              <a:buSzPts val="1400"/>
              <a:buFont typeface="Questrial"/>
              <a:buChar char="●"/>
            </a:pPr>
            <a:r>
              <a:rPr lang="en" sz="1400"/>
              <a:t>D) A banking system that handles frequent transactions </a:t>
            </a:r>
            <a:endParaRPr sz="1400"/>
          </a:p>
          <a:p>
            <a:pPr indent="0" lvl="0" marL="0" rtl="0" algn="l">
              <a:spcBef>
                <a:spcPts val="0"/>
              </a:spcBef>
              <a:spcAft>
                <a:spcPts val="0"/>
              </a:spcAft>
              <a:buNone/>
            </a:pPr>
            <a:r>
              <a:t/>
            </a:r>
            <a:endParaRPr sz="25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 Quick Check: Normalisation &amp; Denormalisation</a:t>
            </a:r>
            <a:endParaRPr/>
          </a:p>
          <a:p>
            <a:pPr indent="0" lvl="0" marL="0" rtl="0" algn="l">
              <a:spcBef>
                <a:spcPts val="0"/>
              </a:spcBef>
              <a:spcAft>
                <a:spcPts val="0"/>
              </a:spcAft>
              <a:buNone/>
            </a:pPr>
            <a:r>
              <a:t/>
            </a:r>
            <a:endParaRPr/>
          </a:p>
        </p:txBody>
      </p:sp>
      <p:sp>
        <p:nvSpPr>
          <p:cNvPr id="222" name="Google Shape;222;p35"/>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2"/>
              </a:buClr>
              <a:buSzPts val="1100"/>
              <a:buFont typeface="Arial"/>
              <a:buNone/>
            </a:pPr>
            <a:r>
              <a:rPr b="1" lang="en" sz="1400"/>
              <a:t>Question 3:</a:t>
            </a:r>
            <a:br>
              <a:rPr b="1" lang="en" sz="1400"/>
            </a:br>
            <a:r>
              <a:rPr b="1" lang="en" sz="1400"/>
              <a:t>A company runs a dashboard that only reads data and never updates it. Should they consider denormalisation?</a:t>
            </a:r>
            <a:endParaRPr b="1" sz="1400"/>
          </a:p>
          <a:p>
            <a:pPr indent="-317500" lvl="0" marL="457200" rtl="0" algn="l">
              <a:spcBef>
                <a:spcPts val="600"/>
              </a:spcBef>
              <a:spcAft>
                <a:spcPts val="0"/>
              </a:spcAft>
              <a:buClr>
                <a:schemeClr val="dk2"/>
              </a:buClr>
              <a:buSzPts val="1400"/>
              <a:buFont typeface="Questrial"/>
              <a:buChar char="●"/>
            </a:pPr>
            <a:r>
              <a:rPr lang="en" sz="1400"/>
              <a:t>A) No — normalisation always performs better </a:t>
            </a:r>
            <a:r>
              <a:rPr lang="en" sz="1400"/>
              <a:t>❌</a:t>
            </a:r>
            <a:endParaRPr sz="1400"/>
          </a:p>
          <a:p>
            <a:pPr indent="-317500" lvl="0" marL="457200" rtl="0" algn="l">
              <a:spcBef>
                <a:spcPts val="0"/>
              </a:spcBef>
              <a:spcAft>
                <a:spcPts val="0"/>
              </a:spcAft>
              <a:buClr>
                <a:schemeClr val="dk2"/>
              </a:buClr>
              <a:buSzPts val="1400"/>
              <a:buFont typeface="Questrial"/>
              <a:buChar char="●"/>
            </a:pPr>
            <a:r>
              <a:rPr lang="en" sz="1400"/>
              <a:t>B) Yes — denormalisation improves read-heavy query performance </a:t>
            </a:r>
            <a:r>
              <a:rPr lang="en" sz="1400"/>
              <a:t>✅</a:t>
            </a:r>
            <a:endParaRPr sz="1400"/>
          </a:p>
          <a:p>
            <a:pPr indent="-317500" lvl="0" marL="457200" rtl="0" algn="l">
              <a:spcBef>
                <a:spcPts val="0"/>
              </a:spcBef>
              <a:spcAft>
                <a:spcPts val="0"/>
              </a:spcAft>
              <a:buClr>
                <a:schemeClr val="dk2"/>
              </a:buClr>
              <a:buSzPts val="1400"/>
              <a:buFont typeface="Questrial"/>
              <a:buChar char="●"/>
            </a:pPr>
            <a:r>
              <a:rPr lang="en" sz="1400"/>
              <a:t>C) No — denormalisation only works for small databases </a:t>
            </a:r>
            <a:r>
              <a:rPr lang="en" sz="1400"/>
              <a:t>❌</a:t>
            </a:r>
            <a:endParaRPr sz="1400"/>
          </a:p>
          <a:p>
            <a:pPr indent="-317500" lvl="0" marL="457200" rtl="0" algn="l">
              <a:spcBef>
                <a:spcPts val="0"/>
              </a:spcBef>
              <a:spcAft>
                <a:spcPts val="0"/>
              </a:spcAft>
              <a:buClr>
                <a:schemeClr val="dk2"/>
              </a:buClr>
              <a:buSzPts val="1400"/>
              <a:buFont typeface="Questrial"/>
              <a:buChar char="●"/>
            </a:pPr>
            <a:r>
              <a:rPr lang="en" sz="1400"/>
              <a:t>D) Yes — denormalisation removes all data from the database </a:t>
            </a:r>
            <a:r>
              <a:rPr lang="en" sz="1400"/>
              <a:t>❌</a:t>
            </a:r>
            <a:endParaRPr sz="1400"/>
          </a:p>
          <a:p>
            <a:pPr indent="0" lvl="0" marL="0" rtl="0" algn="l">
              <a:spcBef>
                <a:spcPts val="600"/>
              </a:spcBef>
              <a:spcAft>
                <a:spcPts val="0"/>
              </a:spcAft>
              <a:buClr>
                <a:schemeClr val="dk2"/>
              </a:buClr>
              <a:buSzPts val="1100"/>
              <a:buFont typeface="Arial"/>
              <a:buNone/>
            </a:pPr>
            <a:r>
              <a:rPr b="1" lang="en" sz="1400"/>
              <a:t>Question 4:</a:t>
            </a:r>
            <a:br>
              <a:rPr b="1" lang="en" sz="1400"/>
            </a:br>
            <a:r>
              <a:rPr b="1" lang="en" sz="1400"/>
              <a:t>Which scenario is BEST suited for denormalisation?</a:t>
            </a:r>
            <a:endParaRPr b="1" sz="1400"/>
          </a:p>
          <a:p>
            <a:pPr indent="-317500" lvl="0" marL="457200" rtl="0" algn="l">
              <a:spcBef>
                <a:spcPts val="600"/>
              </a:spcBef>
              <a:spcAft>
                <a:spcPts val="0"/>
              </a:spcAft>
              <a:buClr>
                <a:schemeClr val="dk2"/>
              </a:buClr>
              <a:buSzPts val="1400"/>
              <a:buFont typeface="Questrial"/>
              <a:buChar char="●"/>
            </a:pPr>
            <a:r>
              <a:rPr lang="en" sz="1400"/>
              <a:t>A) A student registration system that updates daily </a:t>
            </a:r>
            <a:r>
              <a:rPr lang="en" sz="1400"/>
              <a:t>❌</a:t>
            </a:r>
            <a:endParaRPr sz="1400"/>
          </a:p>
          <a:p>
            <a:pPr indent="-317500" lvl="0" marL="457200" rtl="0" algn="l">
              <a:spcBef>
                <a:spcPts val="0"/>
              </a:spcBef>
              <a:spcAft>
                <a:spcPts val="0"/>
              </a:spcAft>
              <a:buClr>
                <a:schemeClr val="dk2"/>
              </a:buClr>
              <a:buSzPts val="1400"/>
              <a:buFont typeface="Questrial"/>
              <a:buChar char="●"/>
            </a:pPr>
            <a:r>
              <a:rPr lang="en" sz="1400"/>
              <a:t>B) A real-time inventory system </a:t>
            </a:r>
            <a:r>
              <a:rPr lang="en" sz="1400"/>
              <a:t>❌</a:t>
            </a:r>
            <a:endParaRPr sz="1400"/>
          </a:p>
          <a:p>
            <a:pPr indent="-317500" lvl="0" marL="457200" rtl="0" algn="l">
              <a:spcBef>
                <a:spcPts val="0"/>
              </a:spcBef>
              <a:spcAft>
                <a:spcPts val="0"/>
              </a:spcAft>
              <a:buClr>
                <a:schemeClr val="dk2"/>
              </a:buClr>
              <a:buSzPts val="1400"/>
              <a:buFont typeface="Questrial"/>
              <a:buChar char="●"/>
            </a:pPr>
            <a:r>
              <a:rPr lang="en" sz="1400"/>
              <a:t>C) A data warehouse storing historical sales reports </a:t>
            </a:r>
            <a:r>
              <a:rPr lang="en" sz="1400"/>
              <a:t>✅</a:t>
            </a:r>
            <a:endParaRPr sz="1400"/>
          </a:p>
          <a:p>
            <a:pPr indent="-317500" lvl="0" marL="457200" rtl="0" algn="l">
              <a:spcBef>
                <a:spcPts val="0"/>
              </a:spcBef>
              <a:spcAft>
                <a:spcPts val="0"/>
              </a:spcAft>
              <a:buClr>
                <a:schemeClr val="dk2"/>
              </a:buClr>
              <a:buSzPts val="1400"/>
              <a:buFont typeface="Questrial"/>
              <a:buChar char="●"/>
            </a:pPr>
            <a:r>
              <a:rPr lang="en" sz="1400"/>
              <a:t>D) A banking system that handles frequent transactions </a:t>
            </a:r>
            <a:r>
              <a:rPr lang="en" sz="1400"/>
              <a:t>❌</a:t>
            </a:r>
            <a:endParaRPr sz="1400"/>
          </a:p>
          <a:p>
            <a:pPr indent="0" lvl="0" marL="0" rtl="0" algn="l">
              <a:spcBef>
                <a:spcPts val="0"/>
              </a:spcBef>
              <a:spcAft>
                <a:spcPts val="0"/>
              </a:spcAft>
              <a:buNone/>
            </a:pPr>
            <a:r>
              <a:t/>
            </a:r>
            <a:endParaRPr sz="2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Plenary: </a:t>
            </a:r>
            <a:endParaRPr/>
          </a:p>
        </p:txBody>
      </p:sp>
      <p:sp>
        <p:nvSpPr>
          <p:cNvPr id="228" name="Google Shape;228;p36"/>
          <p:cNvSpPr txBox="1"/>
          <p:nvPr>
            <p:ph idx="1" type="body"/>
          </p:nvPr>
        </p:nvSpPr>
        <p:spPr>
          <a:xfrm>
            <a:off x="183775" y="776275"/>
            <a:ext cx="5223000" cy="813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u="sng">
                <a:solidFill>
                  <a:schemeClr val="hlink"/>
                </a:solidFill>
                <a:hlinkClick r:id="rId3"/>
              </a:rPr>
              <a:t>tinyurl.com/ycy4wdhr</a:t>
            </a:r>
            <a:endParaRPr sz="3700"/>
          </a:p>
          <a:p>
            <a:pPr indent="0" lvl="0" marL="0" rtl="0" algn="l">
              <a:spcBef>
                <a:spcPts val="0"/>
              </a:spcBef>
              <a:spcAft>
                <a:spcPts val="0"/>
              </a:spcAft>
              <a:buNone/>
            </a:pPr>
            <a:r>
              <a:rPr lang="en" sz="3700"/>
              <a:t> </a:t>
            </a:r>
            <a:endParaRPr sz="3700"/>
          </a:p>
        </p:txBody>
      </p:sp>
      <p:sp>
        <p:nvSpPr>
          <p:cNvPr id="229" name="Google Shape;229;p36"/>
          <p:cNvSpPr txBox="1"/>
          <p:nvPr/>
        </p:nvSpPr>
        <p:spPr>
          <a:xfrm>
            <a:off x="5830725" y="148850"/>
            <a:ext cx="3171300" cy="1486200"/>
          </a:xfrm>
          <a:prstGeom prst="rect">
            <a:avLst/>
          </a:prstGeom>
          <a:solidFill>
            <a:schemeClr val="dk1"/>
          </a:solidFill>
          <a:ln cap="flat" cmpd="sng" w="2857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lang="en" sz="1900">
                <a:solidFill>
                  <a:schemeClr val="dk2"/>
                </a:solidFill>
                <a:latin typeface="Questrial"/>
                <a:ea typeface="Questrial"/>
                <a:cs typeface="Questrial"/>
                <a:sym typeface="Questrial"/>
              </a:rPr>
              <a:t>⭐ Exit Ticket:</a:t>
            </a:r>
            <a:endParaRPr sz="19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Clr>
                <a:schemeClr val="dk2"/>
              </a:buClr>
              <a:buSzPts val="1100"/>
              <a:buFont typeface="Arial"/>
              <a:buNone/>
            </a:pPr>
            <a:r>
              <a:rPr lang="en" sz="1900">
                <a:solidFill>
                  <a:schemeClr val="dk2"/>
                </a:solidFill>
                <a:latin typeface="Questrial"/>
                <a:ea typeface="Questrial"/>
                <a:cs typeface="Questrial"/>
                <a:sym typeface="Questrial"/>
              </a:rPr>
              <a:t>On a scale of 1-5, how confident are you?</a:t>
            </a:r>
            <a:endParaRPr sz="19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Clr>
                <a:schemeClr val="dk2"/>
              </a:buClr>
              <a:buSzPts val="1100"/>
              <a:buFont typeface="Arial"/>
              <a:buNone/>
            </a:pPr>
            <a:r>
              <a:rPr lang="en" sz="1900">
                <a:solidFill>
                  <a:schemeClr val="dk2"/>
                </a:solidFill>
                <a:latin typeface="Questrial"/>
                <a:ea typeface="Questrial"/>
                <a:cs typeface="Questrial"/>
                <a:sym typeface="Questrial"/>
              </a:rPr>
              <a:t>1 □  2 □  3 □  4 □  5 □</a:t>
            </a:r>
            <a:endParaRPr sz="2200">
              <a:solidFill>
                <a:schemeClr val="dk2"/>
              </a:solidFill>
              <a:latin typeface="Questrial"/>
              <a:ea typeface="Questrial"/>
              <a:cs typeface="Questrial"/>
              <a:sym typeface="Questrial"/>
            </a:endParaRPr>
          </a:p>
        </p:txBody>
      </p:sp>
      <p:pic>
        <p:nvPicPr>
          <p:cNvPr id="230" name="Google Shape;230;p36"/>
          <p:cNvPicPr preferRelativeResize="0"/>
          <p:nvPr/>
        </p:nvPicPr>
        <p:blipFill>
          <a:blip r:embed="rId4">
            <a:alphaModFix/>
          </a:blip>
          <a:stretch>
            <a:fillRect/>
          </a:stretch>
        </p:blipFill>
        <p:spPr>
          <a:xfrm>
            <a:off x="4838950" y="2766412"/>
            <a:ext cx="4203325" cy="1052525"/>
          </a:xfrm>
          <a:prstGeom prst="rect">
            <a:avLst/>
          </a:prstGeom>
          <a:noFill/>
          <a:ln>
            <a:noFill/>
          </a:ln>
        </p:spPr>
      </p:pic>
      <p:pic>
        <p:nvPicPr>
          <p:cNvPr id="231" name="Google Shape;231;p36"/>
          <p:cNvPicPr preferRelativeResize="0"/>
          <p:nvPr/>
        </p:nvPicPr>
        <p:blipFill>
          <a:blip r:embed="rId5">
            <a:alphaModFix/>
          </a:blip>
          <a:stretch>
            <a:fillRect/>
          </a:stretch>
        </p:blipFill>
        <p:spPr>
          <a:xfrm>
            <a:off x="343525" y="2802025"/>
            <a:ext cx="3800950" cy="981300"/>
          </a:xfrm>
          <a:prstGeom prst="rect">
            <a:avLst/>
          </a:prstGeom>
          <a:noFill/>
          <a:ln>
            <a:noFill/>
          </a:ln>
        </p:spPr>
      </p:pic>
      <p:pic>
        <p:nvPicPr>
          <p:cNvPr id="232" name="Google Shape;232;p36"/>
          <p:cNvPicPr preferRelativeResize="0"/>
          <p:nvPr/>
        </p:nvPicPr>
        <p:blipFill>
          <a:blip r:embed="rId6">
            <a:alphaModFix/>
          </a:blip>
          <a:stretch>
            <a:fillRect/>
          </a:stretch>
        </p:blipFill>
        <p:spPr>
          <a:xfrm>
            <a:off x="2570921" y="1518859"/>
            <a:ext cx="3800949" cy="982475"/>
          </a:xfrm>
          <a:prstGeom prst="rect">
            <a:avLst/>
          </a:prstGeom>
          <a:noFill/>
          <a:ln>
            <a:noFill/>
          </a:ln>
        </p:spPr>
      </p:pic>
      <p:sp>
        <p:nvSpPr>
          <p:cNvPr id="233" name="Google Shape;233;p36"/>
          <p:cNvSpPr txBox="1"/>
          <p:nvPr/>
        </p:nvSpPr>
        <p:spPr>
          <a:xfrm>
            <a:off x="4576574" y="4091125"/>
            <a:ext cx="42858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t>All fields are single-valued (atomic) → satisfies 1NF.</a:t>
            </a:r>
            <a:endParaRPr sz="1200"/>
          </a:p>
          <a:p>
            <a:pPr indent="0" lvl="0" marL="0" rtl="0" algn="ctr">
              <a:spcBef>
                <a:spcPts val="0"/>
              </a:spcBef>
              <a:spcAft>
                <a:spcPts val="0"/>
              </a:spcAft>
              <a:buNone/>
            </a:pPr>
            <a:r>
              <a:t/>
            </a:r>
            <a:endParaRPr sz="1200"/>
          </a:p>
        </p:txBody>
      </p:sp>
      <p:sp>
        <p:nvSpPr>
          <p:cNvPr id="234" name="Google Shape;234;p36"/>
          <p:cNvSpPr txBox="1"/>
          <p:nvPr/>
        </p:nvSpPr>
        <p:spPr>
          <a:xfrm>
            <a:off x="82800" y="3783325"/>
            <a:ext cx="44937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Every non-key attribute depends on the full key (OrderID, ProductID) or on ProductID, which is part of that composite key, but there is no attribute depending only on OrderID; there is no partial dependency like StudentName earlier → satisfies 2NF</a:t>
            </a:r>
            <a:endParaRPr sz="1100"/>
          </a:p>
        </p:txBody>
      </p:sp>
      <p:sp>
        <p:nvSpPr>
          <p:cNvPr id="235" name="Google Shape;235;p36"/>
          <p:cNvSpPr txBox="1"/>
          <p:nvPr/>
        </p:nvSpPr>
        <p:spPr>
          <a:xfrm>
            <a:off x="593500" y="2423434"/>
            <a:ext cx="8268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No non-key attribute determines another non-key attribute; all depend directly on StudentID → no transitive dependency → 3NF.</a:t>
            </a:r>
            <a:endParaRPr sz="1100"/>
          </a:p>
          <a:p>
            <a:pPr indent="0" lvl="0" marL="0" rtl="0" algn="l">
              <a:spcBef>
                <a:spcPts val="0"/>
              </a:spcBef>
              <a:spcAft>
                <a:spcPts val="0"/>
              </a:spcAft>
              <a:buNone/>
            </a:pPr>
            <a:r>
              <a:t/>
            </a:r>
            <a:endParaRPr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F9D58"/>
      </a:accent4>
      <a:accent5>
        <a:srgbClr val="01AFD1"/>
      </a:accent5>
      <a:accent6>
        <a:srgbClr val="9C27B0"/>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