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797675" cy="99298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  <p:embeddedFont>
      <p:font typeface="Questrial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Questria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10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535ad6ed2_0_16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535ad6ed2_0_16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5313b79cf_0_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5313b79cf_0_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5313b79cf_2_73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c5313b79cf_2_73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35ad6ed2_0_10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35ad6ed2_0_10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d1389aa64_0_29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d1389aa64_0_29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d1389aa64_0_1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d1389aa64_0_1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d1389aa64_0_1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d1389aa64_0_1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1389aa64_0_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d1389aa64_0_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1389aa64_0_13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d1389aa64_0_13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35ad6ed2_0_13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535ad6ed2_0_13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Questrial"/>
              <a:buNone/>
              <a:defRPr b="1" sz="68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216950" y="-75"/>
            <a:ext cx="4927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265500" y="802791"/>
            <a:ext cx="37485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65500" y="2717925"/>
            <a:ext cx="38079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310700" y="724200"/>
            <a:ext cx="46221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04800" y="4419600"/>
            <a:ext cx="85206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Questrial"/>
              <a:buChar char="●"/>
            </a:pPr>
            <a:r>
              <a:rPr lang="en" sz="10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Construct simple ERDs for a given scenario.</a:t>
            </a:r>
            <a:endParaRPr sz="10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Questrial"/>
              <a:buChar char="●"/>
            </a:pPr>
            <a:r>
              <a:rPr lang="en" sz="10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Identify entities, attributes, and relationships in a database.</a:t>
            </a:r>
            <a:endParaRPr sz="10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Questrial"/>
              <a:buChar char="●"/>
            </a:pPr>
            <a:r>
              <a:rPr lang="en" sz="10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Construct relational tables using primary keys and foreign keys.</a:t>
            </a:r>
            <a:endParaRPr sz="10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Questrial"/>
              <a:buChar char="●"/>
            </a:pPr>
            <a:r>
              <a:rPr lang="en" sz="10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Recognise composite keys and concatenated keys.</a:t>
            </a:r>
            <a:endParaRPr sz="10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Questrial"/>
              <a:buNone/>
              <a:defRPr b="1" sz="48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●"/>
              <a:defRPr b="0" i="0" sz="18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 Tables</a:t>
            </a:r>
            <a:endParaRPr/>
          </a:p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 Myran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L3 - </a:t>
            </a:r>
            <a:r>
              <a:rPr lang="en" sz="2800"/>
              <a:t>Syllabus Links</a:t>
            </a:r>
            <a:endParaRPr sz="2800"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900"/>
              <a:t>A3.2.2 Construct ERDs.</a:t>
            </a:r>
            <a:endParaRPr b="1" sz="19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900"/>
              <a:t>The significance of entity relationship diagrams (ERDs) in crafting organized, efficient database designs tailored for specific applications</a:t>
            </a:r>
            <a:endParaRPr sz="19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900"/>
              <a:t>The relationships between different data entities within a database</a:t>
            </a:r>
            <a:endParaRPr sz="19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900"/>
              <a:t>The roles of cardinality and modality in defining relationships in ERDs</a:t>
            </a:r>
            <a:endParaRPr sz="19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900"/>
              <a:t>A3.2.4 Construct tables for relational databases.</a:t>
            </a:r>
            <a:endParaRPr b="1" sz="19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900"/>
              <a:t>The relationship between tables using primary keys, foreign keys, composite keys and concatenated keys</a:t>
            </a:r>
            <a:endParaRPr sz="19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900"/>
              <a:t>The importance of well-defined tables in ensuring data integrity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310700" y="724200"/>
            <a:ext cx="46221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Char char="➢"/>
            </a:pPr>
            <a:r>
              <a:rPr lang="en" sz="2100">
                <a:solidFill>
                  <a:srgbClr val="FFFFFF"/>
                </a:solidFill>
                <a:highlight>
                  <a:srgbClr val="000000"/>
                </a:highlight>
              </a:rPr>
              <a:t>Construct simple ERDs for a given scenario.</a:t>
            </a:r>
            <a:endParaRPr sz="21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➢"/>
            </a:pPr>
            <a:r>
              <a:rPr lang="en" sz="2100">
                <a:solidFill>
                  <a:srgbClr val="FFFFFF"/>
                </a:solidFill>
                <a:highlight>
                  <a:srgbClr val="000000"/>
                </a:highlight>
              </a:rPr>
              <a:t>Identify entities, attributes, and relationships in a database.</a:t>
            </a:r>
            <a:endParaRPr sz="21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➢"/>
            </a:pPr>
            <a:r>
              <a:rPr lang="en" sz="2100">
                <a:solidFill>
                  <a:srgbClr val="FFFFFF"/>
                </a:solidFill>
                <a:highlight>
                  <a:srgbClr val="000000"/>
                </a:highlight>
              </a:rPr>
              <a:t>Construct relational tables using primary keys and foreign keys.</a:t>
            </a:r>
            <a:endParaRPr sz="21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➢"/>
            </a:pPr>
            <a:r>
              <a:rPr lang="en" sz="2100">
                <a:solidFill>
                  <a:srgbClr val="FFFFFF"/>
                </a:solidFill>
                <a:highlight>
                  <a:srgbClr val="000000"/>
                </a:highlight>
              </a:rPr>
              <a:t>Recognise composite keys and concatenated keys.</a:t>
            </a:r>
            <a:endParaRPr sz="21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6" name="Google Shape;56;p10"/>
          <p:cNvSpPr txBox="1"/>
          <p:nvPr>
            <p:ph type="title"/>
          </p:nvPr>
        </p:nvSpPr>
        <p:spPr>
          <a:xfrm>
            <a:off x="265500" y="802803"/>
            <a:ext cx="3748500" cy="24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Lesson 3 ERDs and Table</a:t>
            </a:r>
            <a:endParaRPr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</a:t>
            </a:r>
            <a:endParaRPr/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500"/>
              <a:t>Databases must store data in a clear and organised way so information is accurate and easy to retrieve.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500"/>
              <a:t>ERDs help us plan this structure before creating tables, which reduces duplication and design errors.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160175" y="147100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100"/>
              <a:t>Scenario: A school library stores books, students, and loans.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/>
              <a:t>3 possible entities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/>
              <a:t>2–4 attributes for each entity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/>
              <a:t>1 relationship between two entities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2"/>
          <p:cNvSpPr/>
          <p:nvPr/>
        </p:nvSpPr>
        <p:spPr>
          <a:xfrm>
            <a:off x="1323888" y="2213850"/>
            <a:ext cx="1494300" cy="715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" name="Google Shape;69;p12"/>
          <p:cNvSpPr/>
          <p:nvPr/>
        </p:nvSpPr>
        <p:spPr>
          <a:xfrm>
            <a:off x="3945788" y="2213850"/>
            <a:ext cx="1494300" cy="715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6325813" y="2213850"/>
            <a:ext cx="1494300" cy="715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ERDs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Char char="●"/>
            </a:pPr>
            <a:r>
              <a:rPr lang="en" sz="2000"/>
              <a:t>An entity relationship diagram (ERD) is a visual plan for a database.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Char char="●"/>
            </a:pPr>
            <a:r>
              <a:rPr lang="en" sz="2000"/>
              <a:t>It shows: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Char char="●"/>
            </a:pPr>
            <a:r>
              <a:rPr lang="en" sz="2000"/>
              <a:t>Entities: things we store data about, such as Student or Book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Char char="●"/>
            </a:pPr>
            <a:r>
              <a:rPr lang="en" sz="2000"/>
              <a:t>Attributes: facts about each entity, such as StudentID or Title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Char char="●"/>
            </a:pPr>
            <a:r>
              <a:rPr lang="en" sz="2000"/>
              <a:t>Relationships: how entities connect to one another</a:t>
            </a:r>
            <a:endParaRPr sz="20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Why ERDs matter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They help designers build databases that are organised and efficient.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They make relationships clearer before tables are created.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They support database designs for specific applications, such as a library, shop, or school system.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ERD - practice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A relationship links one entity to another, for example: </a:t>
            </a:r>
            <a:r>
              <a:rPr i="1" lang="en" sz="1500"/>
              <a:t>Student borrows Book</a:t>
            </a:r>
            <a:r>
              <a:rPr lang="en" sz="1500"/>
              <a:t>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Cardinality shows how many instances are involved: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one-to-one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one-to-many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many-to-many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Modality shows whether participation is optional or mandatory: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optional = may exist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mandatory = must exist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/>
              <a:t>Simple examples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One student can borrow many books.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One loan must be linked to one student.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Questrial"/>
              <a:buChar char="●"/>
            </a:pPr>
            <a:r>
              <a:rPr lang="en" sz="1500"/>
              <a:t>A book may have zero or many loans over time.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5194875" y="2762700"/>
            <a:ext cx="27627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highlight>
                  <a:srgbClr val="C9DAF8"/>
                </a:highlight>
                <a:latin typeface="Questrial"/>
                <a:ea typeface="Questrial"/>
                <a:cs typeface="Questrial"/>
                <a:sym typeface="Questrial"/>
              </a:rPr>
              <a:t>Create an ERD for a school information system</a:t>
            </a:r>
            <a:endParaRPr sz="2300">
              <a:solidFill>
                <a:schemeClr val="dk2"/>
              </a:solidFill>
              <a:highlight>
                <a:srgbClr val="C9DAF8"/>
              </a:highlight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-&gt; Tables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After designing an ERD, we create tables for a relational database.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Each table should have a primary key to uniquely identify each record.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 foreign key links one table to another.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 composite key uses more than one field together as the unique identifier.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 concatenated key joins values together to create a combined identifier, but it is usually less robust than a proper primary/composite key.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Task - ERD to Tables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183775" y="776275"/>
            <a:ext cx="8520600" cy="15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onvert your School Information system/mini-ERD into 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Challenge: underline the primary key and circle the foreign keys.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1305050" y="2644050"/>
            <a:ext cx="5211900" cy="1545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Example</a:t>
            </a:r>
            <a:endParaRPr b="1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</a:pP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Student(StudentID, Name, TutorGroup)</a:t>
            </a:r>
            <a:endParaRPr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</a:pP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Book(BookID, Title, Author)</a:t>
            </a:r>
            <a:endParaRPr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</a:pP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Loan(LoanID, StudentID, BookID, LoanDate)</a:t>
            </a:r>
            <a:endParaRPr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Here, </a:t>
            </a:r>
            <a:r>
              <a:rPr lang="en" sz="1250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StudentID</a:t>
            </a: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and </a:t>
            </a:r>
            <a:r>
              <a:rPr lang="en" sz="1250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BookID</a:t>
            </a:r>
            <a:r>
              <a:rPr lang="en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are foreign keys in Loan.</a:t>
            </a:r>
            <a:endParaRPr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Plenary: 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183775" y="776275"/>
            <a:ext cx="52230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90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What does an ERD help you do?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What is the difference between a primary key and a foreign key?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Give one example of one-to-many.</a:t>
            </a:r>
            <a:endParaRPr sz="25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3" name="Google Shape;103;p17"/>
          <p:cNvSpPr txBox="1"/>
          <p:nvPr/>
        </p:nvSpPr>
        <p:spPr>
          <a:xfrm>
            <a:off x="5830725" y="148850"/>
            <a:ext cx="3171300" cy="14862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⭐ Exit Ticket:</a:t>
            </a:r>
            <a:endParaRPr sz="19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On a scale of 1-5, how confident are you?</a:t>
            </a:r>
            <a:endParaRPr sz="19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1 □  2 □  3 □  4 □  5 □</a:t>
            </a:r>
            <a:endParaRPr sz="22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